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44" autoAdjust="0"/>
  </p:normalViewPr>
  <p:slideViewPr>
    <p:cSldViewPr snapToGrid="0" snapToObjects="1">
      <p:cViewPr varScale="1">
        <p:scale>
          <a:sx n="134" d="100"/>
          <a:sy n="134" d="100"/>
        </p:scale>
        <p:origin x="280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686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'I built an automatic tool that measures bone quality of the L4 spine vertebra directly from the X-rays</a:t>
            </a:r>
            <a:r>
              <a:rPr lang="en-CA" dirty="0"/>
              <a:t> you</a:t>
            </a:r>
            <a:r>
              <a:rPr dirty="0"/>
              <a:t> already take. </a:t>
            </a:r>
            <a:endParaRPr lang="en-CA" dirty="0"/>
          </a:p>
          <a:p>
            <a:r>
              <a:rPr dirty="0"/>
              <a:t>No extra scan, no extra dose. </a:t>
            </a:r>
            <a:endParaRPr lang="en-CA" dirty="0"/>
          </a:p>
          <a:p>
            <a:r>
              <a:rPr dirty="0"/>
              <a:t>I'll show what it does, how accurate it is, and what we still need to fix before clinical use.'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‘</a:t>
            </a:r>
            <a:r>
              <a:rPr lang="en-CA" dirty="0"/>
              <a:t>This is </a:t>
            </a:r>
            <a:r>
              <a:rPr dirty="0"/>
              <a:t>not replacing DXA. </a:t>
            </a:r>
            <a:r>
              <a:rPr lang="en-CA" dirty="0"/>
              <a:t>I’m</a:t>
            </a:r>
            <a:r>
              <a:rPr dirty="0"/>
              <a:t> extracting a consistent, automatic bone signal from images you already have. </a:t>
            </a:r>
            <a:endParaRPr lang="en-CA" dirty="0"/>
          </a:p>
          <a:p>
            <a:r>
              <a:rPr dirty="0"/>
              <a:t>Two things: density (how bright/dense the bone looks) and texture (the internal bone pattern). </a:t>
            </a:r>
            <a:endParaRPr lang="en-CA" dirty="0"/>
          </a:p>
          <a:p>
            <a:r>
              <a:rPr lang="en-CA" dirty="0"/>
              <a:t>But</a:t>
            </a:r>
            <a:r>
              <a:rPr dirty="0"/>
              <a:t> it is a proxy, not calibrated g/cm-squared.'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'</a:t>
            </a:r>
            <a:r>
              <a:rPr lang="en-US" sz="1200" b="1" i="0" dirty="0">
                <a:solidFill>
                  <a:srgbClr val="1B324F"/>
                </a:solidFill>
                <a:latin typeface="Calibri"/>
              </a:rPr>
              <a:t>The pipeline in four steps</a:t>
            </a:r>
            <a:r>
              <a:rPr dirty="0"/>
              <a:t>: </a:t>
            </a:r>
            <a:endParaRPr lang="en-CA" dirty="0"/>
          </a:p>
          <a:p>
            <a:r>
              <a:rPr dirty="0"/>
              <a:t>take the X-ray, </a:t>
            </a:r>
            <a:endParaRPr lang="en-CA" dirty="0"/>
          </a:p>
          <a:p>
            <a:r>
              <a:rPr dirty="0"/>
              <a:t>the AI finds and outlines L4, </a:t>
            </a:r>
            <a:endParaRPr lang="en-CA" dirty="0"/>
          </a:p>
          <a:p>
            <a:r>
              <a:rPr lang="en-CA" dirty="0"/>
              <a:t>we</a:t>
            </a:r>
            <a:r>
              <a:rPr dirty="0"/>
              <a:t> measure bone on that region, and we report the numbers with a heatmap that shows where the AI looked. </a:t>
            </a:r>
            <a:endParaRPr lang="en-CA" dirty="0"/>
          </a:p>
          <a:p>
            <a:r>
              <a:rPr dirty="0"/>
              <a:t>Everything after the detector is standard, transparent image math.'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'The AI does instance segmentation - it separates each vertebra. </a:t>
            </a:r>
            <a:endParaRPr lang="en-CA" dirty="0"/>
          </a:p>
          <a:p>
            <a:r>
              <a:rPr lang="en-CA" dirty="0"/>
              <a:t>and</a:t>
            </a:r>
            <a:r>
              <a:rPr dirty="0"/>
              <a:t> then pick L4. </a:t>
            </a:r>
            <a:endParaRPr lang="en-CA" dirty="0"/>
          </a:p>
          <a:p>
            <a:r>
              <a:rPr dirty="0"/>
              <a:t>Green is the L4 it chose. </a:t>
            </a:r>
            <a:endParaRPr lang="en-CA" dirty="0"/>
          </a:p>
          <a:p>
            <a:r>
              <a:rPr dirty="0"/>
              <a:t>This is the core building block; </a:t>
            </a:r>
            <a:endParaRPr lang="en-CA" dirty="0"/>
          </a:p>
          <a:p>
            <a:r>
              <a:rPr dirty="0"/>
              <a:t>the bone measurement sits on top.'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'On images from the same source it trained on, accuracy is high - 0.97 </a:t>
            </a:r>
            <a:r>
              <a:rPr dirty="0" err="1"/>
              <a:t>mAP</a:t>
            </a:r>
            <a:r>
              <a:rPr lang="en-CA" dirty="0"/>
              <a:t> (mean Average Precision)</a:t>
            </a:r>
            <a:r>
              <a:rPr dirty="0"/>
              <a:t>. </a:t>
            </a:r>
            <a:r>
              <a:rPr lang="en-CA" dirty="0"/>
              <a:t>The maximum value is 1</a:t>
            </a:r>
          </a:p>
          <a:p>
            <a:r>
              <a:rPr dirty="0"/>
              <a:t>So the detector itself is strong. </a:t>
            </a:r>
            <a:endParaRPr lang="en-CA" dirty="0"/>
          </a:p>
          <a:p>
            <a:r>
              <a:rPr dirty="0"/>
              <a:t>The next slide is the honest part: what happens on our real clinical X-rays, which look different.'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'From the L4 outline </a:t>
            </a:r>
            <a:r>
              <a:rPr lang="en-CA" dirty="0"/>
              <a:t>I</a:t>
            </a:r>
            <a:r>
              <a:rPr dirty="0"/>
              <a:t> measure two things: </a:t>
            </a:r>
            <a:endParaRPr lang="en-CA" dirty="0"/>
          </a:p>
          <a:p>
            <a:r>
              <a:rPr dirty="0"/>
              <a:t>density (brightness) and texture (the internal bone pattern). </a:t>
            </a:r>
            <a:endParaRPr lang="en-CA" dirty="0"/>
          </a:p>
          <a:p>
            <a:r>
              <a:rPr lang="en-CA" dirty="0"/>
              <a:t>I</a:t>
            </a:r>
            <a:r>
              <a:rPr dirty="0"/>
              <a:t> focus on the inner core, where osteoporotic change appears earliest. </a:t>
            </a:r>
            <a:endParaRPr lang="en-CA" dirty="0"/>
          </a:p>
          <a:p>
            <a:endParaRPr lang="en-CA" dirty="0"/>
          </a:p>
          <a:p>
            <a:r>
              <a:rPr dirty="0"/>
              <a:t>density here is a relative index, not calibrated BMD.'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MOST IMPORTANT SLIDE. </a:t>
            </a:r>
            <a:endParaRPr lang="en-CA" dirty="0"/>
          </a:p>
          <a:p>
            <a:r>
              <a:rPr lang="en-US" dirty="0"/>
              <a:t>I am being transparent. Two numbers on purpose.</a:t>
            </a:r>
          </a:p>
          <a:p>
            <a:r>
              <a:rPr lang="en-US" dirty="0"/>
              <a:t>The outline quality is good - 0.76. But the as-labeled score is 0.28 because of an anatomical demarcation issue during ground-truth labeling. </a:t>
            </a:r>
          </a:p>
          <a:p>
            <a:r>
              <a:rPr lang="en-US" dirty="0"/>
              <a:t>Due to my own difficulty in precisely differentiating the L4 boundaries on real clinical X-rays, the vertebra above or below L4 may have been incorrectly designated as L4.</a:t>
            </a:r>
          </a:p>
          <a:p>
            <a:endParaRPr lang="en-US" dirty="0"/>
          </a:p>
          <a:p>
            <a:r>
              <a:rPr lang="en-US" dirty="0"/>
              <a:t>So Right shape, wrong name.</a:t>
            </a:r>
          </a:p>
          <a:p>
            <a:r>
              <a:rPr lang="en-US" dirty="0"/>
              <a:t>The value of splitting the metric: it proves the segmentation works and isolates a single, fixable labeling issue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'This shows the problem visually. </a:t>
            </a:r>
            <a:endParaRPr lang="en-CA" dirty="0"/>
          </a:p>
          <a:p>
            <a:r>
              <a:rPr dirty="0"/>
              <a:t>Yellow is the true L4 </a:t>
            </a:r>
            <a:r>
              <a:rPr lang="en-CA" dirty="0"/>
              <a:t>, I marked it. </a:t>
            </a:r>
            <a:r>
              <a:rPr dirty="0"/>
              <a:t> </a:t>
            </a:r>
            <a:endParaRPr lang="en-CA" dirty="0"/>
          </a:p>
          <a:p>
            <a:r>
              <a:rPr dirty="0"/>
              <a:t>Red is the AI's L4. In the worst cases the red is one level too high. </a:t>
            </a:r>
            <a:endParaRPr lang="en-CA" dirty="0"/>
          </a:p>
          <a:p>
            <a:r>
              <a:rPr dirty="0"/>
              <a:t>The shapes are right - it is a counting / field-of-view problem, not a segmentation failure.’</a:t>
            </a:r>
            <a:endParaRPr lang="en-CA" dirty="0"/>
          </a:p>
          <a:p>
            <a:endParaRPr lang="en-US" dirty="0"/>
          </a:p>
          <a:p>
            <a:r>
              <a:rPr lang="en-US" dirty="0"/>
              <a:t>I am having difficulty naming the L4 bone.</a:t>
            </a:r>
          </a:p>
          <a:p>
            <a:r>
              <a:rPr lang="en-US" dirty="0"/>
              <a:t>It is often difficult to distinguish bones in X-ray images.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'Trust matters in medicine. </a:t>
            </a:r>
            <a:endParaRPr lang="en-CA" dirty="0"/>
          </a:p>
          <a:p>
            <a:r>
              <a:rPr dirty="0"/>
              <a:t>This heatmap shows the pixels the AI used. </a:t>
            </a:r>
            <a:endParaRPr lang="en-CA" dirty="0"/>
          </a:p>
          <a:p>
            <a:r>
              <a:rPr dirty="0"/>
              <a:t>It focuses on the L4 bone itself and its trabecular pattern - the same thing a radiologist would look at. </a:t>
            </a:r>
            <a:endParaRPr lang="en-CA" dirty="0"/>
          </a:p>
          <a:p>
            <a:r>
              <a:rPr dirty="0"/>
              <a:t>So when it does pick the right level, it is looking at the right structure for the right reason.'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</a:t>
            </a:r>
            <a:r>
              <a:rPr lang="en-CA" dirty="0"/>
              <a:t>T</a:t>
            </a:r>
            <a:r>
              <a:rPr dirty="0"/>
              <a:t>he engine works and is explainable.</a:t>
            </a:r>
            <a:endParaRPr lang="en-CA" dirty="0"/>
          </a:p>
          <a:p>
            <a:r>
              <a:rPr dirty="0"/>
              <a:t>One fixable gap remains - the L4 labeling on clinical images. </a:t>
            </a:r>
            <a:endParaRPr lang="en-CA" dirty="0"/>
          </a:p>
          <a:p>
            <a:r>
              <a:rPr dirty="0"/>
              <a:t>The fix is straightforward: fine-tune on a small number of labeled clinical X-rays. </a:t>
            </a:r>
            <a:endParaRPr lang="en-CA" dirty="0"/>
          </a:p>
          <a:p>
            <a:r>
              <a:rPr dirty="0"/>
              <a:t>I would need a small set of labeled clinical cases from your team to do step one.'</a:t>
            </a:r>
            <a:endParaRPr lang="en-CA" dirty="0"/>
          </a:p>
          <a:p>
            <a:r>
              <a:rPr lang="en-US" dirty="0"/>
              <a:t>However, I plan to receive the dataset and label it first. I will ask for your help later.</a:t>
            </a:r>
          </a:p>
          <a:p>
            <a:endParaRPr lang="en-US" dirty="0"/>
          </a:p>
          <a:p>
            <a:r>
              <a:rPr lang="en-US" dirty="0"/>
              <a:t>And I would like to compare this with the DXA test results. It would be helpful to know how actual bone density can be measured.</a:t>
            </a:r>
          </a:p>
          <a:p>
            <a:r>
              <a:rPr lang="en-US" dirty="0"/>
              <a:t>For now, 2 and 3 numbers are outside the scope of the research, so they have been marked this way.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'In short: </a:t>
            </a:r>
            <a:endParaRPr lang="en-CA" dirty="0"/>
          </a:p>
          <a:p>
            <a:r>
              <a:rPr lang="en-CA" dirty="0"/>
              <a:t>I</a:t>
            </a:r>
            <a:r>
              <a:rPr dirty="0"/>
              <a:t> can get an automatic, explainable bone-quality signal from routine X-rays. </a:t>
            </a:r>
            <a:endParaRPr lang="en-CA" dirty="0"/>
          </a:p>
          <a:p>
            <a:r>
              <a:rPr dirty="0"/>
              <a:t>The method is sound; </a:t>
            </a:r>
            <a:endParaRPr lang="en-CA" dirty="0"/>
          </a:p>
          <a:p>
            <a:r>
              <a:rPr dirty="0"/>
              <a:t>one labeling gap is left and it is fixable with a small amount of labeled clinical data. </a:t>
            </a:r>
            <a:endParaRPr lang="en-CA" dirty="0"/>
          </a:p>
          <a:p>
            <a:r>
              <a:rPr dirty="0"/>
              <a:t>My ask: help me get a few labeled clinical cases so I can close that gap.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1D23-EDC4-BB68-95BC-9C67C1AB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D2F9F-5D79-6520-60E1-52019E0EB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DB2AA-BDCB-D8D1-79C7-02D14CA6B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F6BD8-CEDA-1AD0-D263-F3F42B0AD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35551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FD221-A45C-3A73-970F-E7F9809B3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AEDA8-C4B7-5E5C-FC38-CC147A96D1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B91404-B523-D9F3-DD37-00C3591B11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1BD47-A0B9-3A21-B1B6-AC3812C877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33568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0838F"/>
                </a:solidFill>
                <a:latin typeface="Calibri"/>
              </a:rPr>
              <a:t>AUTOMATED IMAGING  ·  BONE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 dirty="0">
                <a:solidFill>
                  <a:srgbClr val="FFFFFF"/>
                </a:solidFill>
                <a:latin typeface="Calibri"/>
              </a:rPr>
              <a:t>Measuring Spinal Bone Health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 dirty="0">
                <a:solidFill>
                  <a:srgbClr val="FFFFFF"/>
                </a:solidFill>
                <a:latin typeface="Calibri"/>
              </a:rPr>
              <a:t>from Routine Hip / Spine X-rays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1" dirty="0">
                <a:solidFill>
                  <a:srgbClr val="C9D6E2"/>
                </a:solidFill>
                <a:latin typeface="Calibri"/>
              </a:rPr>
              <a:t>An automatic, explainable pipeline that finds the L4 vertebra and measures its bone density and texture.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058400" cy="78483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Presented by:  </a:t>
            </a:r>
            <a:r>
              <a:rPr lang="en-CA" sz="1500" b="1" i="0" dirty="0">
                <a:solidFill>
                  <a:srgbClr val="FFFFFF"/>
                </a:solidFill>
                <a:latin typeface="Calibri"/>
              </a:rPr>
              <a:t>Edward</a:t>
            </a:r>
            <a:r>
              <a:rPr lang="en-CA" sz="1500" b="1" dirty="0">
                <a:solidFill>
                  <a:srgbClr val="FFFFFF"/>
                </a:solidFill>
                <a:latin typeface="Calibri"/>
              </a:rPr>
              <a:t> Choi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 ·  Data Analyst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AEB9C6"/>
                </a:solidFill>
                <a:latin typeface="Calibri"/>
              </a:rPr>
              <a:t>Audience:  </a:t>
            </a:r>
            <a:r>
              <a:rPr lang="en-CA" sz="1300" b="0" i="0" dirty="0">
                <a:solidFill>
                  <a:srgbClr val="AEB9C6"/>
                </a:solidFill>
                <a:latin typeface="Calibri"/>
              </a:rPr>
              <a:t>Dr. Brent Lanting / </a:t>
            </a:r>
            <a:r>
              <a:rPr sz="1300" b="0" i="0" dirty="0" err="1">
                <a:solidFill>
                  <a:srgbClr val="AEB9C6"/>
                </a:solidFill>
                <a:latin typeface="Calibri"/>
              </a:rPr>
              <a:t>Orthopaedic</a:t>
            </a:r>
            <a:r>
              <a:rPr sz="1300" b="0" i="0" dirty="0">
                <a:solidFill>
                  <a:srgbClr val="AEB9C6"/>
                </a:solidFill>
                <a:latin typeface="Calibri"/>
              </a:rPr>
              <a:t> / Hip Surgery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AEB9C6"/>
                </a:solidFill>
                <a:latin typeface="Calibri"/>
              </a:rPr>
              <a:t>June</a:t>
            </a:r>
            <a:r>
              <a:rPr lang="en-CA" sz="1300" b="0" i="0" dirty="0">
                <a:solidFill>
                  <a:srgbClr val="AEB9C6"/>
                </a:solidFill>
                <a:latin typeface="Calibri"/>
              </a:rPr>
              <a:t> 30, </a:t>
            </a:r>
            <a:r>
              <a:rPr sz="1300" b="0" i="0" dirty="0">
                <a:solidFill>
                  <a:srgbClr val="AEB9C6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Why measure L4 bone from an X-ray?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583680" cy="3474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Bone quality of the lumbar spine matters for surgical planning and follow-up.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AP hip / spine X-rays are already taken in routine care.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Goal: a fast, repeatable bone-quality number for the L4 vertebra — fully automatic.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L4 is the standard lumbar reference level for bone assessment (as in DXA).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645920"/>
            <a:ext cx="4206240" cy="22860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1828800"/>
            <a:ext cx="3749039" cy="2011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B26A00"/>
                </a:solidFill>
                <a:latin typeface="Calibri"/>
              </a:rPr>
              <a:t>IMPORTANT CAVEAT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1" dirty="0">
                <a:solidFill>
                  <a:srgbClr val="222A33"/>
                </a:solidFill>
                <a:latin typeface="Calibri"/>
              </a:rPr>
              <a:t>This is a relative, X-ray-based proxy of bone density — not a calibrated DXA result (g/cm²).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1" dirty="0">
                <a:solidFill>
                  <a:srgbClr val="5A646E"/>
                </a:solidFill>
                <a:latin typeface="Calibri"/>
              </a:rPr>
              <a:t>It is for method demonstration. True BMD needs DXA / QCT or an in-image calibration phantom.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114800"/>
            <a:ext cx="4206240" cy="1463040"/>
          </a:xfrm>
          <a:prstGeom prst="roundRect">
            <a:avLst>
              <a:gd name="adj" fmla="val 4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4251960"/>
            <a:ext cx="3749039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00838F"/>
                </a:solidFill>
                <a:latin typeface="Calibri"/>
              </a:rPr>
              <a:t>WHAT WE MEASURE ON L4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1)  Bone density proxy  (image brightness)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2)  Bone texture  (trabecular pattern, GLCM)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The pipeline in four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508760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Input X-ray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Routine AP spine /
hip radiograph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81528" y="3063240"/>
            <a:ext cx="292608" cy="457200"/>
          </a:xfrm>
          <a:prstGeom prst="right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92424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52544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Find L4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AI outlines vertebrae
L1-L5 and selects L4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25312" y="3063240"/>
            <a:ext cx="292608" cy="457200"/>
          </a:xfrm>
          <a:prstGeom prst="right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36208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196328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Density proxy +
bone texture on L4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69096" y="3063240"/>
            <a:ext cx="292608" cy="457200"/>
          </a:xfrm>
          <a:prstGeom prst="right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079992" y="2194560"/>
            <a:ext cx="251460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40112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Report + 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5A646E"/>
                </a:solidFill>
                <a:latin typeface="Calibri"/>
              </a:rPr>
              <a:t>Numbers + heatmaps
showing the 'why'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1" dirty="0">
                <a:solidFill>
                  <a:srgbClr val="5A646E"/>
                </a:solidFill>
                <a:latin typeface="Calibri"/>
              </a:rPr>
              <a:t>Built on a single AI detector (YOLOv8) trained on 2,000 public spine X-rays; the measurement and explanation code is independent of the detector.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24F"/>
                </a:solidFill>
                <a:latin typeface="Calibri"/>
              </a:rPr>
              <a:t>Finding the L4 vertebra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9120" y="1310509"/>
            <a:ext cx="11064240" cy="177798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 dirty="0">
                <a:solidFill>
                  <a:srgbClr val="1B324F"/>
                </a:solidFill>
                <a:latin typeface="Calibri"/>
              </a:rPr>
              <a:t>AI segmentation (YOLOv8-seg)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Trained on 2,000 labeled spine X-rays (public BUU-LSPINE set).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It outlines each vertebra L1-L5 as a separate object.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L4 is selected by its label, with a 4th-from-top backup rule.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Output: a clean L4 outline at full image resolution.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Blue = all vertebrae   ·   Green = selected L4</a:t>
            </a:r>
          </a:p>
        </p:txBody>
      </p:sp>
      <p:pic>
        <p:nvPicPr>
          <p:cNvPr id="7" name="Picture 6" descr="detec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76" y="3126908"/>
            <a:ext cx="10780867" cy="34110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24F"/>
                </a:solidFill>
                <a:latin typeface="Calibri"/>
              </a:rPr>
              <a:t>The detector is accurate (in-domain)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6264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6264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00838F"/>
                </a:solidFill>
                <a:latin typeface="Calibri"/>
              </a:rPr>
              <a:t>0.97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6264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Mask mAP@50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7218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7218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24F"/>
                </a:solidFill>
                <a:latin typeface="Calibri"/>
              </a:rPr>
              <a:t>0.95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7218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Precision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0061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10061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24F"/>
                </a:solidFill>
                <a:latin typeface="Calibri"/>
              </a:rPr>
              <a:t>0.96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0061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Recall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3845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03845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5A646E"/>
                </a:solidFill>
                <a:latin typeface="Calibri"/>
              </a:rPr>
              <a:t>0.76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3845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mAP@50-95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54680"/>
            <a:ext cx="5779732" cy="136556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 dirty="0">
                <a:solidFill>
                  <a:srgbClr val="222A33"/>
                </a:solidFill>
                <a:latin typeface="Calibri"/>
              </a:rPr>
              <a:t>On held-out validation X-rays, the model finds and outlines vertebrae very reliably.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5A646E"/>
                </a:solidFill>
                <a:latin typeface="Calibri"/>
              </a:rPr>
              <a:t>mAP@50 = 0.97 means near-complete agreement with the human labels at a standard overlap threshold.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Right: model predictions on a validation batch.</a:t>
            </a:r>
          </a:p>
        </p:txBody>
      </p:sp>
      <p:pic>
        <p:nvPicPr>
          <p:cNvPr id="19" name="Picture 18" descr="val_batch0_pr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926" y="1166600"/>
            <a:ext cx="5329473" cy="53294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24F"/>
                </a:solidFill>
                <a:latin typeface="Calibri"/>
              </a:rPr>
              <a:t>Measuring bone on L4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9201942" cy="1485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 dirty="0">
                <a:solidFill>
                  <a:srgbClr val="1B324F"/>
                </a:solidFill>
                <a:latin typeface="Calibri"/>
              </a:rPr>
              <a:t>Two bone read-outs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Density proxy: average brightness inside the L4 region. Denser bone tends to look brighter.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Texture (GLCM): the trabecular bone pattern — contrast, energy, homogeneity.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We use the inner 'cancellous' core of L4 (red ROI) where bone change shows first.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Green = L4   ·   Red = measurement ROI</a:t>
            </a:r>
          </a:p>
        </p:txBody>
      </p:sp>
      <p:pic>
        <p:nvPicPr>
          <p:cNvPr id="7" name="Picture 6" descr="bmd_ex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03" y="3078542"/>
            <a:ext cx="10587129" cy="33771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REALITY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Honest test on 42 real clinical X-rays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3832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 i="0">
                <a:solidFill>
                  <a:srgbClr val="2E7D32"/>
                </a:solidFill>
                <a:latin typeface="Calibri"/>
              </a:rPr>
              <a:t>0.76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2004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Shape quality (Dice)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Calibri"/>
              </a:rPr>
              <a:t>When it labels L4, the outline is good.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554480"/>
            <a:ext cx="3383280" cy="219456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33832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 i="0">
                <a:solidFill>
                  <a:srgbClr val="C43A35"/>
                </a:solidFill>
                <a:latin typeface="Calibri"/>
              </a:rPr>
              <a:t>0.28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697480"/>
            <a:ext cx="32004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As-labeled (Dice)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Calibri"/>
              </a:rPr>
              <a:t>Sometimes it names the wrong vertebra.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554480"/>
            <a:ext cx="3931920" cy="219456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691640"/>
            <a:ext cx="3611880" cy="2011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B26A00"/>
                </a:solidFill>
                <a:latin typeface="Calibri"/>
              </a:rPr>
              <a:t>THE ONE ISSUE: 'OFF-BY-ONE'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The AI draws a correct vertebra shape, but on these different-looking clinical images it sometimes labels the </a:t>
            </a:r>
            <a:r>
              <a:rPr sz="1350" b="0" i="1" dirty="0" err="1">
                <a:solidFill>
                  <a:srgbClr val="222A33"/>
                </a:solidFill>
                <a:latin typeface="Calibri"/>
              </a:rPr>
              <a:t>neighbour</a:t>
            </a:r>
            <a:r>
              <a:rPr sz="1350" b="0" i="1" dirty="0">
                <a:solidFill>
                  <a:srgbClr val="222A33"/>
                </a:solidFill>
                <a:latin typeface="Calibri"/>
              </a:rPr>
              <a:t> as 'L4'.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 dirty="0">
                <a:solidFill>
                  <a:srgbClr val="1B324F"/>
                </a:solidFill>
                <a:latin typeface="Calibri"/>
              </a:rPr>
              <a:t>Right shape, wrong name — on 28 of 42 images.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6949440" cy="2011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i="0" dirty="0">
                <a:solidFill>
                  <a:srgbClr val="1B324F"/>
                </a:solidFill>
                <a:latin typeface="Calibri"/>
              </a:rPr>
              <a:t>Why report two numbers?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Separating 'shape quality' from 'naming' tells us exactly what to fix. The segmentation is good (0.76). The gap to 0.28 is purely a labeling problem we can target directly.</a:t>
            </a:r>
          </a:p>
        </p:txBody>
      </p:sp>
      <p:pic>
        <p:nvPicPr>
          <p:cNvPr id="15" name="Picture 14" descr="eval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347958"/>
            <a:ext cx="4572000" cy="15453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Seeing the 'off-by-one' clearly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eval_overl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4380"/>
            <a:ext cx="7863840" cy="4029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645920"/>
            <a:ext cx="3108960" cy="32851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 dirty="0">
                <a:solidFill>
                  <a:srgbClr val="1B324F"/>
                </a:solidFill>
                <a:latin typeface="Calibri"/>
              </a:rPr>
              <a:t>How to read this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dirty="0">
                <a:solidFill>
                  <a:srgbClr val="B26A00"/>
                </a:solidFill>
                <a:latin typeface="Calibri"/>
              </a:rPr>
              <a:t>Yellow = true L4 (</a:t>
            </a:r>
            <a:r>
              <a:rPr lang="en-CA" sz="1400" b="1" i="0" dirty="0">
                <a:solidFill>
                  <a:srgbClr val="B26A00"/>
                </a:solidFill>
                <a:latin typeface="Calibri"/>
              </a:rPr>
              <a:t>Edward</a:t>
            </a:r>
            <a:r>
              <a:rPr sz="1400" b="1" i="0" dirty="0">
                <a:solidFill>
                  <a:srgbClr val="B26A00"/>
                </a:solidFill>
                <a:latin typeface="Calibri"/>
              </a:rPr>
              <a:t>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dirty="0">
                <a:solidFill>
                  <a:srgbClr val="C43A35"/>
                </a:solidFill>
                <a:latin typeface="Calibri"/>
              </a:rPr>
              <a:t>Red = what the AI named L4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 i="0" dirty="0">
                <a:solidFill>
                  <a:srgbClr val="2E7D32"/>
                </a:solidFill>
                <a:latin typeface="Calibri"/>
              </a:rPr>
              <a:t>Green = best-matching vertebra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400" b="1" i="0" dirty="0">
              <a:solidFill>
                <a:srgbClr val="2E7D32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Top row (worst): red sits one vertebra above the yellow — the off-by-one shift.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Bottom row (best): red, green and yellow line up.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endParaRPr sz="1350" b="0" i="1" dirty="0">
              <a:solidFill>
                <a:srgbClr val="222A33"/>
              </a:solidFill>
              <a:latin typeface="Calibri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00" b="0" i="1" dirty="0">
                <a:solidFill>
                  <a:srgbClr val="5A646E"/>
                </a:solidFill>
                <a:latin typeface="Calibri"/>
              </a:rPr>
              <a:t>Cause: </a:t>
            </a:r>
            <a:r>
              <a:rPr lang="en-US" sz="1300" i="1" dirty="0">
                <a:solidFill>
                  <a:srgbClr val="5A646E"/>
                </a:solidFill>
                <a:latin typeface="Calibri"/>
              </a:rPr>
              <a:t>I am having difficulty naming the L4 bone</a:t>
            </a:r>
            <a:r>
              <a:rPr sz="1300" i="1" dirty="0">
                <a:solidFill>
                  <a:srgbClr val="5A646E"/>
                </a:solidFill>
                <a:latin typeface="Calibri"/>
              </a:rPr>
              <a:t>.</a:t>
            </a:r>
            <a:r>
              <a:rPr lang="en-CA" sz="1300" i="1" dirty="0">
                <a:solidFill>
                  <a:srgbClr val="5A646E"/>
                </a:solidFill>
                <a:latin typeface="Calibri"/>
              </a:rPr>
              <a:t> </a:t>
            </a:r>
            <a:r>
              <a:rPr lang="en-US" sz="1300" i="1" dirty="0">
                <a:solidFill>
                  <a:srgbClr val="5A646E"/>
                </a:solidFill>
              </a:rPr>
              <a:t>I think it's a labeling issue.</a:t>
            </a:r>
            <a:endParaRPr sz="1300" i="1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Can we trust where the AI looks?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xai_grad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806436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645920"/>
            <a:ext cx="3108960" cy="43891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 dirty="0">
                <a:solidFill>
                  <a:srgbClr val="1B324F"/>
                </a:solidFill>
                <a:latin typeface="Calibri"/>
              </a:rPr>
              <a:t>Grad-CAM (gradient-based)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A heatmap of the pixels the model used to decide 'this is L4'.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 dirty="0">
                <a:solidFill>
                  <a:srgbClr val="C43A35"/>
                </a:solidFill>
                <a:latin typeface="Calibri"/>
              </a:rPr>
              <a:t>Red / warm = most important.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350" b="1" i="0" dirty="0">
              <a:solidFill>
                <a:srgbClr val="C43A35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The attention lands on the L4 body and its internal bone structure — not on background, implants, or soft tissue.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350" b="0" i="1" dirty="0">
              <a:solidFill>
                <a:srgbClr val="222A33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1" dirty="0">
                <a:solidFill>
                  <a:srgbClr val="5A646E"/>
                </a:solidFill>
                <a:latin typeface="Calibri"/>
              </a:rPr>
              <a:t>Why it matters: a clinician can verify the AI is reading the right anatomy before trusting the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WHERE WE 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What works, and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937760" cy="3931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 dirty="0">
                <a:solidFill>
                  <a:srgbClr val="2E7D32"/>
                </a:solidFill>
                <a:latin typeface="Calibri"/>
              </a:rPr>
              <a:t>WORKING TODAY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Accurate vertebra detector (mAP@50 = 0.97 in-domain).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Good L4 outline quality on clinical images (Dice = 0.76).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Fully automatic density + texture read-out.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Explainable: heatmaps confirm correct anatomy.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Honest, two-number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37360"/>
            <a:ext cx="4937760" cy="17545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NEXT STEPS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1)  Fix L4 labeling: fine-tune on a small set of labeled clinical X-rays (removes off-by-one).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strike="sngStrike" dirty="0">
                <a:solidFill>
                  <a:srgbClr val="222A33"/>
                </a:solidFill>
                <a:latin typeface="Calibri"/>
              </a:rPr>
              <a:t>2)  Calibrate density to real units using a phantom or paired DXA.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strike="sngStrike" dirty="0">
                <a:solidFill>
                  <a:srgbClr val="222A33"/>
                </a:solidFill>
                <a:latin typeface="Calibri"/>
              </a:rPr>
              <a:t>3)  Validate against DXA on the same patients.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0" i="0" dirty="0">
                <a:solidFill>
                  <a:srgbClr val="222A33"/>
                </a:solidFill>
                <a:latin typeface="Calibri"/>
              </a:rPr>
              <a:t>4)  Package as a one-click report for routine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 dirty="0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215798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424160" cy="34073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en-CA" sz="1800" b="0" i="0" dirty="0">
                <a:solidFill>
                  <a:srgbClr val="DDE6EF"/>
                </a:solidFill>
                <a:latin typeface="Calibri"/>
              </a:rPr>
              <a:t>We</a:t>
            </a:r>
            <a:r>
              <a:rPr sz="1800" b="0" i="0" dirty="0">
                <a:solidFill>
                  <a:srgbClr val="DDE6EF"/>
                </a:solidFill>
                <a:latin typeface="Calibri"/>
              </a:rPr>
              <a:t> can measure L4 bone density and texture automatically from X-rays </a:t>
            </a:r>
            <a:r>
              <a:rPr lang="en-CA" sz="1800" b="0" i="0" dirty="0">
                <a:solidFill>
                  <a:srgbClr val="DDE6EF"/>
                </a:solidFill>
                <a:latin typeface="Calibri"/>
              </a:rPr>
              <a:t>you</a:t>
            </a:r>
            <a:r>
              <a:rPr sz="1800" b="0" i="0" dirty="0">
                <a:solidFill>
                  <a:srgbClr val="DDE6EF"/>
                </a:solidFill>
                <a:latin typeface="Calibri"/>
              </a:rPr>
              <a:t> already take.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302666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0424160" cy="64543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800" b="0" i="0" dirty="0">
                <a:solidFill>
                  <a:srgbClr val="DDE6EF"/>
                </a:solidFill>
                <a:latin typeface="Calibri"/>
              </a:rPr>
              <a:t>The detector is accurate and explainable; the L4 outline quality on clinical images is good (0.76).</a:t>
            </a:r>
            <a:br>
              <a:rPr lang="en-CA" sz="1800" b="0" i="0" dirty="0">
                <a:solidFill>
                  <a:srgbClr val="DDE6EF"/>
                </a:solidFill>
                <a:latin typeface="Calibri"/>
              </a:rPr>
            </a:br>
            <a:r>
              <a:rPr lang="en-CA" sz="1800" b="0" i="0" dirty="0">
                <a:solidFill>
                  <a:srgbClr val="DDE6EF"/>
                </a:solidFill>
                <a:latin typeface="Calibri"/>
              </a:rPr>
              <a:t>( </a:t>
            </a:r>
            <a:r>
              <a:rPr lang="en-US" dirty="0">
                <a:solidFill>
                  <a:srgbClr val="DDE6EF"/>
                </a:solidFill>
              </a:rPr>
              <a:t>0.97 on the training dataset )</a:t>
            </a:r>
            <a:endParaRPr sz="1800" b="0" i="0" dirty="0">
              <a:solidFill>
                <a:srgbClr val="DDE6EF"/>
              </a:solidFill>
              <a:latin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594360" y="389534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4241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 dirty="0">
                <a:solidFill>
                  <a:srgbClr val="DDE6EF"/>
                </a:solidFill>
                <a:latin typeface="Calibri"/>
              </a:rPr>
              <a:t>One clear, fixable gap remains: correctly labeling L4 on out-of-domain clinical images.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4764024"/>
            <a:ext cx="146304" cy="146304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1042416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 i="0" dirty="0">
                <a:solidFill>
                  <a:srgbClr val="DDE6EF"/>
                </a:solidFill>
                <a:latin typeface="Calibri"/>
              </a:rPr>
              <a:t>With a small labeled clinical set + calibration, this can become a routine bone-quality readout.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715000"/>
            <a:ext cx="11064240" cy="1905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09728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Thank you  —  questions &amp; discussion welcome.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09728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1200" dirty="0">
                <a:solidFill>
                  <a:srgbClr val="AEB9C6"/>
                </a:solidFill>
                <a:latin typeface="Calibri"/>
              </a:rPr>
              <a:t>Edward</a:t>
            </a:r>
            <a:r>
              <a:rPr sz="1200" b="0" i="0" dirty="0">
                <a:solidFill>
                  <a:srgbClr val="AEB9C6"/>
                </a:solidFill>
                <a:latin typeface="Calibri"/>
              </a:rPr>
              <a:t> · Data Analyst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05E42-36D3-C4F6-BC30-341ABE80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28C1E3-E1A7-10EC-7849-0B66A4C0170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FBCD4-CC43-5185-5C8E-E5A591B5577B}"/>
              </a:ext>
            </a:extLst>
          </p:cNvPr>
          <p:cNvSpPr txBox="1"/>
          <p:nvPr/>
        </p:nvSpPr>
        <p:spPr>
          <a:xfrm>
            <a:off x="548640" y="320040"/>
            <a:ext cx="105156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1200" b="1" i="0" dirty="0">
                <a:solidFill>
                  <a:srgbClr val="00838F"/>
                </a:solidFill>
                <a:latin typeface="Calibri"/>
              </a:rPr>
              <a:t>Sample Application Description version</a:t>
            </a:r>
            <a:endParaRPr sz="1200" b="1" i="0" dirty="0">
              <a:solidFill>
                <a:srgbClr val="00838F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C949DD-DF1A-CE25-8F5E-43840AB0EC2A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5D938-2FAA-BDEF-67AB-3499DEAFA859}"/>
              </a:ext>
            </a:extLst>
          </p:cNvPr>
          <p:cNvSpPr txBox="1"/>
          <p:nvPr/>
        </p:nvSpPr>
        <p:spPr>
          <a:xfrm>
            <a:off x="10164126" y="645566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8C13A6-536D-CABC-EAAB-AE72BCF5E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46" y="598864"/>
            <a:ext cx="10671810" cy="6202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B3D23D-919D-D5C3-4229-EB8D083971B7}"/>
              </a:ext>
            </a:extLst>
          </p:cNvPr>
          <p:cNvSpPr/>
          <p:nvPr/>
        </p:nvSpPr>
        <p:spPr>
          <a:xfrm>
            <a:off x="684846" y="711450"/>
            <a:ext cx="1572578" cy="3046163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CA" sz="1400" dirty="0"/>
              <a:t>Patients Area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ECEA96-F7F0-154E-F070-E4EF13B22B29}"/>
              </a:ext>
            </a:extLst>
          </p:cNvPr>
          <p:cNvSpPr/>
          <p:nvPr/>
        </p:nvSpPr>
        <p:spPr>
          <a:xfrm>
            <a:off x="2257424" y="711450"/>
            <a:ext cx="2000250" cy="2542603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CA" sz="1400" dirty="0"/>
              <a:t>Patient X-ray upload history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D91DC0-4A1E-A61B-8000-7F8266850FDF}"/>
              </a:ext>
            </a:extLst>
          </p:cNvPr>
          <p:cNvSpPr/>
          <p:nvPr/>
        </p:nvSpPr>
        <p:spPr>
          <a:xfrm>
            <a:off x="2257424" y="3296915"/>
            <a:ext cx="2000250" cy="2289498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b"/>
          <a:lstStyle/>
          <a:p>
            <a:pPr algn="ctr"/>
            <a:r>
              <a:rPr lang="en-US" sz="1400" dirty="0"/>
              <a:t>Graph of bone density changes according to X-ray upload date</a:t>
            </a:r>
            <a:endParaRPr lang="en-CA" sz="1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1AFE7A-15D3-3674-F827-4279E667A652}"/>
              </a:ext>
            </a:extLst>
          </p:cNvPr>
          <p:cNvSpPr/>
          <p:nvPr/>
        </p:nvSpPr>
        <p:spPr>
          <a:xfrm>
            <a:off x="4257673" y="711450"/>
            <a:ext cx="5150643" cy="1938881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US" sz="1400" dirty="0"/>
              <a:t>Original X-ray image and extracted vertebrae and L4 marking</a:t>
            </a:r>
            <a:endParaRPr lang="en-CA" sz="1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E9BE525-6284-FE8B-3E16-93B2D1F8DA06}"/>
              </a:ext>
            </a:extLst>
          </p:cNvPr>
          <p:cNvCxnSpPr/>
          <p:nvPr/>
        </p:nvCxnSpPr>
        <p:spPr>
          <a:xfrm flipH="1">
            <a:off x="4371974" y="1771650"/>
            <a:ext cx="2336006" cy="109299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BD7090-62E2-4AF8-B174-8928ECE62AAE}"/>
              </a:ext>
            </a:extLst>
          </p:cNvPr>
          <p:cNvCxnSpPr>
            <a:cxnSpLocks/>
          </p:cNvCxnSpPr>
          <p:nvPr/>
        </p:nvCxnSpPr>
        <p:spPr>
          <a:xfrm>
            <a:off x="6943724" y="1771650"/>
            <a:ext cx="314325" cy="109299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2E096B4-4A79-91CA-D49A-C0298A791EEF}"/>
              </a:ext>
            </a:extLst>
          </p:cNvPr>
          <p:cNvSpPr/>
          <p:nvPr/>
        </p:nvSpPr>
        <p:spPr>
          <a:xfrm>
            <a:off x="4257674" y="2650332"/>
            <a:ext cx="4693443" cy="1614487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US" sz="1400" dirty="0"/>
              <a:t>Extracted L4 vertebra</a:t>
            </a:r>
            <a:endParaRPr lang="en-CA" sz="14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918CC23-E109-CE87-D087-5CD6435BBDE8}"/>
              </a:ext>
            </a:extLst>
          </p:cNvPr>
          <p:cNvSpPr/>
          <p:nvPr/>
        </p:nvSpPr>
        <p:spPr>
          <a:xfrm>
            <a:off x="4257674" y="4264820"/>
            <a:ext cx="4693443" cy="1014412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US" sz="1400" dirty="0"/>
              <a:t>X-ray Metadata</a:t>
            </a:r>
            <a:endParaRPr lang="en-CA" sz="14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1AFFCF6-A544-D135-8BC5-2A5BEAF3D367}"/>
              </a:ext>
            </a:extLst>
          </p:cNvPr>
          <p:cNvSpPr/>
          <p:nvPr/>
        </p:nvSpPr>
        <p:spPr>
          <a:xfrm>
            <a:off x="9408316" y="710906"/>
            <a:ext cx="2628903" cy="796426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Bone tissue value based on brightness (0 - 1)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3113A64-1954-4904-B0EC-FBF5D02ECEC8}"/>
              </a:ext>
            </a:extLst>
          </p:cNvPr>
          <p:cNvSpPr/>
          <p:nvPr/>
        </p:nvSpPr>
        <p:spPr>
          <a:xfrm>
            <a:off x="9408315" y="1509713"/>
            <a:ext cx="2628903" cy="2247899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Explainable </a:t>
            </a:r>
          </a:p>
          <a:p>
            <a:pPr algn="r"/>
            <a:r>
              <a:rPr lang="en-CA" sz="1400" dirty="0"/>
              <a:t>AI values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DA15FB8-E1BA-4207-7532-5029D7A1AA5E}"/>
              </a:ext>
            </a:extLst>
          </p:cNvPr>
          <p:cNvSpPr/>
          <p:nvPr/>
        </p:nvSpPr>
        <p:spPr>
          <a:xfrm>
            <a:off x="9408316" y="3759994"/>
            <a:ext cx="2628903" cy="1433512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Areas </a:t>
            </a:r>
          </a:p>
          <a:p>
            <a:pPr algn="r"/>
            <a:r>
              <a:rPr lang="en-CA" sz="1400" dirty="0"/>
              <a:t>affecting </a:t>
            </a:r>
          </a:p>
          <a:p>
            <a:pPr algn="r"/>
            <a:r>
              <a:rPr lang="en-CA" sz="1400" dirty="0"/>
              <a:t>BMD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21EB97-30F6-3BCE-B086-ED9773CAB100}"/>
              </a:ext>
            </a:extLst>
          </p:cNvPr>
          <p:cNvSpPr/>
          <p:nvPr/>
        </p:nvSpPr>
        <p:spPr>
          <a:xfrm>
            <a:off x="9408316" y="5193506"/>
            <a:ext cx="2628903" cy="1536478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Areas </a:t>
            </a:r>
          </a:p>
          <a:p>
            <a:pPr algn="r"/>
            <a:r>
              <a:rPr lang="en-CA" sz="1400" dirty="0"/>
              <a:t>affecting </a:t>
            </a:r>
          </a:p>
          <a:p>
            <a:pPr algn="r"/>
            <a:r>
              <a:rPr lang="en-CA" sz="1400" dirty="0"/>
              <a:t>L4</a:t>
            </a:r>
          </a:p>
          <a:p>
            <a:pPr algn="r"/>
            <a:r>
              <a:rPr lang="en-CA" sz="1400" dirty="0"/>
              <a:t>Extraction</a:t>
            </a:r>
          </a:p>
        </p:txBody>
      </p:sp>
    </p:spTree>
    <p:extLst>
      <p:ext uri="{BB962C8B-B14F-4D97-AF65-F5344CB8AC3E}">
        <p14:creationId xmlns:p14="http://schemas.microsoft.com/office/powerpoint/2010/main" val="4254591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C645A-9E5C-5B6A-F967-C6AD1B6F4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2FCE54-2E87-B9E9-917C-67714C51FF74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E71CDA-2A5B-FBA6-586D-7F61A0632108}"/>
              </a:ext>
            </a:extLst>
          </p:cNvPr>
          <p:cNvSpPr txBox="1"/>
          <p:nvPr/>
        </p:nvSpPr>
        <p:spPr>
          <a:xfrm>
            <a:off x="548640" y="320040"/>
            <a:ext cx="105156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1200" b="1" i="0" dirty="0">
                <a:solidFill>
                  <a:srgbClr val="00838F"/>
                </a:solidFill>
                <a:latin typeface="Calibri"/>
              </a:rPr>
              <a:t>Sample Application</a:t>
            </a:r>
            <a:endParaRPr sz="1200" b="1" i="0" dirty="0">
              <a:solidFill>
                <a:srgbClr val="00838F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8F135-438C-0915-4B86-BCF9CF4088BC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8B327D-3FC0-24A7-184F-B619220B29C7}"/>
              </a:ext>
            </a:extLst>
          </p:cNvPr>
          <p:cNvSpPr txBox="1"/>
          <p:nvPr/>
        </p:nvSpPr>
        <p:spPr>
          <a:xfrm>
            <a:off x="10164126" y="645566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6DCC78-F3F5-F398-41E5-9E751E7E6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4" y="627072"/>
            <a:ext cx="9906475" cy="575752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67555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1767</Words>
  <Application>Microsoft Office PowerPoint</Application>
  <PresentationFormat>Widescreen</PresentationFormat>
  <Paragraphs>210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Choi, Seongmin</cp:lastModifiedBy>
  <cp:revision>6</cp:revision>
  <dcterms:created xsi:type="dcterms:W3CDTF">2013-01-27T09:14:16Z</dcterms:created>
  <dcterms:modified xsi:type="dcterms:W3CDTF">2026-06-30T14:09:07Z</dcterms:modified>
  <cp:category/>
</cp:coreProperties>
</file>