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0" r:id="rId3"/>
    <p:sldId id="258" r:id="rId4"/>
    <p:sldId id="257" r:id="rId5"/>
    <p:sldId id="271" r:id="rId6"/>
    <p:sldId id="272" r:id="rId7"/>
    <p:sldId id="259" r:id="rId8"/>
    <p:sldId id="260" r:id="rId9"/>
    <p:sldId id="262" r:id="rId10"/>
    <p:sldId id="263" r:id="rId11"/>
    <p:sldId id="273" r:id="rId12"/>
    <p:sldId id="274" r:id="rId13"/>
    <p:sldId id="264" r:id="rId14"/>
    <p:sldId id="261" r:id="rId15"/>
    <p:sldId id="265" r:id="rId16"/>
    <p:sldId id="266" r:id="rId17"/>
    <p:sldId id="268"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1" autoAdjust="0"/>
    <p:restoredTop sz="75068" autoAdjust="0"/>
  </p:normalViewPr>
  <p:slideViewPr>
    <p:cSldViewPr snapToGrid="0" snapToObjects="1">
      <p:cViewPr varScale="1">
        <p:scale>
          <a:sx n="106" d="100"/>
          <a:sy n="106" d="100"/>
        </p:scale>
        <p:origin x="144" y="210"/>
      </p:cViewPr>
      <p:guideLst>
        <p:guide orient="horz" pos="2160"/>
        <p:guide pos="2880"/>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6686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built an automatic tool that measures bone quality of the L4 spine vertebra directly from the X-rays</a:t>
            </a:r>
            <a:r>
              <a:rPr lang="en-CA" dirty="0"/>
              <a:t> you</a:t>
            </a:r>
            <a:r>
              <a:rPr dirty="0"/>
              <a:t> already take. </a:t>
            </a:r>
            <a:endParaRPr lang="en-CA" dirty="0"/>
          </a:p>
          <a:p>
            <a:r>
              <a:rPr dirty="0"/>
              <a:t>No extra scan, no extra </a:t>
            </a:r>
            <a:r>
              <a:rPr lang="en-CA" dirty="0"/>
              <a:t>radiation</a:t>
            </a:r>
            <a:r>
              <a:rPr lang="ko-KR" altLang="en-US" dirty="0"/>
              <a:t> </a:t>
            </a:r>
            <a:r>
              <a:rPr dirty="0"/>
              <a:t>dose. </a:t>
            </a:r>
            <a:endParaRPr lang="en-CA" dirty="0"/>
          </a:p>
          <a:p>
            <a:r>
              <a:rPr dirty="0"/>
              <a:t>I'll show what it does, how accurate it is, and what we still need to fix before clinical use.'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D5173-8867-B76E-E850-3FD3EC086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8B059-C1D9-7E67-67BA-06CFA674A0A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8665301-8696-9AAA-A8BF-862ADE887453}"/>
              </a:ext>
            </a:extLst>
          </p:cNvPr>
          <p:cNvSpPr>
            <a:spLocks noGrp="1"/>
          </p:cNvSpPr>
          <p:nvPr>
            <p:ph type="body" sz="quarter" idx="3"/>
          </p:nvPr>
        </p:nvSpPr>
        <p:spPr/>
        <p:txBody>
          <a:bodyPr/>
          <a:lstStyle/>
          <a:p>
            <a:r>
              <a:rPr dirty="0"/>
              <a:t>‘</a:t>
            </a:r>
            <a:r>
              <a:rPr lang="en-CA" dirty="0"/>
              <a:t>This is </a:t>
            </a:r>
            <a:r>
              <a:rPr dirty="0"/>
              <a:t>not replacing DXA. </a:t>
            </a:r>
            <a:endParaRPr lang="en-CA" dirty="0"/>
          </a:p>
          <a:p>
            <a:r>
              <a:rPr lang="en-CA" dirty="0"/>
              <a:t>It</a:t>
            </a:r>
            <a:r>
              <a:rPr dirty="0"/>
              <a:t> extract</a:t>
            </a:r>
            <a:r>
              <a:rPr lang="en-CA" dirty="0"/>
              <a:t>s</a:t>
            </a:r>
            <a:r>
              <a:rPr dirty="0"/>
              <a:t> consistent</a:t>
            </a:r>
            <a:r>
              <a:rPr lang="en-CA" dirty="0"/>
              <a:t> and</a:t>
            </a:r>
            <a:r>
              <a:rPr dirty="0"/>
              <a:t> automat</a:t>
            </a:r>
            <a:r>
              <a:rPr lang="en-CA" dirty="0"/>
              <a:t>ed</a:t>
            </a:r>
            <a:r>
              <a:rPr dirty="0"/>
              <a:t> bone s</a:t>
            </a:r>
            <a:r>
              <a:rPr lang="en-CA" dirty="0" err="1"/>
              <a:t>tructures</a:t>
            </a:r>
            <a:r>
              <a:rPr dirty="0"/>
              <a:t> from images you already have. </a:t>
            </a:r>
            <a:endParaRPr lang="en-CA" dirty="0"/>
          </a:p>
          <a:p>
            <a:r>
              <a:rPr lang="en-US" dirty="0"/>
              <a:t>It extracts two things: density (how bright and dense the bones appear) and texture (the patterns within the bones).</a:t>
            </a:r>
          </a:p>
          <a:p>
            <a:endParaRPr lang="en-US" dirty="0"/>
          </a:p>
          <a:p>
            <a:r>
              <a:rPr lang="en-US" dirty="0"/>
              <a:t>However, this is only an approximation and is not corrected to actual bone density units.</a:t>
            </a:r>
            <a:endParaRPr dirty="0"/>
          </a:p>
        </p:txBody>
      </p:sp>
      <p:sp>
        <p:nvSpPr>
          <p:cNvPr id="4" name="Slide Number Placeholder 3">
            <a:extLst>
              <a:ext uri="{FF2B5EF4-FFF2-40B4-BE49-F238E27FC236}">
                <a16:creationId xmlns:a16="http://schemas.microsoft.com/office/drawing/2014/main" id="{99182BB7-C6BF-ECF5-73AC-A4F95FB1E58A}"/>
              </a:ext>
            </a:extLst>
          </p:cNvPr>
          <p:cNvSpPr>
            <a:spLocks noGrp="1"/>
          </p:cNvSpPr>
          <p:nvPr>
            <p:ph type="sldNum" sz="quarter" idx="5"/>
          </p:nvPr>
        </p:nvSpPr>
        <p:spPr/>
      </p:sp>
    </p:spTree>
    <p:extLst>
      <p:ext uri="{BB962C8B-B14F-4D97-AF65-F5344CB8AC3E}">
        <p14:creationId xmlns:p14="http://schemas.microsoft.com/office/powerpoint/2010/main" val="1148144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 pipeline consists of four stages.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takes an X-ray image, has the AI ​​locate the L4 vertebra and outline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measures the L4 Bone structure in that area, and reports the values ​​along with a heatmap showing where the AI ​​found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upgraded the model from Yolo 8 to Yolo 26 last week.</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 will show you the overall scope and specific methodology of this research.</a:t>
            </a:r>
          </a:p>
          <a:p>
            <a:r>
              <a:rPr lang="en-US" dirty="0"/>
              <a:t>If you look at Imaging modalities, there are various options ranging from standard diagnostic equipment like DXA to CT and MRI. Among these, what we focused on is X-ray.</a:t>
            </a:r>
          </a:p>
          <a:p>
            <a:r>
              <a:rPr lang="en-US" dirty="0"/>
              <a:t>The purpose of this project is to establish an 'Opportunistic screening' pipeline for osteoporosis risk.</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AB9C5-1C6D-77D7-6C6E-D2A146E33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02791-22A5-7346-807D-46BB5E823A9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1B14C01-5BDC-97B4-92BD-782EB991E146}"/>
              </a:ext>
            </a:extLst>
          </p:cNvPr>
          <p:cNvSpPr>
            <a:spLocks noGrp="1"/>
          </p:cNvSpPr>
          <p:nvPr>
            <p:ph type="body" sz="quarter" idx="3"/>
          </p:nvPr>
        </p:nvSpPr>
        <p:spPr/>
        <p:txBody>
          <a:bodyPr/>
          <a:lstStyle/>
          <a:p>
            <a:r>
              <a:rPr lang="en-US" dirty="0"/>
              <a:t>Our AI architecture is a pipeline that fuses Statistical Texture Analysis (GLCM), Deep Learning-based Segmentation (YOLO), and Explainable AI (Seg-Grad-CAM).</a:t>
            </a:r>
            <a:endParaRPr dirty="0"/>
          </a:p>
        </p:txBody>
      </p:sp>
      <p:sp>
        <p:nvSpPr>
          <p:cNvPr id="4" name="Slide Number Placeholder 3">
            <a:extLst>
              <a:ext uri="{FF2B5EF4-FFF2-40B4-BE49-F238E27FC236}">
                <a16:creationId xmlns:a16="http://schemas.microsoft.com/office/drawing/2014/main" id="{47FEBD2A-6CA8-ABA3-39F2-675D2A614335}"/>
              </a:ext>
            </a:extLst>
          </p:cNvPr>
          <p:cNvSpPr>
            <a:spLocks noGrp="1"/>
          </p:cNvSpPr>
          <p:nvPr>
            <p:ph type="sldNum" sz="quarter" idx="5"/>
          </p:nvPr>
        </p:nvSpPr>
        <p:spPr/>
      </p:sp>
    </p:spTree>
    <p:extLst>
      <p:ext uri="{BB962C8B-B14F-4D97-AF65-F5344CB8AC3E}">
        <p14:creationId xmlns:p14="http://schemas.microsoft.com/office/powerpoint/2010/main" val="3344495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BFE5-45F4-FCE8-133D-5072DDA02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36547-E51A-CB6D-2C51-BA9CC35C1DD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339BC4B-90BF-4854-FA5E-11107DB4568D}"/>
              </a:ext>
            </a:extLst>
          </p:cNvPr>
          <p:cNvSpPr>
            <a:spLocks noGrp="1"/>
          </p:cNvSpPr>
          <p:nvPr>
            <p:ph type="body" sz="quarter" idx="3"/>
          </p:nvPr>
        </p:nvSpPr>
        <p:spPr/>
        <p:txBody>
          <a:bodyPr/>
          <a:lstStyle/>
          <a:p>
            <a:r>
              <a:rPr lang="en-US" dirty="0"/>
              <a:t>For the training and validation datasets, 4,000 samples were used from the AP (Anteroposterior) and LA (Lateral) BUU datasets, and 42 DICOM files were used for the test dataset.</a:t>
            </a:r>
            <a:endParaRPr dirty="0"/>
          </a:p>
        </p:txBody>
      </p:sp>
      <p:sp>
        <p:nvSpPr>
          <p:cNvPr id="4" name="Slide Number Placeholder 3">
            <a:extLst>
              <a:ext uri="{FF2B5EF4-FFF2-40B4-BE49-F238E27FC236}">
                <a16:creationId xmlns:a16="http://schemas.microsoft.com/office/drawing/2014/main" id="{0550AF89-A0E0-864A-0292-71F27ACF239A}"/>
              </a:ext>
            </a:extLst>
          </p:cNvPr>
          <p:cNvSpPr>
            <a:spLocks noGrp="1"/>
          </p:cNvSpPr>
          <p:nvPr>
            <p:ph type="sldNum" sz="quarter" idx="5"/>
          </p:nvPr>
        </p:nvSpPr>
        <p:spPr/>
      </p:sp>
    </p:spTree>
    <p:extLst>
      <p:ext uri="{BB962C8B-B14F-4D97-AF65-F5344CB8AC3E}">
        <p14:creationId xmlns:p14="http://schemas.microsoft.com/office/powerpoint/2010/main" val="1629634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AI segmentation (YOLOv8-seg).</a:t>
            </a:r>
          </a:p>
          <a:p>
            <a:r>
              <a:rPr lang="en-US" dirty="0"/>
              <a:t>Draws the outlines of each vertebra (L1–L5).</a:t>
            </a:r>
          </a:p>
          <a:p>
            <a:r>
              <a:rPr lang="en-US" dirty="0"/>
              <a:t>L4 is selected based on the label, and primarily the fourth vertebra from the top is selected as the object.</a:t>
            </a:r>
          </a:p>
          <a:p>
            <a:r>
              <a:rPr lang="en-US" dirty="0"/>
              <a:t>This is a frontal and side training photo, and on the right is the L4 extracted from an actual X-ray DICOM file.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accuracy of the training data is high at 0.97 </a:t>
            </a:r>
            <a:r>
              <a:rPr lang="en-US" dirty="0" err="1"/>
              <a:t>mAP</a:t>
            </a:r>
            <a:r>
              <a:rPr lang="en-US" dirty="0"/>
              <a:t> (mean Average precision). The maximum value is 1.</a:t>
            </a:r>
          </a:p>
          <a:p>
            <a:r>
              <a:rPr lang="en-US" dirty="0"/>
              <a:t>Therefore, the detector itself is strong.</a:t>
            </a:r>
          </a:p>
          <a:p>
            <a:endParaRPr lang="en-US" dirty="0"/>
          </a:p>
          <a:p>
            <a:r>
              <a:rPr lang="en-US" dirty="0"/>
              <a:t>This is called the confusion matrix, which shows how well it locates the bones of L1 through L5.</a:t>
            </a:r>
          </a:p>
          <a:p>
            <a:r>
              <a:rPr lang="en-US" dirty="0"/>
              <a:t>All core losses sloped downward and converged stably across both the train and validation sets, and a robust model was built without overfitting.</a:t>
            </a:r>
          </a:p>
          <a:p>
            <a:endParaRPr lang="en-US" dirty="0"/>
          </a:p>
          <a:p>
            <a:r>
              <a:rPr lang="en-US" dirty="0"/>
              <a:t>Analysis of performance metrics revealed excellent convergence in both Box (location detection) and Mask (contour segmentation) metrics.</a:t>
            </a:r>
          </a:p>
          <a:p>
            <a:r>
              <a:rPr lang="en-US" dirty="0"/>
              <a:t>Combining the stable decrease in the loss graph with the upward trend of the metrics, this model has achieved high reliability in accurately detecting spinal locations and precisely segmenting the contours of bone structures.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an important point.</a:t>
            </a:r>
          </a:p>
          <a:p>
            <a:r>
              <a:rPr lang="en-US" dirty="0"/>
              <a:t>I found 39 out of 42 L4s.</a:t>
            </a:r>
          </a:p>
          <a:p>
            <a:r>
              <a:rPr lang="en-US" dirty="0"/>
              <a:t>However, only 15 matched my labels.</a:t>
            </a:r>
          </a:p>
          <a:p>
            <a:r>
              <a:rPr lang="en-US" dirty="0"/>
              <a:t>Since I am not a doctor and lack experience, it was difficult for me to draw the correct L4s by looking at the X-ray images when writing the labels.</a:t>
            </a:r>
          </a:p>
          <a:p>
            <a:r>
              <a:rPr lang="en-US" dirty="0"/>
              <a:t>I will show you the actual data.</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shows the problem visually. </a:t>
            </a:r>
            <a:endParaRPr lang="en-CA" dirty="0"/>
          </a:p>
          <a:p>
            <a:r>
              <a:rPr dirty="0"/>
              <a:t>Yellow is the true L4 </a:t>
            </a:r>
            <a:r>
              <a:rPr lang="en-CA" dirty="0"/>
              <a:t>, I marked it. </a:t>
            </a:r>
            <a:r>
              <a:rPr dirty="0"/>
              <a:t> </a:t>
            </a:r>
            <a:endParaRPr lang="en-CA" dirty="0"/>
          </a:p>
          <a:p>
            <a:r>
              <a:rPr dirty="0"/>
              <a:t>Red is the AI's L4. In the </a:t>
            </a:r>
            <a:r>
              <a:rPr lang="en-CA" dirty="0"/>
              <a:t>bad</a:t>
            </a:r>
            <a:r>
              <a:rPr dirty="0"/>
              <a:t> cases the red is one level too high. </a:t>
            </a:r>
            <a:endParaRPr lang="en-CA" dirty="0"/>
          </a:p>
          <a:p>
            <a:r>
              <a:rPr dirty="0"/>
              <a:t>The shapes are right - it is a counting / field-of-view problem, not a segmentation failure.’</a:t>
            </a:r>
            <a:endParaRPr lang="en-CA" dirty="0"/>
          </a:p>
          <a:p>
            <a:endParaRPr lang="en-US" dirty="0"/>
          </a:p>
          <a:p>
            <a:r>
              <a:rPr lang="en-US" dirty="0"/>
              <a:t>I am having difficulty naming the L4 bone.</a:t>
            </a:r>
          </a:p>
          <a:p>
            <a:r>
              <a:rPr lang="en-US" dirty="0"/>
              <a:t>It is difficult to distinguish bones in X-ray images.</a:t>
            </a:r>
          </a:p>
          <a:p>
            <a:r>
              <a:rPr lang="en-US" altLang="ko-KR" dirty="0"/>
              <a:t>From what I could see, the sacrum and L5 were indistinguishable.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These are the 39 images from which the lumbar spine was extracted.</a:t>
            </a:r>
          </a:p>
          <a:p>
            <a:r>
              <a:rPr lang="en-US" dirty="0"/>
              <a:t>and</a:t>
            </a:r>
          </a:p>
          <a:p>
            <a:r>
              <a:rPr lang="en-US" dirty="0"/>
              <a:t>These are the 3 images from which the lumbar spine was not extracted.</a:t>
            </a:r>
            <a:endParaRPr lang="en-CA" dirty="0"/>
          </a:p>
        </p:txBody>
      </p:sp>
    </p:spTree>
    <p:extLst>
      <p:ext uri="{BB962C8B-B14F-4D97-AF65-F5344CB8AC3E}">
        <p14:creationId xmlns:p14="http://schemas.microsoft.com/office/powerpoint/2010/main" val="2118097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Out of 39, these are the yellow parts I masked and the green L4 area found by AI.</a:t>
            </a:r>
          </a:p>
          <a:p>
            <a:r>
              <a:rPr lang="en-US" dirty="0"/>
              <a:t>Looking at the red area, it seems like the AI ​​found it is correct compared to what I masked.</a:t>
            </a:r>
            <a:endParaRPr lang="en-CA" dirty="0"/>
          </a:p>
        </p:txBody>
      </p:sp>
    </p:spTree>
    <p:extLst>
      <p:ext uri="{BB962C8B-B14F-4D97-AF65-F5344CB8AC3E}">
        <p14:creationId xmlns:p14="http://schemas.microsoft.com/office/powerpoint/2010/main" val="917611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'Trust matters in medicine. </a:t>
            </a:r>
            <a:endParaRPr lang="en-CA" dirty="0"/>
          </a:p>
          <a:p>
            <a:r>
              <a:rPr dirty="0"/>
              <a:t>This heatmap shows the pixels the AI used. </a:t>
            </a:r>
            <a:endParaRPr lang="en-CA" dirty="0"/>
          </a:p>
          <a:p>
            <a:r>
              <a:rPr dirty="0"/>
              <a:t>It focuses on the L4 bone itself and its trabecular pattern </a:t>
            </a:r>
            <a:r>
              <a:rPr lang="en-CA" dirty="0"/>
              <a:t>which is</a:t>
            </a:r>
            <a:r>
              <a:rPr dirty="0"/>
              <a:t> the same thing a radiologist would look at. </a:t>
            </a:r>
            <a:endParaRPr lang="en-CA" dirty="0"/>
          </a:p>
          <a:p>
            <a:r>
              <a:rPr lang="en-US" dirty="0"/>
              <a:t>Therefore, you can visually see the reasons why the labels were selected from an AI perspective.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"Next, Our Bone Density and Structure Measurement Procedure.</a:t>
            </a:r>
          </a:p>
          <a:p>
            <a:r>
              <a:rPr lang="en-CA" dirty="0"/>
              <a:t>This pipeline is currently under active research and is subject to continuous changes and updates</a:t>
            </a:r>
            <a:endParaRPr lang="en-US" dirty="0"/>
          </a:p>
          <a:p>
            <a:endParaRPr lang="en-US" dirty="0"/>
          </a:p>
          <a:p>
            <a:r>
              <a:rPr lang="en-US" dirty="0"/>
              <a:t>First, Region of Interest (ROI) Isolation: To focus purely on the microarchitecture that reflects bone loss, I remove the cortical bone and the top and bottom endplates. </a:t>
            </a:r>
          </a:p>
          <a:p>
            <a:r>
              <a:rPr lang="en-US" dirty="0"/>
              <a:t>This isolation process allows us to extract and analyze the cancellous bone exclusively.</a:t>
            </a:r>
          </a:p>
          <a:p>
            <a:endParaRPr lang="en-US" dirty="0"/>
          </a:p>
          <a:p>
            <a:r>
              <a:rPr lang="en-US" dirty="0"/>
              <a:t>Second, Feature Extraction: From this isolated cancellous region, I compute the Bone Attenuation Ratio to capture overall density. Concurrently, to deeply analyze the bone’s structural patterns, </a:t>
            </a:r>
            <a:r>
              <a:rPr lang="en-US" dirty="0" err="1"/>
              <a:t>i</a:t>
            </a:r>
            <a:r>
              <a:rPr lang="en-US" dirty="0"/>
              <a:t> extract three categories of texture features: the GLCM5 metrics for local homogeneity and complexity, the Variation Slope, and the Fractal Dimension for structural self-similarity.</a:t>
            </a:r>
          </a:p>
          <a:p>
            <a:endParaRPr lang="en-US" dirty="0"/>
          </a:p>
          <a:p>
            <a:r>
              <a:rPr lang="en-US" dirty="0"/>
              <a:t>Future Scope: Currently, this pipeline is optimized to calculate the density and texture of the L4 vertebra specifically. </a:t>
            </a:r>
          </a:p>
          <a:p>
            <a:r>
              <a:rPr lang="en-US" dirty="0"/>
              <a:t>As a next step to enhance diagnostic </a:t>
            </a:r>
            <a:r>
              <a:rPr lang="en-US" dirty="0" err="1"/>
              <a:t>robustment</a:t>
            </a:r>
            <a:r>
              <a:rPr lang="en-US" dirty="0"/>
              <a:t>, I plan to expand this scope to calculate and utilize the average bone mineral density across the L1 to L4 vertebrae.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core engine is functioning well, and the results are explainable.</a:t>
            </a:r>
          </a:p>
          <a:p>
            <a:endParaRPr lang="en-US" dirty="0"/>
          </a:p>
          <a:p>
            <a:r>
              <a:rPr lang="en-US" dirty="0"/>
              <a:t>As mentioned last time, I have difficulties with L4 labeling.</a:t>
            </a:r>
          </a:p>
          <a:p>
            <a:r>
              <a:rPr lang="en-US" dirty="0"/>
              <a:t>I have created a sample application, so you can upload an actual X-ray file to verify the labeling results.</a:t>
            </a:r>
          </a:p>
          <a:p>
            <a:r>
              <a:rPr lang="en-US" dirty="0"/>
              <a:t>If the results differ significantly from expectations, I will request labeling support.</a:t>
            </a:r>
          </a:p>
          <a:p>
            <a:endParaRPr lang="en-US" dirty="0"/>
          </a:p>
          <a:p>
            <a:r>
              <a:rPr lang="en-US" dirty="0"/>
              <a:t>In the future, I would like to improve accuracy by comparing AI results with actual DEXA data.</a:t>
            </a:r>
          </a:p>
          <a:p>
            <a:r>
              <a:rPr lang="en-US" dirty="0"/>
              <a:t>However, this is not current project stage, items 2 and 3 have been excluded from the scope of research. </a:t>
            </a:r>
          </a:p>
          <a:p>
            <a:r>
              <a:rPr lang="en-US" dirty="0"/>
              <a:t>Therefore, those items are struck through.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short,</a:t>
            </a:r>
          </a:p>
          <a:p>
            <a:endParaRPr lang="en-US" dirty="0"/>
          </a:p>
          <a:p>
            <a:r>
              <a:rPr lang="en-US" dirty="0"/>
              <a:t>You can automatically obtain explainable bone density and texture signals from routine X-ray images.</a:t>
            </a:r>
          </a:p>
          <a:p>
            <a:endParaRPr lang="en-US" dirty="0"/>
          </a:p>
          <a:p>
            <a:r>
              <a:rPr lang="en-US" dirty="0"/>
              <a:t>This method is valid,</a:t>
            </a:r>
          </a:p>
          <a:p>
            <a:endParaRPr lang="en-US" dirty="0"/>
          </a:p>
          <a:p>
            <a:r>
              <a:rPr lang="en-US" dirty="0"/>
              <a:t>although there is one missing labeling step remaining. </a:t>
            </a:r>
          </a:p>
          <a:p>
            <a:r>
              <a:rPr lang="en-US" dirty="0"/>
              <a:t>For now, I think you just need to try using the software and check the results.</a:t>
            </a:r>
          </a:p>
          <a:p>
            <a:endParaRPr lang="en-US" dirty="0"/>
          </a:p>
          <a:p>
            <a:r>
              <a:rPr lang="en-US" dirty="0"/>
              <a:t>If the results are satisfactory, I think we don't need to perform the labeling.</a:t>
            </a:r>
            <a:endParaRPr lang="en-CA"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31D23-EDC4-BB68-95BC-9C67C1AB4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D2F9F-5D79-6520-60E1-52019E0EB3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E9DB2AA-BDCB-D8D1-79C7-02D14CA6B988}"/>
              </a:ext>
            </a:extLst>
          </p:cNvPr>
          <p:cNvSpPr>
            <a:spLocks noGrp="1"/>
          </p:cNvSpPr>
          <p:nvPr>
            <p:ph type="body" sz="quarter" idx="3"/>
          </p:nvPr>
        </p:nvSpPr>
        <p:spPr/>
        <p:txBody>
          <a:bodyPr/>
          <a:lstStyle/>
          <a:p>
            <a:r>
              <a:rPr lang="en-US" dirty="0"/>
              <a:t>I’ll show you sample software</a:t>
            </a:r>
          </a:p>
          <a:p>
            <a:endParaRPr lang="en-US" dirty="0"/>
          </a:p>
          <a:p>
            <a:r>
              <a:rPr lang="en-US" dirty="0"/>
              <a:t>According to the schedule, building the infrastructure and designing and developing the software begins in September.</a:t>
            </a:r>
          </a:p>
          <a:p>
            <a:endParaRPr lang="en-US" dirty="0"/>
          </a:p>
          <a:p>
            <a:r>
              <a:rPr lang="en-US" dirty="0"/>
              <a:t>However, to make it easier for you to understand, I have created a simple version.</a:t>
            </a:r>
          </a:p>
          <a:p>
            <a:endParaRPr lang="en-US" dirty="0"/>
          </a:p>
          <a:p>
            <a:r>
              <a:rPr lang="en-US" dirty="0"/>
              <a:t>And even if I cannot answer your question properly, I will write an answer and provide feedback later.</a:t>
            </a:r>
          </a:p>
          <a:p>
            <a:endParaRPr lang="en-US" dirty="0"/>
          </a:p>
          <a:p>
            <a:r>
              <a:rPr lang="en-US" dirty="0"/>
              <a:t>Could you please wait a moment?</a:t>
            </a:r>
            <a:endParaRPr dirty="0"/>
          </a:p>
        </p:txBody>
      </p:sp>
      <p:sp>
        <p:nvSpPr>
          <p:cNvPr id="4" name="Slide Number Placeholder 3">
            <a:extLst>
              <a:ext uri="{FF2B5EF4-FFF2-40B4-BE49-F238E27FC236}">
                <a16:creationId xmlns:a16="http://schemas.microsoft.com/office/drawing/2014/main" id="{23AF6BD8-CEDA-1AD0-D263-F3F42B0ADA76}"/>
              </a:ext>
            </a:extLst>
          </p:cNvPr>
          <p:cNvSpPr>
            <a:spLocks noGrp="1"/>
          </p:cNvSpPr>
          <p:nvPr>
            <p:ph type="sldNum" sz="quarter" idx="5"/>
          </p:nvPr>
        </p:nvSpPr>
        <p:spPr/>
      </p:sp>
    </p:spTree>
    <p:extLst>
      <p:ext uri="{BB962C8B-B14F-4D97-AF65-F5344CB8AC3E}">
        <p14:creationId xmlns:p14="http://schemas.microsoft.com/office/powerpoint/2010/main" val="1735551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First, this is log in page.</a:t>
            </a:r>
          </a:p>
          <a:p>
            <a:endParaRPr lang="en-US" dirty="0"/>
          </a:p>
          <a:p>
            <a:r>
              <a:rPr lang="en-US" dirty="0"/>
              <a:t>On the left is the patient list, where you can register or delete patients.</a:t>
            </a:r>
          </a:p>
          <a:p>
            <a:r>
              <a:rPr lang="en-US" dirty="0"/>
              <a:t>The next screen is the X-ray list, where you can view the X-ray images in chronological order.</a:t>
            </a:r>
          </a:p>
          <a:p>
            <a:endParaRPr lang="en-US" dirty="0"/>
          </a:p>
          <a:p>
            <a:r>
              <a:rPr lang="en-US" dirty="0"/>
              <a:t>At the top, you can see the changes in bone density values ​​for the uploaded X-ray files in sequence.</a:t>
            </a:r>
          </a:p>
          <a:p>
            <a:endParaRPr lang="en-US" dirty="0"/>
          </a:p>
          <a:p>
            <a:r>
              <a:rPr lang="en-US" dirty="0"/>
              <a:t>Please note that the samples I have are not X-ray files from a single person, but from multiple people.</a:t>
            </a:r>
          </a:p>
          <a:p>
            <a:r>
              <a:rPr lang="en-US" dirty="0"/>
              <a:t>When looking at the registered X-ray files, the vertebrae is displayed, L4 is extracted, and the ROI is indicated.</a:t>
            </a:r>
          </a:p>
          <a:p>
            <a:r>
              <a:rPr lang="en-US" dirty="0"/>
              <a:t>This is the metadata of the X-ray file.</a:t>
            </a:r>
          </a:p>
          <a:p>
            <a:endParaRPr lang="en-US" dirty="0"/>
          </a:p>
          <a:p>
            <a:r>
              <a:rPr lang="en-US" dirty="0"/>
              <a:t>This is the part where the AI ​​looks at the density.</a:t>
            </a:r>
          </a:p>
          <a:p>
            <a:r>
              <a:rPr lang="en-US" dirty="0"/>
              <a:t>Blue indicates low-density areas, and red indicates high-density areas.</a:t>
            </a:r>
          </a:p>
          <a:p>
            <a:r>
              <a:rPr lang="en-US" dirty="0"/>
              <a:t>Air and metallic materials are excluded from the calculation.</a:t>
            </a:r>
          </a:p>
          <a:p>
            <a:r>
              <a:rPr lang="en-US" dirty="0"/>
              <a:t>Since this is not a DEXA measurement method, the values ​​may vary from patient to patient.</a:t>
            </a:r>
          </a:p>
          <a:p>
            <a:endParaRPr lang="en-US" dirty="0"/>
          </a:p>
          <a:p>
            <a:r>
              <a:rPr lang="en-US" dirty="0"/>
              <a:t>On the right, the status and values ​​based on the AI's judgment are displayed, </a:t>
            </a:r>
          </a:p>
          <a:p>
            <a:r>
              <a:rPr lang="en-US" dirty="0"/>
              <a:t>and at the bottom, the view of L4 as seen by the AI ​​is shown.</a:t>
            </a:r>
          </a:p>
          <a:p>
            <a:endParaRPr lang="en-US" dirty="0"/>
          </a:p>
          <a:p>
            <a:r>
              <a:rPr lang="en-US" dirty="0"/>
              <a:t>In case of failure, you can check the reason for the failure.</a:t>
            </a:r>
          </a:p>
          <a:p>
            <a:endParaRPr lang="en-US" dirty="0"/>
          </a:p>
          <a:p>
            <a:r>
              <a:rPr lang="en-US" dirty="0"/>
              <a:t>In addition, you can select a pre-operative X-ray image and choose an image to compare with the post-operative X-ray image.</a:t>
            </a:r>
          </a:p>
          <a:p>
            <a:endParaRPr lang="en-US" dirty="0"/>
          </a:p>
          <a:p>
            <a:r>
              <a:rPr lang="en-US" dirty="0"/>
              <a:t>I added a loss grid because I thought visual recognition might not be fast enough.</a:t>
            </a:r>
          </a:p>
          <a:p>
            <a:endParaRPr lang="en-US" dirty="0"/>
          </a:p>
          <a:p>
            <a:r>
              <a:rPr lang="en-US" dirty="0"/>
              <a:t>The red area indicates the region that was strong before surgery. In other words, the larger the red area, the weaker it becomes.</a:t>
            </a:r>
          </a:p>
          <a:p>
            <a:endParaRPr lang="en-US" dirty="0"/>
          </a:p>
          <a:p>
            <a:r>
              <a:rPr lang="en-US" dirty="0"/>
              <a:t>This is all I have prepared.</a:t>
            </a:r>
          </a:p>
          <a:p>
            <a:endParaRPr lang="en-US" dirty="0"/>
          </a:p>
          <a:p>
            <a:r>
              <a:rPr lang="en-US" dirty="0"/>
              <a:t>Thank you.</a:t>
            </a:r>
            <a:endParaRPr lang="en-CA" dirty="0"/>
          </a:p>
        </p:txBody>
      </p:sp>
    </p:spTree>
    <p:extLst>
      <p:ext uri="{BB962C8B-B14F-4D97-AF65-F5344CB8AC3E}">
        <p14:creationId xmlns:p14="http://schemas.microsoft.com/office/powerpoint/2010/main" val="937216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617720"/>
            <a:ext cx="12191695" cy="64008"/>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71600"/>
            <a:ext cx="10515600" cy="365760"/>
          </a:xfrm>
          <a:prstGeom prst="rect">
            <a:avLst/>
          </a:prstGeom>
          <a:noFill/>
        </p:spPr>
        <p:txBody>
          <a:bodyPr wrap="square" lIns="25400" tIns="25400" rIns="25400" bIns="25400" anchor="t">
            <a:spAutoFit/>
          </a:bodyPr>
          <a:lstStyle/>
          <a:p>
            <a:pPr algn="l">
              <a:lnSpc>
                <a:spcPct val="100000"/>
              </a:lnSpc>
              <a:spcAft>
                <a:spcPts val="400"/>
              </a:spcAft>
            </a:pPr>
            <a:r>
              <a:rPr sz="1400" b="1" i="0">
                <a:solidFill>
                  <a:srgbClr val="00838F"/>
                </a:solidFill>
                <a:latin typeface="Calibri"/>
              </a:rPr>
              <a:t>AUTOMATED IMAGING  ·  BONE HEALTH</a:t>
            </a:r>
          </a:p>
        </p:txBody>
      </p:sp>
      <p:sp>
        <p:nvSpPr>
          <p:cNvPr id="5" name="TextBox 4"/>
          <p:cNvSpPr txBox="1"/>
          <p:nvPr/>
        </p:nvSpPr>
        <p:spPr>
          <a:xfrm>
            <a:off x="822960" y="1828800"/>
            <a:ext cx="10607040" cy="1518364"/>
          </a:xfrm>
          <a:prstGeom prst="rect">
            <a:avLst/>
          </a:prstGeom>
          <a:noFill/>
        </p:spPr>
        <p:txBody>
          <a:bodyPr wrap="square" lIns="25400" tIns="25400" rIns="25400" bIns="25400" anchor="t">
            <a:spAutoFit/>
          </a:bodyPr>
          <a:lstStyle/>
          <a:p>
            <a:pPr algn="l">
              <a:lnSpc>
                <a:spcPct val="100000"/>
              </a:lnSpc>
              <a:spcAft>
                <a:spcPts val="400"/>
              </a:spcAft>
            </a:pPr>
            <a:r>
              <a:rPr sz="4600" b="1" i="0" dirty="0">
                <a:solidFill>
                  <a:srgbClr val="FFFFFF"/>
                </a:solidFill>
                <a:latin typeface="Calibri"/>
              </a:rPr>
              <a:t>Measuring Spinal Bone </a:t>
            </a:r>
            <a:r>
              <a:rPr lang="en-CA" sz="4600" b="1" i="0" dirty="0">
                <a:solidFill>
                  <a:srgbClr val="FFFFFF"/>
                </a:solidFill>
                <a:latin typeface="Calibri"/>
              </a:rPr>
              <a:t>Density</a:t>
            </a:r>
            <a:endParaRPr sz="4600" b="1" i="0" dirty="0">
              <a:solidFill>
                <a:srgbClr val="FFFFFF"/>
              </a:solidFill>
              <a:latin typeface="Calibri"/>
            </a:endParaRPr>
          </a:p>
          <a:p>
            <a:pPr algn="l">
              <a:lnSpc>
                <a:spcPct val="100000"/>
              </a:lnSpc>
              <a:spcAft>
                <a:spcPts val="400"/>
              </a:spcAft>
            </a:pPr>
            <a:r>
              <a:rPr sz="4600" b="1" i="0" dirty="0">
                <a:solidFill>
                  <a:srgbClr val="FFFFFF"/>
                </a:solidFill>
                <a:latin typeface="Calibri"/>
              </a:rPr>
              <a:t>from Routine Hip / Spine X-rays</a:t>
            </a:r>
          </a:p>
        </p:txBody>
      </p:sp>
      <p:sp>
        <p:nvSpPr>
          <p:cNvPr id="6" name="TextBox 5"/>
          <p:cNvSpPr txBox="1"/>
          <p:nvPr/>
        </p:nvSpPr>
        <p:spPr>
          <a:xfrm>
            <a:off x="822960" y="3611880"/>
            <a:ext cx="10058400" cy="731520"/>
          </a:xfrm>
          <a:prstGeom prst="rect">
            <a:avLst/>
          </a:prstGeom>
          <a:noFill/>
        </p:spPr>
        <p:txBody>
          <a:bodyPr wrap="square" lIns="25400" tIns="25400" rIns="25400" bIns="25400" anchor="t">
            <a:spAutoFit/>
          </a:bodyPr>
          <a:lstStyle/>
          <a:p>
            <a:pPr algn="l">
              <a:lnSpc>
                <a:spcPct val="100000"/>
              </a:lnSpc>
              <a:spcAft>
                <a:spcPts val="400"/>
              </a:spcAft>
            </a:pPr>
            <a:r>
              <a:rPr sz="1800" b="0" i="1" dirty="0">
                <a:solidFill>
                  <a:srgbClr val="C9D6E2"/>
                </a:solidFill>
                <a:latin typeface="Calibri"/>
              </a:rPr>
              <a:t>An automatic, explainable pipeline that finds the L4 vertebra and measures its bone density and texture.</a:t>
            </a:r>
          </a:p>
        </p:txBody>
      </p:sp>
      <p:sp>
        <p:nvSpPr>
          <p:cNvPr id="7" name="TextBox 6"/>
          <p:cNvSpPr txBox="1"/>
          <p:nvPr/>
        </p:nvSpPr>
        <p:spPr>
          <a:xfrm>
            <a:off x="822960" y="4892040"/>
            <a:ext cx="10058400" cy="784830"/>
          </a:xfrm>
          <a:prstGeom prst="rect">
            <a:avLst/>
          </a:prstGeom>
          <a:noFill/>
        </p:spPr>
        <p:txBody>
          <a:bodyPr wrap="square" lIns="25400" tIns="25400" rIns="25400" bIns="25400" anchor="t">
            <a:spAutoFit/>
          </a:bodyPr>
          <a:lstStyle/>
          <a:p>
            <a:pPr algn="l">
              <a:lnSpc>
                <a:spcPct val="100000"/>
              </a:lnSpc>
              <a:spcAft>
                <a:spcPts val="400"/>
              </a:spcAft>
            </a:pPr>
            <a:r>
              <a:rPr sz="1500" b="1" i="0" dirty="0">
                <a:solidFill>
                  <a:srgbClr val="FFFFFF"/>
                </a:solidFill>
                <a:latin typeface="Calibri"/>
              </a:rPr>
              <a:t>Presented by:  </a:t>
            </a:r>
            <a:r>
              <a:rPr lang="en-CA" sz="1500" b="1" i="0" dirty="0">
                <a:solidFill>
                  <a:srgbClr val="FFFFFF"/>
                </a:solidFill>
                <a:latin typeface="Calibri"/>
              </a:rPr>
              <a:t>Edward</a:t>
            </a:r>
            <a:r>
              <a:rPr lang="en-CA" sz="1500" b="1" dirty="0">
                <a:solidFill>
                  <a:srgbClr val="FFFFFF"/>
                </a:solidFill>
                <a:latin typeface="Calibri"/>
              </a:rPr>
              <a:t> Choi</a:t>
            </a:r>
            <a:r>
              <a:rPr sz="1500" b="1" i="0" dirty="0">
                <a:solidFill>
                  <a:srgbClr val="FFFFFF"/>
                </a:solidFill>
                <a:latin typeface="Calibri"/>
              </a:rPr>
              <a:t>  ·  Data Analyst</a:t>
            </a:r>
          </a:p>
          <a:p>
            <a:pPr algn="l">
              <a:lnSpc>
                <a:spcPct val="100000"/>
              </a:lnSpc>
              <a:spcAft>
                <a:spcPts val="400"/>
              </a:spcAft>
            </a:pPr>
            <a:r>
              <a:rPr sz="1300" b="0" i="0" dirty="0">
                <a:solidFill>
                  <a:srgbClr val="AEB9C6"/>
                </a:solidFill>
                <a:latin typeface="Calibri"/>
              </a:rPr>
              <a:t>Audience:  </a:t>
            </a:r>
            <a:r>
              <a:rPr lang="en-CA" sz="1300" b="0" i="0" dirty="0">
                <a:solidFill>
                  <a:srgbClr val="AEB9C6"/>
                </a:solidFill>
                <a:latin typeface="Calibri"/>
              </a:rPr>
              <a:t>Dr. Brent Lanting / </a:t>
            </a:r>
            <a:r>
              <a:rPr sz="1300" b="0" i="0" dirty="0" err="1">
                <a:solidFill>
                  <a:srgbClr val="AEB9C6"/>
                </a:solidFill>
                <a:latin typeface="Calibri"/>
              </a:rPr>
              <a:t>Orthopaedic</a:t>
            </a:r>
            <a:r>
              <a:rPr sz="1300" b="0" i="0" dirty="0">
                <a:solidFill>
                  <a:srgbClr val="AEB9C6"/>
                </a:solidFill>
                <a:latin typeface="Calibri"/>
              </a:rPr>
              <a:t> / Hip Surgery </a:t>
            </a:r>
          </a:p>
          <a:p>
            <a:pPr algn="l">
              <a:lnSpc>
                <a:spcPct val="100000"/>
              </a:lnSpc>
              <a:spcAft>
                <a:spcPts val="400"/>
              </a:spcAft>
            </a:pPr>
            <a:r>
              <a:rPr lang="en-CA" sz="1300" b="0" i="0" dirty="0">
                <a:solidFill>
                  <a:srgbClr val="AEB9C6"/>
                </a:solidFill>
                <a:latin typeface="Calibri"/>
              </a:rPr>
              <a:t>July 09, </a:t>
            </a:r>
            <a:r>
              <a:rPr sz="1300" b="0" i="0" dirty="0">
                <a:solidFill>
                  <a:srgbClr val="AEB9C6"/>
                </a:solidFill>
                <a:latin typeface="Calibri"/>
              </a:rPr>
              <a:t>2026</a:t>
            </a:r>
          </a:p>
        </p:txBody>
      </p:sp>
      <p:sp>
        <p:nvSpPr>
          <p:cNvPr id="9" name="TextBox 8">
            <a:extLst>
              <a:ext uri="{FF2B5EF4-FFF2-40B4-BE49-F238E27FC236}">
                <a16:creationId xmlns:a16="http://schemas.microsoft.com/office/drawing/2014/main" id="{1FD32CC9-14A3-CCC0-8A27-43F27AD2EFBD}"/>
              </a:ext>
            </a:extLst>
          </p:cNvPr>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solidFill>
                  <a:schemeClr val="bg1"/>
                </a:solidFill>
                <a:latin typeface="Calibri"/>
              </a:rPr>
              <a:t>1</a:t>
            </a:r>
            <a:r>
              <a:rPr lang="en-CA" sz="900" dirty="0">
                <a:solidFill>
                  <a:schemeClr val="bg1"/>
                </a:solidFill>
              </a:rPr>
              <a:t>/15</a:t>
            </a:r>
            <a:endParaRPr sz="900" b="0" i="0" dirty="0">
              <a:solidFill>
                <a:schemeClr val="bg1"/>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E03E9-108D-53AF-BAFC-D120E33D803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AA58F1-613A-4A59-0A8A-EB37A1B81189}"/>
              </a:ext>
            </a:extLst>
          </p:cNvPr>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2E84028-ED07-EDD6-D555-81DB1286C0F0}"/>
              </a:ext>
            </a:extLst>
          </p:cNvPr>
          <p:cNvSpPr txBox="1"/>
          <p:nvPr/>
        </p:nvSpPr>
        <p:spPr>
          <a:xfrm>
            <a:off x="548640" y="320040"/>
            <a:ext cx="10515600" cy="274320"/>
          </a:xfrm>
          <a:prstGeom prst="rect">
            <a:avLst/>
          </a:prstGeom>
          <a:noFill/>
        </p:spPr>
        <p:txBody>
          <a:bodyPr wrap="square" lIns="25400" tIns="25400" rIns="25400" bIns="25400" anchor="t">
            <a:spAutoFit/>
          </a:bodyPr>
          <a:lstStyle/>
          <a:p>
            <a:pPr algn="l">
              <a:lnSpc>
                <a:spcPct val="100000"/>
              </a:lnSpc>
              <a:spcAft>
                <a:spcPts val="400"/>
              </a:spcAft>
            </a:pPr>
            <a:r>
              <a:rPr sz="1200" b="1" i="0">
                <a:solidFill>
                  <a:srgbClr val="00838F"/>
                </a:solidFill>
                <a:latin typeface="Calibri"/>
              </a:rPr>
              <a:t>THE GOAL</a:t>
            </a:r>
          </a:p>
        </p:txBody>
      </p:sp>
      <p:sp>
        <p:nvSpPr>
          <p:cNvPr id="4" name="TextBox 3">
            <a:extLst>
              <a:ext uri="{FF2B5EF4-FFF2-40B4-BE49-F238E27FC236}">
                <a16:creationId xmlns:a16="http://schemas.microsoft.com/office/drawing/2014/main" id="{BEA09225-42C6-7232-30FD-346D0C5F2D97}"/>
              </a:ext>
            </a:extLst>
          </p:cNvPr>
          <p:cNvSpPr txBox="1"/>
          <p:nvPr/>
        </p:nvSpPr>
        <p:spPr>
          <a:xfrm>
            <a:off x="548640" y="566928"/>
            <a:ext cx="11064240" cy="640080"/>
          </a:xfrm>
          <a:prstGeom prst="rect">
            <a:avLst/>
          </a:prstGeom>
          <a:noFill/>
        </p:spPr>
        <p:txBody>
          <a:bodyPr wrap="square" lIns="25400" tIns="25400" rIns="25400" bIns="25400" anchor="t">
            <a:spAutoFit/>
          </a:bodyPr>
          <a:lstStyle/>
          <a:p>
            <a:pPr algn="l">
              <a:lnSpc>
                <a:spcPct val="100000"/>
              </a:lnSpc>
              <a:spcAft>
                <a:spcPts val="400"/>
              </a:spcAft>
            </a:pPr>
            <a:r>
              <a:rPr sz="2700" b="1" i="0" dirty="0">
                <a:solidFill>
                  <a:srgbClr val="1B324F"/>
                </a:solidFill>
                <a:latin typeface="Calibri"/>
              </a:rPr>
              <a:t>Why measure L4 bone from an X-ray?</a:t>
            </a:r>
          </a:p>
        </p:txBody>
      </p:sp>
      <p:sp>
        <p:nvSpPr>
          <p:cNvPr id="5" name="Rectangle 4">
            <a:extLst>
              <a:ext uri="{FF2B5EF4-FFF2-40B4-BE49-F238E27FC236}">
                <a16:creationId xmlns:a16="http://schemas.microsoft.com/office/drawing/2014/main" id="{15F7AD60-9CF5-24AE-7B89-CE0DF9ABB217}"/>
              </a:ext>
            </a:extLst>
          </p:cNvPr>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8E7DDB7-E9FE-3B96-AD7A-52F19E6085C0}"/>
              </a:ext>
            </a:extLst>
          </p:cNvPr>
          <p:cNvSpPr txBox="1"/>
          <p:nvPr/>
        </p:nvSpPr>
        <p:spPr>
          <a:xfrm>
            <a:off x="548640" y="1554480"/>
            <a:ext cx="6583680" cy="3474720"/>
          </a:xfrm>
          <a:prstGeom prst="rect">
            <a:avLst/>
          </a:prstGeom>
          <a:noFill/>
        </p:spPr>
        <p:txBody>
          <a:bodyPr wrap="square" lIns="25400" tIns="25400" rIns="25400" bIns="25400" anchor="t">
            <a:spAutoFit/>
          </a:bodyPr>
          <a:lstStyle/>
          <a:p>
            <a:pPr algn="l">
              <a:lnSpc>
                <a:spcPct val="115000"/>
              </a:lnSpc>
              <a:spcAft>
                <a:spcPts val="400"/>
              </a:spcAft>
            </a:pPr>
            <a:r>
              <a:rPr sz="1700" b="0" i="0" dirty="0">
                <a:solidFill>
                  <a:srgbClr val="222A33"/>
                </a:solidFill>
                <a:latin typeface="Calibri"/>
              </a:rPr>
              <a:t>Bone quality of the lumbar spine matters for surgical planning and follow-up.</a:t>
            </a:r>
          </a:p>
          <a:p>
            <a:pPr algn="l">
              <a:lnSpc>
                <a:spcPct val="115000"/>
              </a:lnSpc>
              <a:spcAft>
                <a:spcPts val="400"/>
              </a:spcAft>
            </a:pPr>
            <a:r>
              <a:rPr sz="1700" b="0" i="0" dirty="0">
                <a:solidFill>
                  <a:srgbClr val="222A33"/>
                </a:solidFill>
                <a:latin typeface="Calibri"/>
              </a:rPr>
              <a:t>AP hip / spine X-rays are already taken in routine care.</a:t>
            </a:r>
          </a:p>
          <a:p>
            <a:pPr algn="l">
              <a:lnSpc>
                <a:spcPct val="115000"/>
              </a:lnSpc>
              <a:spcAft>
                <a:spcPts val="400"/>
              </a:spcAft>
            </a:pPr>
            <a:r>
              <a:rPr sz="1700" b="0" i="0" dirty="0">
                <a:solidFill>
                  <a:srgbClr val="222A33"/>
                </a:solidFill>
                <a:latin typeface="Calibri"/>
              </a:rPr>
              <a:t>Goal: a fast, repeatable bone-quality number for the L4 vertebra — fully automatic.</a:t>
            </a:r>
          </a:p>
          <a:p>
            <a:pPr algn="l">
              <a:lnSpc>
                <a:spcPct val="115000"/>
              </a:lnSpc>
              <a:spcAft>
                <a:spcPts val="400"/>
              </a:spcAft>
            </a:pPr>
            <a:r>
              <a:rPr sz="1700" b="0" i="0" dirty="0">
                <a:solidFill>
                  <a:srgbClr val="222A33"/>
                </a:solidFill>
                <a:latin typeface="Calibri"/>
              </a:rPr>
              <a:t>L4 is the standard lumbar reference level for bone assessment (as in DXA).</a:t>
            </a:r>
          </a:p>
        </p:txBody>
      </p:sp>
      <p:sp>
        <p:nvSpPr>
          <p:cNvPr id="7" name="Rounded Rectangle 6">
            <a:extLst>
              <a:ext uri="{FF2B5EF4-FFF2-40B4-BE49-F238E27FC236}">
                <a16:creationId xmlns:a16="http://schemas.microsoft.com/office/drawing/2014/main" id="{974C8F84-92DF-984A-EE5E-F2F24D9AE61A}"/>
              </a:ext>
            </a:extLst>
          </p:cNvPr>
          <p:cNvSpPr/>
          <p:nvPr/>
        </p:nvSpPr>
        <p:spPr>
          <a:xfrm>
            <a:off x="7406640" y="1645920"/>
            <a:ext cx="4206240" cy="228600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F97A3CA9-5E4C-400B-F045-0D829D48D980}"/>
              </a:ext>
            </a:extLst>
          </p:cNvPr>
          <p:cNvSpPr txBox="1"/>
          <p:nvPr/>
        </p:nvSpPr>
        <p:spPr>
          <a:xfrm>
            <a:off x="7635240" y="1828800"/>
            <a:ext cx="3749039" cy="2011680"/>
          </a:xfrm>
          <a:prstGeom prst="rect">
            <a:avLst/>
          </a:prstGeom>
          <a:noFill/>
        </p:spPr>
        <p:txBody>
          <a:bodyPr wrap="square" lIns="25400" tIns="25400" rIns="25400" bIns="25400" anchor="t">
            <a:spAutoFit/>
          </a:bodyPr>
          <a:lstStyle/>
          <a:p>
            <a:pPr algn="l">
              <a:lnSpc>
                <a:spcPct val="100000"/>
              </a:lnSpc>
              <a:spcAft>
                <a:spcPts val="400"/>
              </a:spcAft>
            </a:pPr>
            <a:r>
              <a:rPr sz="1200" b="1" i="0" dirty="0">
                <a:solidFill>
                  <a:srgbClr val="B26A00"/>
                </a:solidFill>
                <a:latin typeface="Calibri"/>
              </a:rPr>
              <a:t>IMPORTANT CAVEAT</a:t>
            </a:r>
          </a:p>
          <a:p>
            <a:pPr algn="l">
              <a:lnSpc>
                <a:spcPct val="100000"/>
              </a:lnSpc>
              <a:spcAft>
                <a:spcPts val="400"/>
              </a:spcAft>
            </a:pPr>
            <a:r>
              <a:rPr sz="1500" b="0" i="1" dirty="0">
                <a:solidFill>
                  <a:srgbClr val="222A33"/>
                </a:solidFill>
                <a:latin typeface="Calibri"/>
              </a:rPr>
              <a:t>This is a relative, X-ray-based proxy of bone density — not a calibrated DXA result (g/cm²).</a:t>
            </a:r>
          </a:p>
          <a:p>
            <a:pPr algn="l">
              <a:lnSpc>
                <a:spcPct val="100000"/>
              </a:lnSpc>
              <a:spcAft>
                <a:spcPts val="400"/>
              </a:spcAft>
            </a:pPr>
            <a:r>
              <a:rPr sz="1300" b="0" i="1" dirty="0">
                <a:solidFill>
                  <a:srgbClr val="5A646E"/>
                </a:solidFill>
                <a:latin typeface="Calibri"/>
              </a:rPr>
              <a:t>It is for method demonstration. True BMD needs DXA / QCT or an in-image calibration phantom.</a:t>
            </a:r>
          </a:p>
        </p:txBody>
      </p:sp>
      <p:sp>
        <p:nvSpPr>
          <p:cNvPr id="9" name="Rounded Rectangle 8">
            <a:extLst>
              <a:ext uri="{FF2B5EF4-FFF2-40B4-BE49-F238E27FC236}">
                <a16:creationId xmlns:a16="http://schemas.microsoft.com/office/drawing/2014/main" id="{3829F5A7-979D-1401-54A3-6BC694F59EC3}"/>
              </a:ext>
            </a:extLst>
          </p:cNvPr>
          <p:cNvSpPr/>
          <p:nvPr/>
        </p:nvSpPr>
        <p:spPr>
          <a:xfrm>
            <a:off x="7406640" y="4114800"/>
            <a:ext cx="4206240" cy="1463040"/>
          </a:xfrm>
          <a:prstGeom prst="roundRect">
            <a:avLst>
              <a:gd name="adj" fmla="val 4000"/>
            </a:avLst>
          </a:prstGeom>
          <a:solidFill>
            <a:srgbClr val="E4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61F16163-177B-3871-E03E-C7D1CEBF0794}"/>
              </a:ext>
            </a:extLst>
          </p:cNvPr>
          <p:cNvSpPr txBox="1"/>
          <p:nvPr/>
        </p:nvSpPr>
        <p:spPr>
          <a:xfrm>
            <a:off x="7635240" y="4251960"/>
            <a:ext cx="3749039" cy="1280160"/>
          </a:xfrm>
          <a:prstGeom prst="rect">
            <a:avLst/>
          </a:prstGeom>
          <a:noFill/>
        </p:spPr>
        <p:txBody>
          <a:bodyPr wrap="square" lIns="25400" tIns="25400" rIns="25400" bIns="25400" anchor="t">
            <a:spAutoFit/>
          </a:bodyPr>
          <a:lstStyle/>
          <a:p>
            <a:pPr algn="l">
              <a:lnSpc>
                <a:spcPct val="100000"/>
              </a:lnSpc>
              <a:spcAft>
                <a:spcPts val="400"/>
              </a:spcAft>
            </a:pPr>
            <a:r>
              <a:rPr sz="1200" b="1" i="0" dirty="0">
                <a:solidFill>
                  <a:srgbClr val="00838F"/>
                </a:solidFill>
                <a:latin typeface="Calibri"/>
              </a:rPr>
              <a:t>WHAT WE MEASURE ON L4</a:t>
            </a:r>
          </a:p>
          <a:p>
            <a:pPr algn="l">
              <a:lnSpc>
                <a:spcPct val="100000"/>
              </a:lnSpc>
              <a:spcAft>
                <a:spcPts val="400"/>
              </a:spcAft>
            </a:pPr>
            <a:r>
              <a:rPr sz="1400" b="0" i="0" dirty="0">
                <a:solidFill>
                  <a:srgbClr val="222A33"/>
                </a:solidFill>
                <a:latin typeface="Calibri"/>
              </a:rPr>
              <a:t>1)  Bone density proxy  (image brightness)</a:t>
            </a:r>
          </a:p>
          <a:p>
            <a:pPr algn="l">
              <a:lnSpc>
                <a:spcPct val="100000"/>
              </a:lnSpc>
              <a:spcAft>
                <a:spcPts val="400"/>
              </a:spcAft>
            </a:pPr>
            <a:r>
              <a:rPr sz="1400" b="0" i="0" dirty="0">
                <a:solidFill>
                  <a:srgbClr val="222A33"/>
                </a:solidFill>
                <a:latin typeface="Calibri"/>
              </a:rPr>
              <a:t>2)  Bone texture  (trabecular pattern, GLCM)</a:t>
            </a:r>
          </a:p>
        </p:txBody>
      </p:sp>
      <p:sp>
        <p:nvSpPr>
          <p:cNvPr id="11" name="TextBox 10">
            <a:extLst>
              <a:ext uri="{FF2B5EF4-FFF2-40B4-BE49-F238E27FC236}">
                <a16:creationId xmlns:a16="http://schemas.microsoft.com/office/drawing/2014/main" id="{B8E546BB-9AE4-D2C7-EB95-156F03834708}"/>
              </a:ext>
            </a:extLst>
          </p:cNvPr>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12" name="TextBox 11">
            <a:extLst>
              <a:ext uri="{FF2B5EF4-FFF2-40B4-BE49-F238E27FC236}">
                <a16:creationId xmlns:a16="http://schemas.microsoft.com/office/drawing/2014/main" id="{38EA2694-3E0C-B490-E9E8-F62540CB4E38}"/>
              </a:ext>
            </a:extLst>
          </p:cNvPr>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dirty="0"/>
              <a:t>2/15</a:t>
            </a:r>
            <a:endParaRPr sz="900" b="0" i="0" dirty="0">
              <a:solidFill>
                <a:srgbClr val="5A646E"/>
              </a:solidFill>
              <a:latin typeface="Calibri"/>
            </a:endParaRPr>
          </a:p>
        </p:txBody>
      </p:sp>
    </p:spTree>
    <p:extLst>
      <p:ext uri="{BB962C8B-B14F-4D97-AF65-F5344CB8AC3E}">
        <p14:creationId xmlns:p14="http://schemas.microsoft.com/office/powerpoint/2010/main" val="3986346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515600" cy="274320"/>
          </a:xfrm>
          <a:prstGeom prst="rect">
            <a:avLst/>
          </a:prstGeom>
          <a:noFill/>
        </p:spPr>
        <p:txBody>
          <a:bodyPr wrap="square" lIns="25400" tIns="25400" rIns="25400" bIns="25400" anchor="t">
            <a:spAutoFit/>
          </a:bodyPr>
          <a:lstStyle/>
          <a:p>
            <a:pPr algn="l">
              <a:lnSpc>
                <a:spcPct val="100000"/>
              </a:lnSpc>
              <a:spcAft>
                <a:spcPts val="400"/>
              </a:spcAft>
            </a:pPr>
            <a:r>
              <a:rPr sz="1200" b="1" i="0">
                <a:solidFill>
                  <a:srgbClr val="00838F"/>
                </a:solidFill>
                <a:latin typeface="Calibri"/>
              </a:rPr>
              <a:t>OVERVIEW</a:t>
            </a:r>
          </a:p>
        </p:txBody>
      </p:sp>
      <p:sp>
        <p:nvSpPr>
          <p:cNvPr id="4" name="TextBox 3"/>
          <p:cNvSpPr txBox="1"/>
          <p:nvPr/>
        </p:nvSpPr>
        <p:spPr>
          <a:xfrm>
            <a:off x="548640" y="566928"/>
            <a:ext cx="11064240" cy="640080"/>
          </a:xfrm>
          <a:prstGeom prst="rect">
            <a:avLst/>
          </a:prstGeom>
          <a:noFill/>
        </p:spPr>
        <p:txBody>
          <a:bodyPr wrap="square" lIns="25400" tIns="25400" rIns="25400" bIns="25400" anchor="t">
            <a:spAutoFit/>
          </a:bodyPr>
          <a:lstStyle/>
          <a:p>
            <a:pPr algn="l">
              <a:lnSpc>
                <a:spcPct val="100000"/>
              </a:lnSpc>
              <a:spcAft>
                <a:spcPts val="400"/>
              </a:spcAft>
            </a:pPr>
            <a:r>
              <a:rPr sz="2700" b="1" i="0" dirty="0">
                <a:solidFill>
                  <a:srgbClr val="1B324F"/>
                </a:solidFill>
                <a:latin typeface="Calibri"/>
              </a:rPr>
              <a:t>The pipeline in four steps</a:t>
            </a:r>
          </a:p>
        </p:txBody>
      </p:sp>
      <p:sp>
        <p:nvSpPr>
          <p:cNvPr id="5" name="Rectangle 4"/>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194560"/>
            <a:ext cx="2514600" cy="219456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508760" y="2423160"/>
            <a:ext cx="594360" cy="594360"/>
          </a:xfrm>
          <a:prstGeom prst="ellipse">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1</a:t>
            </a:r>
          </a:p>
        </p:txBody>
      </p:sp>
      <p:sp>
        <p:nvSpPr>
          <p:cNvPr id="8" name="TextBox 7"/>
          <p:cNvSpPr txBox="1"/>
          <p:nvPr/>
        </p:nvSpPr>
        <p:spPr>
          <a:xfrm>
            <a:off x="685800" y="3154680"/>
            <a:ext cx="2240280" cy="457200"/>
          </a:xfrm>
          <a:prstGeom prst="rect">
            <a:avLst/>
          </a:prstGeom>
          <a:noFill/>
        </p:spPr>
        <p:txBody>
          <a:bodyPr wrap="square" lIns="25400" tIns="25400" rIns="25400" bIns="25400" anchor="t">
            <a:spAutoFit/>
          </a:bodyPr>
          <a:lstStyle/>
          <a:p>
            <a:pPr algn="ctr">
              <a:lnSpc>
                <a:spcPct val="100000"/>
              </a:lnSpc>
              <a:spcAft>
                <a:spcPts val="400"/>
              </a:spcAft>
            </a:pPr>
            <a:r>
              <a:rPr sz="1600" b="1" i="0" dirty="0">
                <a:solidFill>
                  <a:srgbClr val="1B324F"/>
                </a:solidFill>
                <a:latin typeface="Calibri"/>
              </a:rPr>
              <a:t>Input X-ray</a:t>
            </a:r>
          </a:p>
        </p:txBody>
      </p:sp>
      <p:sp>
        <p:nvSpPr>
          <p:cNvPr id="9" name="TextBox 8"/>
          <p:cNvSpPr txBox="1"/>
          <p:nvPr/>
        </p:nvSpPr>
        <p:spPr>
          <a:xfrm>
            <a:off x="685800" y="3566160"/>
            <a:ext cx="2240280" cy="487313"/>
          </a:xfrm>
          <a:prstGeom prst="rect">
            <a:avLst/>
          </a:prstGeom>
          <a:noFill/>
        </p:spPr>
        <p:txBody>
          <a:bodyPr wrap="square" lIns="25400" tIns="25400" rIns="25400" bIns="25400" anchor="t">
            <a:spAutoFit/>
          </a:bodyPr>
          <a:lstStyle/>
          <a:p>
            <a:pPr algn="ctr">
              <a:lnSpc>
                <a:spcPct val="100000"/>
              </a:lnSpc>
              <a:spcAft>
                <a:spcPts val="400"/>
              </a:spcAft>
            </a:pPr>
            <a:r>
              <a:rPr sz="1250" b="0" i="0" dirty="0">
                <a:solidFill>
                  <a:srgbClr val="5A646E"/>
                </a:solidFill>
                <a:latin typeface="Calibri"/>
              </a:rPr>
              <a:t>Routine spine /
hip radiograph</a:t>
            </a:r>
          </a:p>
        </p:txBody>
      </p:sp>
      <p:sp>
        <p:nvSpPr>
          <p:cNvPr id="10" name="Right Arrow 9"/>
          <p:cNvSpPr/>
          <p:nvPr/>
        </p:nvSpPr>
        <p:spPr>
          <a:xfrm>
            <a:off x="3081528" y="3063240"/>
            <a:ext cx="292608" cy="457200"/>
          </a:xfrm>
          <a:prstGeom prst="rightArrow">
            <a:avLst/>
          </a:prstGeom>
          <a:solidFill>
            <a:srgbClr val="B8C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392424" y="2194560"/>
            <a:ext cx="2514600" cy="219456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352544" y="2423160"/>
            <a:ext cx="594360" cy="594360"/>
          </a:xfrm>
          <a:prstGeom prst="ellipse">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2</a:t>
            </a:r>
          </a:p>
        </p:txBody>
      </p:sp>
      <p:sp>
        <p:nvSpPr>
          <p:cNvPr id="13" name="TextBox 12"/>
          <p:cNvSpPr txBox="1"/>
          <p:nvPr/>
        </p:nvSpPr>
        <p:spPr>
          <a:xfrm>
            <a:off x="3529584" y="3154680"/>
            <a:ext cx="2240280" cy="457200"/>
          </a:xfrm>
          <a:prstGeom prst="rect">
            <a:avLst/>
          </a:prstGeom>
          <a:noFill/>
        </p:spPr>
        <p:txBody>
          <a:bodyPr wrap="square" lIns="25400" tIns="25400" rIns="25400" bIns="25400" anchor="t">
            <a:spAutoFit/>
          </a:bodyPr>
          <a:lstStyle/>
          <a:p>
            <a:pPr algn="ctr">
              <a:lnSpc>
                <a:spcPct val="100000"/>
              </a:lnSpc>
              <a:spcAft>
                <a:spcPts val="400"/>
              </a:spcAft>
            </a:pPr>
            <a:r>
              <a:rPr sz="1600" b="1" i="0">
                <a:solidFill>
                  <a:srgbClr val="1B324F"/>
                </a:solidFill>
                <a:latin typeface="Calibri"/>
              </a:rPr>
              <a:t>Find L4</a:t>
            </a:r>
          </a:p>
        </p:txBody>
      </p:sp>
      <p:sp>
        <p:nvSpPr>
          <p:cNvPr id="14" name="TextBox 13"/>
          <p:cNvSpPr txBox="1"/>
          <p:nvPr/>
        </p:nvSpPr>
        <p:spPr>
          <a:xfrm>
            <a:off x="3529584" y="3566160"/>
            <a:ext cx="2240280" cy="731520"/>
          </a:xfrm>
          <a:prstGeom prst="rect">
            <a:avLst/>
          </a:prstGeom>
          <a:noFill/>
        </p:spPr>
        <p:txBody>
          <a:bodyPr wrap="square" lIns="25400" tIns="25400" rIns="25400" bIns="25400" anchor="t">
            <a:spAutoFit/>
          </a:bodyPr>
          <a:lstStyle/>
          <a:p>
            <a:pPr algn="ctr">
              <a:lnSpc>
                <a:spcPct val="100000"/>
              </a:lnSpc>
              <a:spcAft>
                <a:spcPts val="400"/>
              </a:spcAft>
            </a:pPr>
            <a:r>
              <a:rPr sz="1250" b="0" i="0" dirty="0">
                <a:solidFill>
                  <a:srgbClr val="5A646E"/>
                </a:solidFill>
                <a:latin typeface="Calibri"/>
              </a:rPr>
              <a:t>AI outlines vertebrae
L1-L5 and selects L4</a:t>
            </a:r>
          </a:p>
        </p:txBody>
      </p:sp>
      <p:sp>
        <p:nvSpPr>
          <p:cNvPr id="15" name="Right Arrow 14"/>
          <p:cNvSpPr/>
          <p:nvPr/>
        </p:nvSpPr>
        <p:spPr>
          <a:xfrm>
            <a:off x="5925312" y="3063240"/>
            <a:ext cx="292608" cy="457200"/>
          </a:xfrm>
          <a:prstGeom prst="rightArrow">
            <a:avLst/>
          </a:prstGeom>
          <a:solidFill>
            <a:srgbClr val="B8C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36208" y="2194560"/>
            <a:ext cx="2514600" cy="219456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196328" y="2423160"/>
            <a:ext cx="594360" cy="594360"/>
          </a:xfrm>
          <a:prstGeom prst="ellipse">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3</a:t>
            </a:r>
          </a:p>
        </p:txBody>
      </p:sp>
      <p:sp>
        <p:nvSpPr>
          <p:cNvPr id="18" name="TextBox 17"/>
          <p:cNvSpPr txBox="1"/>
          <p:nvPr/>
        </p:nvSpPr>
        <p:spPr>
          <a:xfrm>
            <a:off x="6373368" y="3154680"/>
            <a:ext cx="2240280" cy="457200"/>
          </a:xfrm>
          <a:prstGeom prst="rect">
            <a:avLst/>
          </a:prstGeom>
          <a:noFill/>
        </p:spPr>
        <p:txBody>
          <a:bodyPr wrap="square" lIns="25400" tIns="25400" rIns="25400" bIns="25400" anchor="t">
            <a:spAutoFit/>
          </a:bodyPr>
          <a:lstStyle/>
          <a:p>
            <a:pPr algn="ctr">
              <a:lnSpc>
                <a:spcPct val="100000"/>
              </a:lnSpc>
              <a:spcAft>
                <a:spcPts val="400"/>
              </a:spcAft>
            </a:pPr>
            <a:r>
              <a:rPr sz="1600" b="1" i="0">
                <a:solidFill>
                  <a:srgbClr val="1B324F"/>
                </a:solidFill>
                <a:latin typeface="Calibri"/>
              </a:rPr>
              <a:t>Measure</a:t>
            </a:r>
          </a:p>
        </p:txBody>
      </p:sp>
      <p:sp>
        <p:nvSpPr>
          <p:cNvPr id="19" name="TextBox 18"/>
          <p:cNvSpPr txBox="1"/>
          <p:nvPr/>
        </p:nvSpPr>
        <p:spPr>
          <a:xfrm>
            <a:off x="6373368" y="3566160"/>
            <a:ext cx="2240280" cy="731520"/>
          </a:xfrm>
          <a:prstGeom prst="rect">
            <a:avLst/>
          </a:prstGeom>
          <a:noFill/>
        </p:spPr>
        <p:txBody>
          <a:bodyPr wrap="square" lIns="25400" tIns="25400" rIns="25400" bIns="25400" anchor="t">
            <a:spAutoFit/>
          </a:bodyPr>
          <a:lstStyle/>
          <a:p>
            <a:pPr algn="ctr">
              <a:lnSpc>
                <a:spcPct val="100000"/>
              </a:lnSpc>
              <a:spcAft>
                <a:spcPts val="400"/>
              </a:spcAft>
            </a:pPr>
            <a:r>
              <a:rPr sz="1250" b="0" i="0" dirty="0">
                <a:solidFill>
                  <a:srgbClr val="5A646E"/>
                </a:solidFill>
                <a:latin typeface="Calibri"/>
              </a:rPr>
              <a:t>Density proxy +
bone texture on L4</a:t>
            </a:r>
          </a:p>
        </p:txBody>
      </p:sp>
      <p:sp>
        <p:nvSpPr>
          <p:cNvPr id="20" name="Right Arrow 19"/>
          <p:cNvSpPr/>
          <p:nvPr/>
        </p:nvSpPr>
        <p:spPr>
          <a:xfrm>
            <a:off x="8769096" y="3063240"/>
            <a:ext cx="292608" cy="457200"/>
          </a:xfrm>
          <a:prstGeom prst="rightArrow">
            <a:avLst/>
          </a:prstGeom>
          <a:solidFill>
            <a:srgbClr val="B8C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79992" y="2194560"/>
            <a:ext cx="2514600" cy="219456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40112" y="2423160"/>
            <a:ext cx="594360" cy="594360"/>
          </a:xfrm>
          <a:prstGeom prst="ellipse">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4</a:t>
            </a:r>
          </a:p>
        </p:txBody>
      </p:sp>
      <p:sp>
        <p:nvSpPr>
          <p:cNvPr id="23" name="TextBox 22"/>
          <p:cNvSpPr txBox="1"/>
          <p:nvPr/>
        </p:nvSpPr>
        <p:spPr>
          <a:xfrm>
            <a:off x="9217152" y="3154680"/>
            <a:ext cx="2240280" cy="457200"/>
          </a:xfrm>
          <a:prstGeom prst="rect">
            <a:avLst/>
          </a:prstGeom>
          <a:noFill/>
        </p:spPr>
        <p:txBody>
          <a:bodyPr wrap="square" lIns="25400" tIns="25400" rIns="25400" bIns="25400" anchor="t">
            <a:spAutoFit/>
          </a:bodyPr>
          <a:lstStyle/>
          <a:p>
            <a:pPr algn="ctr">
              <a:lnSpc>
                <a:spcPct val="100000"/>
              </a:lnSpc>
              <a:spcAft>
                <a:spcPts val="400"/>
              </a:spcAft>
            </a:pPr>
            <a:r>
              <a:rPr sz="1600" b="1" i="0">
                <a:solidFill>
                  <a:srgbClr val="1B324F"/>
                </a:solidFill>
                <a:latin typeface="Calibri"/>
              </a:rPr>
              <a:t>Report + Explain</a:t>
            </a:r>
          </a:p>
        </p:txBody>
      </p:sp>
      <p:sp>
        <p:nvSpPr>
          <p:cNvPr id="24" name="TextBox 23"/>
          <p:cNvSpPr txBox="1"/>
          <p:nvPr/>
        </p:nvSpPr>
        <p:spPr>
          <a:xfrm>
            <a:off x="9217152" y="3566160"/>
            <a:ext cx="2240280" cy="731520"/>
          </a:xfrm>
          <a:prstGeom prst="rect">
            <a:avLst/>
          </a:prstGeom>
          <a:noFill/>
        </p:spPr>
        <p:txBody>
          <a:bodyPr wrap="square" lIns="25400" tIns="25400" rIns="25400" bIns="25400" anchor="t">
            <a:spAutoFit/>
          </a:bodyPr>
          <a:lstStyle/>
          <a:p>
            <a:pPr algn="ctr">
              <a:lnSpc>
                <a:spcPct val="100000"/>
              </a:lnSpc>
              <a:spcAft>
                <a:spcPts val="400"/>
              </a:spcAft>
            </a:pPr>
            <a:r>
              <a:rPr sz="1250" b="0" i="0" dirty="0">
                <a:solidFill>
                  <a:srgbClr val="5A646E"/>
                </a:solidFill>
                <a:latin typeface="Calibri"/>
              </a:rPr>
              <a:t>Numbers + heatmaps
showing the 'why'</a:t>
            </a:r>
          </a:p>
        </p:txBody>
      </p:sp>
      <p:sp>
        <p:nvSpPr>
          <p:cNvPr id="25" name="TextBox 24"/>
          <p:cNvSpPr txBox="1"/>
          <p:nvPr/>
        </p:nvSpPr>
        <p:spPr>
          <a:xfrm>
            <a:off x="548640" y="4754880"/>
            <a:ext cx="10972800" cy="266740"/>
          </a:xfrm>
          <a:prstGeom prst="rect">
            <a:avLst/>
          </a:prstGeom>
          <a:noFill/>
        </p:spPr>
        <p:txBody>
          <a:bodyPr wrap="square" lIns="25400" tIns="25400" rIns="25400" bIns="25400" anchor="t">
            <a:spAutoFit/>
          </a:bodyPr>
          <a:lstStyle/>
          <a:p>
            <a:pPr algn="l">
              <a:lnSpc>
                <a:spcPct val="100000"/>
              </a:lnSpc>
              <a:spcAft>
                <a:spcPts val="400"/>
              </a:spcAft>
            </a:pPr>
            <a:r>
              <a:rPr sz="1400" b="0" i="1" dirty="0">
                <a:solidFill>
                  <a:srgbClr val="5A646E"/>
                </a:solidFill>
                <a:latin typeface="Calibri"/>
              </a:rPr>
              <a:t>Built on a</a:t>
            </a:r>
            <a:r>
              <a:rPr lang="en-CA" sz="1400" b="0" i="1" dirty="0">
                <a:solidFill>
                  <a:srgbClr val="5A646E"/>
                </a:solidFill>
                <a:latin typeface="Calibri"/>
              </a:rPr>
              <a:t>n</a:t>
            </a:r>
            <a:r>
              <a:rPr sz="1400" b="0" i="1" dirty="0">
                <a:solidFill>
                  <a:srgbClr val="5A646E"/>
                </a:solidFill>
                <a:latin typeface="Calibri"/>
              </a:rPr>
              <a:t> AI detector (</a:t>
            </a:r>
            <a:r>
              <a:rPr sz="1400" b="0" i="1" dirty="0" err="1">
                <a:solidFill>
                  <a:srgbClr val="5A646E"/>
                </a:solidFill>
                <a:latin typeface="Calibri"/>
              </a:rPr>
              <a:t>YOLOv</a:t>
            </a:r>
            <a:r>
              <a:rPr lang="en-CA" sz="1400" b="0" i="1" dirty="0">
                <a:solidFill>
                  <a:srgbClr val="5A646E"/>
                </a:solidFill>
                <a:latin typeface="Calibri"/>
              </a:rPr>
              <a:t>26</a:t>
            </a:r>
            <a:r>
              <a:rPr sz="1400" b="0" i="1" dirty="0">
                <a:solidFill>
                  <a:srgbClr val="5A646E"/>
                </a:solidFill>
                <a:latin typeface="Calibri"/>
              </a:rPr>
              <a:t>) trained on </a:t>
            </a:r>
            <a:r>
              <a:rPr lang="en-CA" sz="1400" b="0" i="1" dirty="0">
                <a:solidFill>
                  <a:srgbClr val="5A646E"/>
                </a:solidFill>
                <a:latin typeface="Calibri"/>
              </a:rPr>
              <a:t>4</a:t>
            </a:r>
            <a:r>
              <a:rPr sz="1400" b="0" i="1" dirty="0">
                <a:solidFill>
                  <a:srgbClr val="5A646E"/>
                </a:solidFill>
                <a:latin typeface="Calibri"/>
              </a:rPr>
              <a:t>,000 public spine X-rays; the measurement and explanation code is independent of the detector.</a:t>
            </a:r>
          </a:p>
        </p:txBody>
      </p:sp>
      <p:sp>
        <p:nvSpPr>
          <p:cNvPr id="26" name="TextBox 25"/>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27" name="TextBox 26"/>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solidFill>
                  <a:srgbClr val="5A646E"/>
                </a:solidFill>
                <a:latin typeface="Calibri"/>
              </a:rPr>
              <a:t>3</a:t>
            </a:r>
            <a:r>
              <a:rPr lang="en-CA" sz="900" dirty="0"/>
              <a:t>/15</a:t>
            </a:r>
            <a:endParaRPr sz="900" b="0" i="0" dirty="0">
              <a:solidFill>
                <a:srgbClr val="5A646E"/>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515600" cy="274320"/>
          </a:xfrm>
          <a:prstGeom prst="rect">
            <a:avLst/>
          </a:prstGeom>
          <a:noFill/>
        </p:spPr>
        <p:txBody>
          <a:bodyPr wrap="square" lIns="25400" tIns="25400" rIns="25400" bIns="25400" anchor="t">
            <a:spAutoFit/>
          </a:bodyPr>
          <a:lstStyle/>
          <a:p>
            <a:pPr algn="l">
              <a:lnSpc>
                <a:spcPct val="100000"/>
              </a:lnSpc>
              <a:spcAft>
                <a:spcPts val="400"/>
              </a:spcAft>
            </a:pPr>
            <a:r>
              <a:rPr sz="1200" b="1" i="0">
                <a:solidFill>
                  <a:srgbClr val="00838F"/>
                </a:solidFill>
                <a:latin typeface="Calibri"/>
              </a:rPr>
              <a:t>THE GOAL</a:t>
            </a:r>
          </a:p>
        </p:txBody>
      </p:sp>
      <p:sp>
        <p:nvSpPr>
          <p:cNvPr id="4" name="TextBox 3"/>
          <p:cNvSpPr txBox="1"/>
          <p:nvPr/>
        </p:nvSpPr>
        <p:spPr>
          <a:xfrm>
            <a:off x="548640" y="566928"/>
            <a:ext cx="11064240" cy="466794"/>
          </a:xfrm>
          <a:prstGeom prst="rect">
            <a:avLst/>
          </a:prstGeom>
          <a:noFill/>
        </p:spPr>
        <p:txBody>
          <a:bodyPr wrap="square" lIns="25400" tIns="25400" rIns="25400" bIns="25400" anchor="t">
            <a:spAutoFit/>
          </a:bodyPr>
          <a:lstStyle/>
          <a:p>
            <a:pPr algn="l">
              <a:lnSpc>
                <a:spcPct val="100000"/>
              </a:lnSpc>
              <a:spcAft>
                <a:spcPts val="400"/>
              </a:spcAft>
            </a:pPr>
            <a:r>
              <a:rPr lang="en-CA" sz="2700" b="1" i="0" dirty="0">
                <a:solidFill>
                  <a:srgbClr val="1B324F"/>
                </a:solidFill>
                <a:latin typeface="Calibri"/>
              </a:rPr>
              <a:t>AI in osteoporosis diagnosis 1</a:t>
            </a:r>
            <a:endParaRPr sz="2700" b="1" i="0" dirty="0">
              <a:solidFill>
                <a:srgbClr val="1B324F"/>
              </a:solidFill>
              <a:latin typeface="Calibri"/>
            </a:endParaRPr>
          </a:p>
        </p:txBody>
      </p:sp>
      <p:sp>
        <p:nvSpPr>
          <p:cNvPr id="5" name="Rectangle 4"/>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12" name="TextBox 11"/>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solidFill>
                  <a:srgbClr val="5A646E"/>
                </a:solidFill>
                <a:latin typeface="Calibri"/>
              </a:rPr>
              <a:t>4</a:t>
            </a:r>
            <a:r>
              <a:rPr lang="en-CA" sz="900" dirty="0"/>
              <a:t>/15</a:t>
            </a:r>
            <a:endParaRPr sz="900" b="0" i="0" dirty="0">
              <a:solidFill>
                <a:srgbClr val="5A646E"/>
              </a:solidFill>
              <a:latin typeface="Calibri"/>
            </a:endParaRPr>
          </a:p>
        </p:txBody>
      </p:sp>
      <p:sp>
        <p:nvSpPr>
          <p:cNvPr id="14" name="Rounded Rectangle 5">
            <a:extLst>
              <a:ext uri="{FF2B5EF4-FFF2-40B4-BE49-F238E27FC236}">
                <a16:creationId xmlns:a16="http://schemas.microsoft.com/office/drawing/2014/main" id="{250F5F2C-0B80-3789-164D-CEBC4AD492E6}"/>
              </a:ext>
            </a:extLst>
          </p:cNvPr>
          <p:cNvSpPr/>
          <p:nvPr/>
        </p:nvSpPr>
        <p:spPr>
          <a:xfrm>
            <a:off x="2124737" y="1724953"/>
            <a:ext cx="2262799" cy="560127"/>
          </a:xfrm>
          <a:prstGeom prst="roundRect">
            <a:avLst>
              <a:gd name="adj" fmla="val 4000"/>
            </a:avLst>
          </a:prstGeom>
          <a:solidFill>
            <a:srgbClr val="E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Imaging modalities</a:t>
            </a:r>
            <a:endParaRPr dirty="0">
              <a:solidFill>
                <a:schemeClr val="tx1"/>
              </a:solidFill>
            </a:endParaRPr>
          </a:p>
        </p:txBody>
      </p:sp>
      <p:sp>
        <p:nvSpPr>
          <p:cNvPr id="16" name="Rounded Rectangle 5">
            <a:extLst>
              <a:ext uri="{FF2B5EF4-FFF2-40B4-BE49-F238E27FC236}">
                <a16:creationId xmlns:a16="http://schemas.microsoft.com/office/drawing/2014/main" id="{590A005A-4F72-CD2E-BB75-E0CF30354052}"/>
              </a:ext>
            </a:extLst>
          </p:cNvPr>
          <p:cNvSpPr/>
          <p:nvPr/>
        </p:nvSpPr>
        <p:spPr>
          <a:xfrm>
            <a:off x="8592994" y="1724953"/>
            <a:ext cx="2262799" cy="560127"/>
          </a:xfrm>
          <a:prstGeom prst="roundRect">
            <a:avLst>
              <a:gd name="adj" fmla="val 4000"/>
            </a:avLst>
          </a:prstGeom>
          <a:solidFill>
            <a:srgbClr val="E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Clinical tasks</a:t>
            </a:r>
            <a:endParaRPr dirty="0">
              <a:solidFill>
                <a:schemeClr val="tx1"/>
              </a:solidFill>
            </a:endParaRPr>
          </a:p>
        </p:txBody>
      </p:sp>
      <p:sp>
        <p:nvSpPr>
          <p:cNvPr id="20" name="Rounded Rectangle 8">
            <a:extLst>
              <a:ext uri="{FF2B5EF4-FFF2-40B4-BE49-F238E27FC236}">
                <a16:creationId xmlns:a16="http://schemas.microsoft.com/office/drawing/2014/main" id="{F3374B13-F9B9-1B53-C7BC-2172F726600B}"/>
              </a:ext>
            </a:extLst>
          </p:cNvPr>
          <p:cNvSpPr/>
          <p:nvPr/>
        </p:nvSpPr>
        <p:spPr>
          <a:xfrm>
            <a:off x="808170" y="2982336"/>
            <a:ext cx="865723"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DXA</a:t>
            </a:r>
            <a:endParaRPr dirty="0">
              <a:solidFill>
                <a:schemeClr val="bg1">
                  <a:lumMod val="65000"/>
                </a:schemeClr>
              </a:solidFill>
            </a:endParaRPr>
          </a:p>
        </p:txBody>
      </p:sp>
      <p:sp>
        <p:nvSpPr>
          <p:cNvPr id="22" name="Rounded Rectangle 8">
            <a:extLst>
              <a:ext uri="{FF2B5EF4-FFF2-40B4-BE49-F238E27FC236}">
                <a16:creationId xmlns:a16="http://schemas.microsoft.com/office/drawing/2014/main" id="{D54383C5-7E98-4219-6A95-06BB87D4AFB5}"/>
              </a:ext>
            </a:extLst>
          </p:cNvPr>
          <p:cNvSpPr/>
          <p:nvPr/>
        </p:nvSpPr>
        <p:spPr>
          <a:xfrm>
            <a:off x="2617870" y="2982336"/>
            <a:ext cx="865723"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X-ray</a:t>
            </a:r>
            <a:endParaRPr dirty="0">
              <a:solidFill>
                <a:schemeClr val="tx1"/>
              </a:solidFill>
            </a:endParaRPr>
          </a:p>
        </p:txBody>
      </p:sp>
      <p:sp>
        <p:nvSpPr>
          <p:cNvPr id="24" name="Rounded Rectangle 8">
            <a:extLst>
              <a:ext uri="{FF2B5EF4-FFF2-40B4-BE49-F238E27FC236}">
                <a16:creationId xmlns:a16="http://schemas.microsoft.com/office/drawing/2014/main" id="{498B3BE5-C27B-38CA-CABA-E36BD176C8B5}"/>
              </a:ext>
            </a:extLst>
          </p:cNvPr>
          <p:cNvSpPr/>
          <p:nvPr/>
        </p:nvSpPr>
        <p:spPr>
          <a:xfrm>
            <a:off x="4414826" y="2982336"/>
            <a:ext cx="865723"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CT</a:t>
            </a:r>
            <a:endParaRPr dirty="0">
              <a:solidFill>
                <a:schemeClr val="bg1">
                  <a:lumMod val="65000"/>
                </a:schemeClr>
              </a:solidFill>
            </a:endParaRPr>
          </a:p>
        </p:txBody>
      </p:sp>
      <p:sp>
        <p:nvSpPr>
          <p:cNvPr id="26" name="Rounded Rectangle 8">
            <a:extLst>
              <a:ext uri="{FF2B5EF4-FFF2-40B4-BE49-F238E27FC236}">
                <a16:creationId xmlns:a16="http://schemas.microsoft.com/office/drawing/2014/main" id="{865E5187-7748-B822-106B-6861D896BBD9}"/>
              </a:ext>
            </a:extLst>
          </p:cNvPr>
          <p:cNvSpPr/>
          <p:nvPr/>
        </p:nvSpPr>
        <p:spPr>
          <a:xfrm>
            <a:off x="5489439" y="2982336"/>
            <a:ext cx="722343"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MRI</a:t>
            </a:r>
            <a:endParaRPr dirty="0">
              <a:solidFill>
                <a:schemeClr val="bg1">
                  <a:lumMod val="65000"/>
                </a:schemeClr>
              </a:solidFill>
            </a:endParaRPr>
          </a:p>
        </p:txBody>
      </p:sp>
      <p:sp>
        <p:nvSpPr>
          <p:cNvPr id="30" name="Rounded Rectangle 8">
            <a:extLst>
              <a:ext uri="{FF2B5EF4-FFF2-40B4-BE49-F238E27FC236}">
                <a16:creationId xmlns:a16="http://schemas.microsoft.com/office/drawing/2014/main" id="{194B75B5-E924-1593-08D5-7B536B35909E}"/>
              </a:ext>
            </a:extLst>
          </p:cNvPr>
          <p:cNvSpPr/>
          <p:nvPr/>
        </p:nvSpPr>
        <p:spPr>
          <a:xfrm>
            <a:off x="2193194" y="5112515"/>
            <a:ext cx="1715074"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Opportunistic</a:t>
            </a:r>
          </a:p>
          <a:p>
            <a:pPr algn="ctr"/>
            <a:r>
              <a:rPr lang="en-CA" dirty="0" err="1">
                <a:solidFill>
                  <a:schemeClr val="tx1"/>
                </a:solidFill>
              </a:rPr>
              <a:t>screnning</a:t>
            </a:r>
            <a:endParaRPr dirty="0">
              <a:solidFill>
                <a:schemeClr val="tx1"/>
              </a:solidFill>
            </a:endParaRPr>
          </a:p>
        </p:txBody>
      </p:sp>
      <p:sp>
        <p:nvSpPr>
          <p:cNvPr id="34" name="Rounded Rectangle 8">
            <a:extLst>
              <a:ext uri="{FF2B5EF4-FFF2-40B4-BE49-F238E27FC236}">
                <a16:creationId xmlns:a16="http://schemas.microsoft.com/office/drawing/2014/main" id="{0460311E-04BB-9CB7-6F65-B1F66B281BE1}"/>
              </a:ext>
            </a:extLst>
          </p:cNvPr>
          <p:cNvSpPr/>
          <p:nvPr/>
        </p:nvSpPr>
        <p:spPr>
          <a:xfrm>
            <a:off x="383494" y="5112515"/>
            <a:ext cx="1715074"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T-score</a:t>
            </a:r>
          </a:p>
          <a:p>
            <a:pPr algn="ctr"/>
            <a:r>
              <a:rPr lang="en-CA" dirty="0">
                <a:solidFill>
                  <a:schemeClr val="bg1">
                    <a:lumMod val="65000"/>
                  </a:schemeClr>
                </a:solidFill>
              </a:rPr>
              <a:t>classification</a:t>
            </a:r>
            <a:endParaRPr dirty="0">
              <a:solidFill>
                <a:schemeClr val="bg1">
                  <a:lumMod val="65000"/>
                </a:schemeClr>
              </a:solidFill>
            </a:endParaRPr>
          </a:p>
        </p:txBody>
      </p:sp>
      <p:sp>
        <p:nvSpPr>
          <p:cNvPr id="38" name="Rounded Rectangle 8">
            <a:extLst>
              <a:ext uri="{FF2B5EF4-FFF2-40B4-BE49-F238E27FC236}">
                <a16:creationId xmlns:a16="http://schemas.microsoft.com/office/drawing/2014/main" id="{D2C5E7E7-281E-483E-FB20-3BA66AC2DFCC}"/>
              </a:ext>
            </a:extLst>
          </p:cNvPr>
          <p:cNvSpPr/>
          <p:nvPr/>
        </p:nvSpPr>
        <p:spPr>
          <a:xfrm>
            <a:off x="3990150" y="5112515"/>
            <a:ext cx="1715074"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Bone structure</a:t>
            </a:r>
          </a:p>
          <a:p>
            <a:pPr algn="ctr"/>
            <a:r>
              <a:rPr lang="en-CA" dirty="0">
                <a:solidFill>
                  <a:schemeClr val="bg1">
                    <a:lumMod val="65000"/>
                  </a:schemeClr>
                </a:solidFill>
              </a:rPr>
              <a:t>analysis</a:t>
            </a:r>
            <a:endParaRPr dirty="0">
              <a:solidFill>
                <a:schemeClr val="bg1">
                  <a:lumMod val="65000"/>
                </a:schemeClr>
              </a:solidFill>
            </a:endParaRPr>
          </a:p>
        </p:txBody>
      </p:sp>
      <p:sp>
        <p:nvSpPr>
          <p:cNvPr id="40" name="Rounded Rectangle 8">
            <a:extLst>
              <a:ext uri="{FF2B5EF4-FFF2-40B4-BE49-F238E27FC236}">
                <a16:creationId xmlns:a16="http://schemas.microsoft.com/office/drawing/2014/main" id="{C107BE20-0B46-03E4-050A-B41A9FDB9AE0}"/>
              </a:ext>
            </a:extLst>
          </p:cNvPr>
          <p:cNvSpPr/>
          <p:nvPr/>
        </p:nvSpPr>
        <p:spPr>
          <a:xfrm>
            <a:off x="6672177" y="2982336"/>
            <a:ext cx="2003470"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Osteoporosis</a:t>
            </a:r>
          </a:p>
          <a:p>
            <a:pPr algn="ctr"/>
            <a:r>
              <a:rPr lang="en-CA" dirty="0">
                <a:solidFill>
                  <a:schemeClr val="tx1"/>
                </a:solidFill>
              </a:rPr>
              <a:t>classification</a:t>
            </a:r>
            <a:endParaRPr dirty="0">
              <a:solidFill>
                <a:schemeClr val="tx1"/>
              </a:solidFill>
            </a:endParaRPr>
          </a:p>
        </p:txBody>
      </p:sp>
      <p:sp>
        <p:nvSpPr>
          <p:cNvPr id="46" name="Rounded Rectangle 8">
            <a:extLst>
              <a:ext uri="{FF2B5EF4-FFF2-40B4-BE49-F238E27FC236}">
                <a16:creationId xmlns:a16="http://schemas.microsoft.com/office/drawing/2014/main" id="{0E280DD2-FC78-FA83-63DE-98BBC098E5F6}"/>
              </a:ext>
            </a:extLst>
          </p:cNvPr>
          <p:cNvSpPr/>
          <p:nvPr/>
        </p:nvSpPr>
        <p:spPr>
          <a:xfrm>
            <a:off x="6911584" y="5649063"/>
            <a:ext cx="1524657"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Osteoporosis</a:t>
            </a:r>
            <a:endParaRPr dirty="0">
              <a:solidFill>
                <a:schemeClr val="tx1"/>
              </a:solidFill>
            </a:endParaRPr>
          </a:p>
        </p:txBody>
      </p:sp>
      <p:sp>
        <p:nvSpPr>
          <p:cNvPr id="56" name="Rounded Rectangle 8">
            <a:extLst>
              <a:ext uri="{FF2B5EF4-FFF2-40B4-BE49-F238E27FC236}">
                <a16:creationId xmlns:a16="http://schemas.microsoft.com/office/drawing/2014/main" id="{11A1AEB7-0E99-0688-06F9-BEAC8A14FD0A}"/>
              </a:ext>
            </a:extLst>
          </p:cNvPr>
          <p:cNvSpPr/>
          <p:nvPr/>
        </p:nvSpPr>
        <p:spPr>
          <a:xfrm>
            <a:off x="8934709" y="2982336"/>
            <a:ext cx="1362532"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Fracture</a:t>
            </a:r>
          </a:p>
          <a:p>
            <a:pPr algn="ctr"/>
            <a:r>
              <a:rPr lang="en-CA" dirty="0">
                <a:solidFill>
                  <a:schemeClr val="bg1">
                    <a:lumMod val="65000"/>
                  </a:schemeClr>
                </a:solidFill>
              </a:rPr>
              <a:t>detection</a:t>
            </a:r>
            <a:endParaRPr dirty="0">
              <a:solidFill>
                <a:schemeClr val="bg1">
                  <a:lumMod val="65000"/>
                </a:schemeClr>
              </a:solidFill>
            </a:endParaRPr>
          </a:p>
        </p:txBody>
      </p:sp>
      <p:sp>
        <p:nvSpPr>
          <p:cNvPr id="58" name="Rounded Rectangle 8">
            <a:extLst>
              <a:ext uri="{FF2B5EF4-FFF2-40B4-BE49-F238E27FC236}">
                <a16:creationId xmlns:a16="http://schemas.microsoft.com/office/drawing/2014/main" id="{1FACA410-5254-A582-4997-E84FAEAE484A}"/>
              </a:ext>
            </a:extLst>
          </p:cNvPr>
          <p:cNvSpPr/>
          <p:nvPr/>
        </p:nvSpPr>
        <p:spPr>
          <a:xfrm>
            <a:off x="10579254" y="2982336"/>
            <a:ext cx="1362532"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Risk</a:t>
            </a:r>
          </a:p>
          <a:p>
            <a:pPr algn="ctr"/>
            <a:r>
              <a:rPr lang="en-CA" dirty="0">
                <a:solidFill>
                  <a:schemeClr val="bg1">
                    <a:lumMod val="65000"/>
                  </a:schemeClr>
                </a:solidFill>
              </a:rPr>
              <a:t>detection</a:t>
            </a:r>
            <a:endParaRPr dirty="0">
              <a:solidFill>
                <a:schemeClr val="bg1">
                  <a:lumMod val="65000"/>
                </a:schemeClr>
              </a:solidFill>
            </a:endParaRPr>
          </a:p>
        </p:txBody>
      </p:sp>
      <p:cxnSp>
        <p:nvCxnSpPr>
          <p:cNvPr id="60" name="Connector: Elbow 59">
            <a:extLst>
              <a:ext uri="{FF2B5EF4-FFF2-40B4-BE49-F238E27FC236}">
                <a16:creationId xmlns:a16="http://schemas.microsoft.com/office/drawing/2014/main" id="{6567B6A7-9F65-AEA5-5C4F-1515F1A219E3}"/>
              </a:ext>
            </a:extLst>
          </p:cNvPr>
          <p:cNvCxnSpPr>
            <a:stCxn id="14" idx="2"/>
            <a:endCxn id="20" idx="0"/>
          </p:cNvCxnSpPr>
          <p:nvPr/>
        </p:nvCxnSpPr>
        <p:spPr>
          <a:xfrm rot="5400000">
            <a:off x="1899957" y="1626156"/>
            <a:ext cx="697256" cy="2015105"/>
          </a:xfrm>
          <a:prstGeom prst="bentConnector3">
            <a:avLst/>
          </a:prstGeom>
          <a:ln>
            <a:prstDash val="sysDash"/>
            <a:tailEnd type="triangle"/>
          </a:ln>
        </p:spPr>
        <p:style>
          <a:lnRef idx="2">
            <a:schemeClr val="dk1"/>
          </a:lnRef>
          <a:fillRef idx="0">
            <a:schemeClr val="dk1"/>
          </a:fillRef>
          <a:effectRef idx="1">
            <a:schemeClr val="dk1"/>
          </a:effectRef>
          <a:fontRef idx="minor">
            <a:schemeClr val="tx1"/>
          </a:fontRef>
        </p:style>
      </p:cxnSp>
      <p:cxnSp>
        <p:nvCxnSpPr>
          <p:cNvPr id="61" name="Connector: Elbow 60">
            <a:extLst>
              <a:ext uri="{FF2B5EF4-FFF2-40B4-BE49-F238E27FC236}">
                <a16:creationId xmlns:a16="http://schemas.microsoft.com/office/drawing/2014/main" id="{F0A68219-B033-5100-329F-B29F7AA44B8D}"/>
              </a:ext>
            </a:extLst>
          </p:cNvPr>
          <p:cNvCxnSpPr>
            <a:cxnSpLocks/>
            <a:stCxn id="14" idx="2"/>
            <a:endCxn id="22" idx="0"/>
          </p:cNvCxnSpPr>
          <p:nvPr/>
        </p:nvCxnSpPr>
        <p:spPr>
          <a:xfrm rot="5400000">
            <a:off x="2804807" y="2531006"/>
            <a:ext cx="697256" cy="205405"/>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64" name="Connector: Elbow 63">
            <a:extLst>
              <a:ext uri="{FF2B5EF4-FFF2-40B4-BE49-F238E27FC236}">
                <a16:creationId xmlns:a16="http://schemas.microsoft.com/office/drawing/2014/main" id="{EACCB9E4-EC7B-E0D7-AF99-82FC77AB12E5}"/>
              </a:ext>
            </a:extLst>
          </p:cNvPr>
          <p:cNvCxnSpPr>
            <a:cxnSpLocks/>
            <a:stCxn id="14" idx="2"/>
            <a:endCxn id="24" idx="0"/>
          </p:cNvCxnSpPr>
          <p:nvPr/>
        </p:nvCxnSpPr>
        <p:spPr>
          <a:xfrm rot="16200000" flipH="1">
            <a:off x="3703284" y="1837932"/>
            <a:ext cx="697256" cy="1591551"/>
          </a:xfrm>
          <a:prstGeom prst="bentConnector3">
            <a:avLst>
              <a:gd name="adj1" fmla="val 50000"/>
            </a:avLst>
          </a:prstGeom>
          <a:ln>
            <a:prstDash val="sysDash"/>
            <a:tailEnd type="triangle"/>
          </a:ln>
        </p:spPr>
        <p:style>
          <a:lnRef idx="2">
            <a:schemeClr val="dk1"/>
          </a:lnRef>
          <a:fillRef idx="0">
            <a:schemeClr val="dk1"/>
          </a:fillRef>
          <a:effectRef idx="1">
            <a:schemeClr val="dk1"/>
          </a:effectRef>
          <a:fontRef idx="minor">
            <a:schemeClr val="tx1"/>
          </a:fontRef>
        </p:style>
      </p:cxnSp>
      <p:cxnSp>
        <p:nvCxnSpPr>
          <p:cNvPr id="67" name="Connector: Elbow 66">
            <a:extLst>
              <a:ext uri="{FF2B5EF4-FFF2-40B4-BE49-F238E27FC236}">
                <a16:creationId xmlns:a16="http://schemas.microsoft.com/office/drawing/2014/main" id="{DB997795-6012-908B-CE4E-B1CE656A7750}"/>
              </a:ext>
            </a:extLst>
          </p:cNvPr>
          <p:cNvCxnSpPr>
            <a:cxnSpLocks/>
            <a:stCxn id="14" idx="2"/>
            <a:endCxn id="26" idx="0"/>
          </p:cNvCxnSpPr>
          <p:nvPr/>
        </p:nvCxnSpPr>
        <p:spPr>
          <a:xfrm rot="16200000" flipH="1">
            <a:off x="4204746" y="1336471"/>
            <a:ext cx="697256" cy="2594474"/>
          </a:xfrm>
          <a:prstGeom prst="bentConnector3">
            <a:avLst>
              <a:gd name="adj1" fmla="val 50000"/>
            </a:avLst>
          </a:prstGeom>
          <a:ln>
            <a:prstDash val="sysDash"/>
            <a:tailEnd type="triangle"/>
          </a:ln>
        </p:spPr>
        <p:style>
          <a:lnRef idx="2">
            <a:schemeClr val="dk1"/>
          </a:lnRef>
          <a:fillRef idx="0">
            <a:schemeClr val="dk1"/>
          </a:fillRef>
          <a:effectRef idx="1">
            <a:schemeClr val="dk1"/>
          </a:effectRef>
          <a:fontRef idx="minor">
            <a:schemeClr val="tx1"/>
          </a:fontRef>
        </p:style>
      </p:cxnSp>
      <p:cxnSp>
        <p:nvCxnSpPr>
          <p:cNvPr id="71" name="Straight Connector 70">
            <a:extLst>
              <a:ext uri="{FF2B5EF4-FFF2-40B4-BE49-F238E27FC236}">
                <a16:creationId xmlns:a16="http://schemas.microsoft.com/office/drawing/2014/main" id="{11C8D836-C6D6-5EEA-F5DA-13739B2DF521}"/>
              </a:ext>
            </a:extLst>
          </p:cNvPr>
          <p:cNvCxnSpPr>
            <a:stCxn id="20" idx="2"/>
            <a:endCxn id="34" idx="0"/>
          </p:cNvCxnSpPr>
          <p:nvPr/>
        </p:nvCxnSpPr>
        <p:spPr>
          <a:xfrm flipH="1">
            <a:off x="1241031" y="3542463"/>
            <a:ext cx="1" cy="1570052"/>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72" name="Straight Connector 71">
            <a:extLst>
              <a:ext uri="{FF2B5EF4-FFF2-40B4-BE49-F238E27FC236}">
                <a16:creationId xmlns:a16="http://schemas.microsoft.com/office/drawing/2014/main" id="{861FFF32-61E7-8CF0-D9E8-446952E432FF}"/>
              </a:ext>
            </a:extLst>
          </p:cNvPr>
          <p:cNvCxnSpPr>
            <a:cxnSpLocks/>
            <a:stCxn id="22" idx="2"/>
            <a:endCxn id="30" idx="0"/>
          </p:cNvCxnSpPr>
          <p:nvPr/>
        </p:nvCxnSpPr>
        <p:spPr>
          <a:xfrm flipH="1">
            <a:off x="3050731" y="3542463"/>
            <a:ext cx="1" cy="1570052"/>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Connector 74">
            <a:extLst>
              <a:ext uri="{FF2B5EF4-FFF2-40B4-BE49-F238E27FC236}">
                <a16:creationId xmlns:a16="http://schemas.microsoft.com/office/drawing/2014/main" id="{42FD346C-9ADF-FEE8-AA40-2B4AB3EAC4EC}"/>
              </a:ext>
            </a:extLst>
          </p:cNvPr>
          <p:cNvCxnSpPr>
            <a:cxnSpLocks/>
            <a:stCxn id="24" idx="2"/>
            <a:endCxn id="38" idx="0"/>
          </p:cNvCxnSpPr>
          <p:nvPr/>
        </p:nvCxnSpPr>
        <p:spPr>
          <a:xfrm flipH="1">
            <a:off x="4847687" y="3542463"/>
            <a:ext cx="1" cy="1570052"/>
          </a:xfrm>
          <a:prstGeom prst="line">
            <a:avLst/>
          </a:prstGeom>
          <a:ln>
            <a:prstDash val="sysDash"/>
          </a:ln>
        </p:spPr>
        <p:style>
          <a:lnRef idx="2">
            <a:schemeClr val="dk1"/>
          </a:lnRef>
          <a:fillRef idx="0">
            <a:schemeClr val="dk1"/>
          </a:fillRef>
          <a:effectRef idx="1">
            <a:schemeClr val="dk1"/>
          </a:effectRef>
          <a:fontRef idx="minor">
            <a:schemeClr val="tx1"/>
          </a:fontRef>
        </p:style>
      </p:cxnSp>
      <p:sp>
        <p:nvSpPr>
          <p:cNvPr id="79" name="Rounded Rectangle 8">
            <a:extLst>
              <a:ext uri="{FF2B5EF4-FFF2-40B4-BE49-F238E27FC236}">
                <a16:creationId xmlns:a16="http://schemas.microsoft.com/office/drawing/2014/main" id="{A73CE25B-3184-F088-77B1-F02D99682183}"/>
              </a:ext>
            </a:extLst>
          </p:cNvPr>
          <p:cNvSpPr/>
          <p:nvPr/>
        </p:nvSpPr>
        <p:spPr>
          <a:xfrm>
            <a:off x="2193194" y="4110290"/>
            <a:ext cx="1715074"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Bone</a:t>
            </a:r>
          </a:p>
          <a:p>
            <a:pPr algn="ctr"/>
            <a:r>
              <a:rPr lang="en-CA" dirty="0">
                <a:solidFill>
                  <a:schemeClr val="tx1"/>
                </a:solidFill>
              </a:rPr>
              <a:t>detection</a:t>
            </a:r>
            <a:endParaRPr dirty="0">
              <a:solidFill>
                <a:schemeClr val="tx1"/>
              </a:solidFill>
            </a:endParaRPr>
          </a:p>
        </p:txBody>
      </p:sp>
      <p:sp>
        <p:nvSpPr>
          <p:cNvPr id="81" name="Rounded Rectangle 8">
            <a:extLst>
              <a:ext uri="{FF2B5EF4-FFF2-40B4-BE49-F238E27FC236}">
                <a16:creationId xmlns:a16="http://schemas.microsoft.com/office/drawing/2014/main" id="{477AECF4-0D67-EBFE-9FB4-4334BA6070B3}"/>
              </a:ext>
            </a:extLst>
          </p:cNvPr>
          <p:cNvSpPr/>
          <p:nvPr/>
        </p:nvSpPr>
        <p:spPr>
          <a:xfrm>
            <a:off x="383494" y="4110290"/>
            <a:ext cx="1715074"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BMD</a:t>
            </a:r>
          </a:p>
          <a:p>
            <a:pPr algn="ctr"/>
            <a:r>
              <a:rPr lang="en-CA" dirty="0">
                <a:solidFill>
                  <a:schemeClr val="bg1">
                    <a:lumMod val="65000"/>
                  </a:schemeClr>
                </a:solidFill>
              </a:rPr>
              <a:t>estimation</a:t>
            </a:r>
            <a:endParaRPr dirty="0">
              <a:solidFill>
                <a:schemeClr val="bg1">
                  <a:lumMod val="65000"/>
                </a:schemeClr>
              </a:solidFill>
            </a:endParaRPr>
          </a:p>
        </p:txBody>
      </p:sp>
      <p:sp>
        <p:nvSpPr>
          <p:cNvPr id="83" name="Rounded Rectangle 8">
            <a:extLst>
              <a:ext uri="{FF2B5EF4-FFF2-40B4-BE49-F238E27FC236}">
                <a16:creationId xmlns:a16="http://schemas.microsoft.com/office/drawing/2014/main" id="{5D950148-CCD6-CEB9-6805-8FC5A4C6D77F}"/>
              </a:ext>
            </a:extLst>
          </p:cNvPr>
          <p:cNvSpPr/>
          <p:nvPr/>
        </p:nvSpPr>
        <p:spPr>
          <a:xfrm>
            <a:off x="3990150" y="4110290"/>
            <a:ext cx="1715074"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Bone</a:t>
            </a:r>
          </a:p>
          <a:p>
            <a:pPr algn="ctr"/>
            <a:r>
              <a:rPr lang="en-CA" dirty="0">
                <a:solidFill>
                  <a:schemeClr val="bg1">
                    <a:lumMod val="65000"/>
                  </a:schemeClr>
                </a:solidFill>
              </a:rPr>
              <a:t>density</a:t>
            </a:r>
            <a:endParaRPr dirty="0">
              <a:solidFill>
                <a:schemeClr val="bg1">
                  <a:lumMod val="65000"/>
                </a:schemeClr>
              </a:solidFill>
            </a:endParaRPr>
          </a:p>
        </p:txBody>
      </p:sp>
      <p:cxnSp>
        <p:nvCxnSpPr>
          <p:cNvPr id="84" name="Connector: Elbow 83">
            <a:extLst>
              <a:ext uri="{FF2B5EF4-FFF2-40B4-BE49-F238E27FC236}">
                <a16:creationId xmlns:a16="http://schemas.microsoft.com/office/drawing/2014/main" id="{FBF890C3-2EC6-CD57-AD16-0C3E7BE99D5F}"/>
              </a:ext>
            </a:extLst>
          </p:cNvPr>
          <p:cNvCxnSpPr>
            <a:cxnSpLocks/>
            <a:stCxn id="16" idx="2"/>
            <a:endCxn id="40" idx="0"/>
          </p:cNvCxnSpPr>
          <p:nvPr/>
        </p:nvCxnSpPr>
        <p:spPr>
          <a:xfrm rot="5400000">
            <a:off x="8350525" y="1608467"/>
            <a:ext cx="697256" cy="2050482"/>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87" name="Straight Connector 86">
            <a:extLst>
              <a:ext uri="{FF2B5EF4-FFF2-40B4-BE49-F238E27FC236}">
                <a16:creationId xmlns:a16="http://schemas.microsoft.com/office/drawing/2014/main" id="{E9D0F67E-A93B-1B64-4AEF-33A7CE02FA7F}"/>
              </a:ext>
            </a:extLst>
          </p:cNvPr>
          <p:cNvCxnSpPr>
            <a:cxnSpLocks/>
            <a:stCxn id="40" idx="2"/>
            <a:endCxn id="46" idx="0"/>
          </p:cNvCxnSpPr>
          <p:nvPr/>
        </p:nvCxnSpPr>
        <p:spPr>
          <a:xfrm>
            <a:off x="7673912" y="3542463"/>
            <a:ext cx="1" cy="2106600"/>
          </a:xfrm>
          <a:prstGeom prst="line">
            <a:avLst/>
          </a:prstGeom>
        </p:spPr>
        <p:style>
          <a:lnRef idx="2">
            <a:schemeClr val="dk1"/>
          </a:lnRef>
          <a:fillRef idx="0">
            <a:schemeClr val="dk1"/>
          </a:fillRef>
          <a:effectRef idx="1">
            <a:schemeClr val="dk1"/>
          </a:effectRef>
          <a:fontRef idx="minor">
            <a:schemeClr val="tx1"/>
          </a:fontRef>
        </p:style>
      </p:cxnSp>
      <p:sp>
        <p:nvSpPr>
          <p:cNvPr id="91" name="Rounded Rectangle 8">
            <a:extLst>
              <a:ext uri="{FF2B5EF4-FFF2-40B4-BE49-F238E27FC236}">
                <a16:creationId xmlns:a16="http://schemas.microsoft.com/office/drawing/2014/main" id="{F7BE255E-E6A8-3931-2040-A3EEB0B7FBF9}"/>
              </a:ext>
            </a:extLst>
          </p:cNvPr>
          <p:cNvSpPr/>
          <p:nvPr/>
        </p:nvSpPr>
        <p:spPr>
          <a:xfrm>
            <a:off x="6911584" y="3947435"/>
            <a:ext cx="1524657"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Normal</a:t>
            </a:r>
            <a:endParaRPr dirty="0">
              <a:solidFill>
                <a:schemeClr val="tx1"/>
              </a:solidFill>
            </a:endParaRPr>
          </a:p>
        </p:txBody>
      </p:sp>
      <p:sp>
        <p:nvSpPr>
          <p:cNvPr id="93" name="Rounded Rectangle 8">
            <a:extLst>
              <a:ext uri="{FF2B5EF4-FFF2-40B4-BE49-F238E27FC236}">
                <a16:creationId xmlns:a16="http://schemas.microsoft.com/office/drawing/2014/main" id="{977DF287-BBCA-5148-741D-8FB337F3803A}"/>
              </a:ext>
            </a:extLst>
          </p:cNvPr>
          <p:cNvSpPr/>
          <p:nvPr/>
        </p:nvSpPr>
        <p:spPr>
          <a:xfrm>
            <a:off x="6911584" y="4798249"/>
            <a:ext cx="1524657"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Osteopenia</a:t>
            </a:r>
            <a:endParaRPr dirty="0">
              <a:solidFill>
                <a:schemeClr val="tx1"/>
              </a:solidFill>
            </a:endParaRPr>
          </a:p>
        </p:txBody>
      </p:sp>
      <p:cxnSp>
        <p:nvCxnSpPr>
          <p:cNvPr id="94" name="Connector: Elbow 93">
            <a:extLst>
              <a:ext uri="{FF2B5EF4-FFF2-40B4-BE49-F238E27FC236}">
                <a16:creationId xmlns:a16="http://schemas.microsoft.com/office/drawing/2014/main" id="{5353D0D5-E55E-F669-FD57-3667A4C67765}"/>
              </a:ext>
            </a:extLst>
          </p:cNvPr>
          <p:cNvCxnSpPr>
            <a:cxnSpLocks/>
            <a:stCxn id="16" idx="2"/>
            <a:endCxn id="56" idx="0"/>
          </p:cNvCxnSpPr>
          <p:nvPr/>
        </p:nvCxnSpPr>
        <p:spPr>
          <a:xfrm rot="5400000">
            <a:off x="9321557" y="2579499"/>
            <a:ext cx="697256" cy="108419"/>
          </a:xfrm>
          <a:prstGeom prst="bentConnector3">
            <a:avLst>
              <a:gd name="adj1" fmla="val 50000"/>
            </a:avLst>
          </a:prstGeom>
          <a:ln>
            <a:prstDash val="sysDash"/>
            <a:tailEnd type="triangle"/>
          </a:ln>
        </p:spPr>
        <p:style>
          <a:lnRef idx="2">
            <a:schemeClr val="dk1"/>
          </a:lnRef>
          <a:fillRef idx="0">
            <a:schemeClr val="dk1"/>
          </a:fillRef>
          <a:effectRef idx="1">
            <a:schemeClr val="dk1"/>
          </a:effectRef>
          <a:fontRef idx="minor">
            <a:schemeClr val="tx1"/>
          </a:fontRef>
        </p:style>
      </p:cxnSp>
      <p:cxnSp>
        <p:nvCxnSpPr>
          <p:cNvPr id="97" name="Connector: Elbow 96">
            <a:extLst>
              <a:ext uri="{FF2B5EF4-FFF2-40B4-BE49-F238E27FC236}">
                <a16:creationId xmlns:a16="http://schemas.microsoft.com/office/drawing/2014/main" id="{1D358EC8-B3CC-34D5-40D6-14BB4711D868}"/>
              </a:ext>
            </a:extLst>
          </p:cNvPr>
          <p:cNvCxnSpPr>
            <a:cxnSpLocks/>
            <a:stCxn id="16" idx="2"/>
            <a:endCxn id="58" idx="0"/>
          </p:cNvCxnSpPr>
          <p:nvPr/>
        </p:nvCxnSpPr>
        <p:spPr>
          <a:xfrm rot="16200000" flipH="1">
            <a:off x="10143829" y="1865645"/>
            <a:ext cx="697256" cy="1536126"/>
          </a:xfrm>
          <a:prstGeom prst="bentConnector3">
            <a:avLst>
              <a:gd name="adj1" fmla="val 50000"/>
            </a:avLst>
          </a:prstGeom>
          <a:ln>
            <a:prstDash val="sysDash"/>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7606-C9CE-CE65-B696-FBC9437A0B0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03BC2AA-498A-03D4-EEB2-B40F7A919995}"/>
              </a:ext>
            </a:extLst>
          </p:cNvPr>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B760285-9BE3-80B7-A70F-D2B22A711208}"/>
              </a:ext>
            </a:extLst>
          </p:cNvPr>
          <p:cNvSpPr txBox="1"/>
          <p:nvPr/>
        </p:nvSpPr>
        <p:spPr>
          <a:xfrm>
            <a:off x="548640" y="320040"/>
            <a:ext cx="10515600" cy="274320"/>
          </a:xfrm>
          <a:prstGeom prst="rect">
            <a:avLst/>
          </a:prstGeom>
          <a:noFill/>
        </p:spPr>
        <p:txBody>
          <a:bodyPr wrap="square" lIns="25400" tIns="25400" rIns="25400" bIns="25400" anchor="t">
            <a:spAutoFit/>
          </a:bodyPr>
          <a:lstStyle/>
          <a:p>
            <a:pPr algn="l">
              <a:lnSpc>
                <a:spcPct val="100000"/>
              </a:lnSpc>
              <a:spcAft>
                <a:spcPts val="400"/>
              </a:spcAft>
            </a:pPr>
            <a:r>
              <a:rPr sz="1200" b="1" i="0">
                <a:solidFill>
                  <a:srgbClr val="00838F"/>
                </a:solidFill>
                <a:latin typeface="Calibri"/>
              </a:rPr>
              <a:t>THE GOAL</a:t>
            </a:r>
          </a:p>
        </p:txBody>
      </p:sp>
      <p:sp>
        <p:nvSpPr>
          <p:cNvPr id="4" name="TextBox 3">
            <a:extLst>
              <a:ext uri="{FF2B5EF4-FFF2-40B4-BE49-F238E27FC236}">
                <a16:creationId xmlns:a16="http://schemas.microsoft.com/office/drawing/2014/main" id="{ADE95DF3-8E6F-C2F5-4246-477FDCE4FBA0}"/>
              </a:ext>
            </a:extLst>
          </p:cNvPr>
          <p:cNvSpPr txBox="1"/>
          <p:nvPr/>
        </p:nvSpPr>
        <p:spPr>
          <a:xfrm>
            <a:off x="548640" y="566928"/>
            <a:ext cx="11064240" cy="466794"/>
          </a:xfrm>
          <a:prstGeom prst="rect">
            <a:avLst/>
          </a:prstGeom>
          <a:noFill/>
        </p:spPr>
        <p:txBody>
          <a:bodyPr wrap="square" lIns="25400" tIns="25400" rIns="25400" bIns="25400" anchor="t">
            <a:spAutoFit/>
          </a:bodyPr>
          <a:lstStyle/>
          <a:p>
            <a:pPr>
              <a:spcAft>
                <a:spcPts val="400"/>
              </a:spcAft>
            </a:pPr>
            <a:r>
              <a:rPr lang="it-IT" sz="2700" b="1" dirty="0">
                <a:solidFill>
                  <a:srgbClr val="1B324F"/>
                </a:solidFill>
              </a:rPr>
              <a:t>AI in osteoporosis diagnosis 2</a:t>
            </a:r>
          </a:p>
        </p:txBody>
      </p:sp>
      <p:sp>
        <p:nvSpPr>
          <p:cNvPr id="5" name="Rectangle 4">
            <a:extLst>
              <a:ext uri="{FF2B5EF4-FFF2-40B4-BE49-F238E27FC236}">
                <a16:creationId xmlns:a16="http://schemas.microsoft.com/office/drawing/2014/main" id="{5200A0AC-BCB4-87EF-B57F-7D1BACDD942F}"/>
              </a:ext>
            </a:extLst>
          </p:cNvPr>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8B93C89-580B-F397-6F99-6F81D948DA8C}"/>
              </a:ext>
            </a:extLst>
          </p:cNvPr>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12" name="TextBox 11">
            <a:extLst>
              <a:ext uri="{FF2B5EF4-FFF2-40B4-BE49-F238E27FC236}">
                <a16:creationId xmlns:a16="http://schemas.microsoft.com/office/drawing/2014/main" id="{624139D9-A39D-8B81-0E8D-E0E268AE945F}"/>
              </a:ext>
            </a:extLst>
          </p:cNvPr>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solidFill>
                  <a:srgbClr val="5A646E"/>
                </a:solidFill>
                <a:latin typeface="Calibri"/>
              </a:rPr>
              <a:t>5</a:t>
            </a:r>
            <a:r>
              <a:rPr lang="en-CA" sz="900" dirty="0"/>
              <a:t>/15</a:t>
            </a:r>
            <a:endParaRPr sz="900" b="0" i="0" dirty="0">
              <a:solidFill>
                <a:srgbClr val="5A646E"/>
              </a:solidFill>
              <a:latin typeface="Calibri"/>
            </a:endParaRPr>
          </a:p>
        </p:txBody>
      </p:sp>
      <p:sp>
        <p:nvSpPr>
          <p:cNvPr id="18" name="Rounded Rectangle 5">
            <a:extLst>
              <a:ext uri="{FF2B5EF4-FFF2-40B4-BE49-F238E27FC236}">
                <a16:creationId xmlns:a16="http://schemas.microsoft.com/office/drawing/2014/main" id="{915FD1C4-603F-1849-95F8-C04874227BB3}"/>
              </a:ext>
            </a:extLst>
          </p:cNvPr>
          <p:cNvSpPr/>
          <p:nvPr/>
        </p:nvSpPr>
        <p:spPr>
          <a:xfrm>
            <a:off x="5217058" y="1563895"/>
            <a:ext cx="2262799" cy="560127"/>
          </a:xfrm>
          <a:prstGeom prst="roundRect">
            <a:avLst>
              <a:gd name="adj" fmla="val 4000"/>
            </a:avLst>
          </a:prstGeom>
          <a:solidFill>
            <a:srgbClr val="E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AI methodologies</a:t>
            </a:r>
            <a:endParaRPr dirty="0">
              <a:solidFill>
                <a:schemeClr val="tx1"/>
              </a:solidFill>
            </a:endParaRPr>
          </a:p>
        </p:txBody>
      </p:sp>
      <p:sp>
        <p:nvSpPr>
          <p:cNvPr id="48" name="Rounded Rectangle 8">
            <a:extLst>
              <a:ext uri="{FF2B5EF4-FFF2-40B4-BE49-F238E27FC236}">
                <a16:creationId xmlns:a16="http://schemas.microsoft.com/office/drawing/2014/main" id="{246792EA-91B5-6C87-C094-D4B71E2641FF}"/>
              </a:ext>
            </a:extLst>
          </p:cNvPr>
          <p:cNvSpPr/>
          <p:nvPr/>
        </p:nvSpPr>
        <p:spPr>
          <a:xfrm>
            <a:off x="2870892" y="2779270"/>
            <a:ext cx="2003470" cy="591730"/>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CNN-based</a:t>
            </a:r>
            <a:endParaRPr dirty="0">
              <a:solidFill>
                <a:schemeClr val="tx1"/>
              </a:solidFill>
            </a:endParaRPr>
          </a:p>
        </p:txBody>
      </p:sp>
      <p:sp>
        <p:nvSpPr>
          <p:cNvPr id="7" name="Rounded Rectangle 8">
            <a:extLst>
              <a:ext uri="{FF2B5EF4-FFF2-40B4-BE49-F238E27FC236}">
                <a16:creationId xmlns:a16="http://schemas.microsoft.com/office/drawing/2014/main" id="{B75773AC-ED31-C17B-B8F8-04CFC1160E65}"/>
              </a:ext>
            </a:extLst>
          </p:cNvPr>
          <p:cNvSpPr/>
          <p:nvPr/>
        </p:nvSpPr>
        <p:spPr>
          <a:xfrm>
            <a:off x="494334" y="2779270"/>
            <a:ext cx="2003470" cy="591730"/>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Classical</a:t>
            </a:r>
          </a:p>
          <a:p>
            <a:pPr algn="ctr"/>
            <a:r>
              <a:rPr lang="en-CA" dirty="0">
                <a:solidFill>
                  <a:schemeClr val="tx1"/>
                </a:solidFill>
              </a:rPr>
              <a:t>Machine Learning</a:t>
            </a:r>
            <a:endParaRPr dirty="0">
              <a:solidFill>
                <a:schemeClr val="tx1"/>
              </a:solidFill>
            </a:endParaRPr>
          </a:p>
        </p:txBody>
      </p:sp>
      <p:sp>
        <p:nvSpPr>
          <p:cNvPr id="9" name="Rounded Rectangle 8">
            <a:extLst>
              <a:ext uri="{FF2B5EF4-FFF2-40B4-BE49-F238E27FC236}">
                <a16:creationId xmlns:a16="http://schemas.microsoft.com/office/drawing/2014/main" id="{31EA1C87-F80F-E6CF-7E0B-01AB4CF1D0B7}"/>
              </a:ext>
            </a:extLst>
          </p:cNvPr>
          <p:cNvSpPr/>
          <p:nvPr/>
        </p:nvSpPr>
        <p:spPr>
          <a:xfrm>
            <a:off x="7669993" y="2779269"/>
            <a:ext cx="2003470" cy="591730"/>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Transformer-based</a:t>
            </a:r>
            <a:endParaRPr dirty="0">
              <a:solidFill>
                <a:schemeClr val="bg1">
                  <a:lumMod val="65000"/>
                </a:schemeClr>
              </a:solidFill>
            </a:endParaRPr>
          </a:p>
        </p:txBody>
      </p:sp>
      <p:sp>
        <p:nvSpPr>
          <p:cNvPr id="13" name="Rounded Rectangle 8">
            <a:extLst>
              <a:ext uri="{FF2B5EF4-FFF2-40B4-BE49-F238E27FC236}">
                <a16:creationId xmlns:a16="http://schemas.microsoft.com/office/drawing/2014/main" id="{A0C510E9-FD0F-5CFC-7E76-DB6812F78796}"/>
              </a:ext>
            </a:extLst>
          </p:cNvPr>
          <p:cNvSpPr/>
          <p:nvPr/>
        </p:nvSpPr>
        <p:spPr>
          <a:xfrm>
            <a:off x="10032718" y="2779270"/>
            <a:ext cx="1813606" cy="591730"/>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bg1">
                    <a:lumMod val="65000"/>
                  </a:schemeClr>
                </a:solidFill>
              </a:rPr>
              <a:t>Self-supervised</a:t>
            </a:r>
          </a:p>
          <a:p>
            <a:pPr algn="ctr"/>
            <a:r>
              <a:rPr lang="en-CA" dirty="0">
                <a:solidFill>
                  <a:schemeClr val="bg1">
                    <a:lumMod val="65000"/>
                  </a:schemeClr>
                </a:solidFill>
              </a:rPr>
              <a:t>learning</a:t>
            </a:r>
            <a:endParaRPr dirty="0">
              <a:solidFill>
                <a:schemeClr val="bg1">
                  <a:lumMod val="65000"/>
                </a:schemeClr>
              </a:solidFill>
            </a:endParaRPr>
          </a:p>
        </p:txBody>
      </p:sp>
      <p:sp>
        <p:nvSpPr>
          <p:cNvPr id="17" name="Rounded Rectangle 8">
            <a:extLst>
              <a:ext uri="{FF2B5EF4-FFF2-40B4-BE49-F238E27FC236}">
                <a16:creationId xmlns:a16="http://schemas.microsoft.com/office/drawing/2014/main" id="{C1DAADFE-107A-11EE-EAC5-204EABB4C54A}"/>
              </a:ext>
            </a:extLst>
          </p:cNvPr>
          <p:cNvSpPr/>
          <p:nvPr/>
        </p:nvSpPr>
        <p:spPr>
          <a:xfrm>
            <a:off x="5350353" y="2779270"/>
            <a:ext cx="2003470" cy="591730"/>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Explainable</a:t>
            </a:r>
            <a:br>
              <a:rPr lang="en-CA" dirty="0">
                <a:solidFill>
                  <a:schemeClr val="tx1"/>
                </a:solidFill>
              </a:rPr>
            </a:br>
            <a:r>
              <a:rPr lang="en-CA" dirty="0">
                <a:solidFill>
                  <a:schemeClr val="tx1"/>
                </a:solidFill>
              </a:rPr>
              <a:t>AI</a:t>
            </a:r>
            <a:endParaRPr dirty="0">
              <a:solidFill>
                <a:schemeClr val="tx1"/>
              </a:solidFill>
            </a:endParaRPr>
          </a:p>
        </p:txBody>
      </p:sp>
      <p:sp>
        <p:nvSpPr>
          <p:cNvPr id="25" name="Rounded Rectangle 8">
            <a:extLst>
              <a:ext uri="{FF2B5EF4-FFF2-40B4-BE49-F238E27FC236}">
                <a16:creationId xmlns:a16="http://schemas.microsoft.com/office/drawing/2014/main" id="{925ACB6B-4D8C-E2A0-4696-E5D3160ADA6A}"/>
              </a:ext>
            </a:extLst>
          </p:cNvPr>
          <p:cNvSpPr/>
          <p:nvPr/>
        </p:nvSpPr>
        <p:spPr>
          <a:xfrm>
            <a:off x="5553007" y="4993066"/>
            <a:ext cx="1598162"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Attention</a:t>
            </a:r>
          </a:p>
          <a:p>
            <a:pPr algn="ctr"/>
            <a:r>
              <a:rPr lang="en-CA" dirty="0">
                <a:solidFill>
                  <a:schemeClr val="tx1"/>
                </a:solidFill>
              </a:rPr>
              <a:t>heatmaps</a:t>
            </a:r>
            <a:endParaRPr dirty="0">
              <a:solidFill>
                <a:schemeClr val="tx1"/>
              </a:solidFill>
            </a:endParaRPr>
          </a:p>
        </p:txBody>
      </p:sp>
      <p:sp>
        <p:nvSpPr>
          <p:cNvPr id="29" name="Rounded Rectangle 8">
            <a:extLst>
              <a:ext uri="{FF2B5EF4-FFF2-40B4-BE49-F238E27FC236}">
                <a16:creationId xmlns:a16="http://schemas.microsoft.com/office/drawing/2014/main" id="{9467F23B-C6B8-928B-1088-5BD6C995CCCC}"/>
              </a:ext>
            </a:extLst>
          </p:cNvPr>
          <p:cNvSpPr/>
          <p:nvPr/>
        </p:nvSpPr>
        <p:spPr>
          <a:xfrm>
            <a:off x="733741" y="3808493"/>
            <a:ext cx="1524657"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GLCM</a:t>
            </a:r>
            <a:endParaRPr dirty="0">
              <a:solidFill>
                <a:schemeClr val="tx1"/>
              </a:solidFill>
            </a:endParaRPr>
          </a:p>
        </p:txBody>
      </p:sp>
      <p:cxnSp>
        <p:nvCxnSpPr>
          <p:cNvPr id="31" name="Connector: Elbow 30">
            <a:extLst>
              <a:ext uri="{FF2B5EF4-FFF2-40B4-BE49-F238E27FC236}">
                <a16:creationId xmlns:a16="http://schemas.microsoft.com/office/drawing/2014/main" id="{7DAF8124-4BCE-CC56-2ED0-245BF9EA0EC0}"/>
              </a:ext>
            </a:extLst>
          </p:cNvPr>
          <p:cNvCxnSpPr>
            <a:cxnSpLocks/>
            <a:stCxn id="18" idx="2"/>
            <a:endCxn id="7" idx="0"/>
          </p:cNvCxnSpPr>
          <p:nvPr/>
        </p:nvCxnSpPr>
        <p:spPr>
          <a:xfrm rot="5400000">
            <a:off x="3594640" y="25452"/>
            <a:ext cx="655248" cy="485238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33" name="Connector: Elbow 32">
            <a:extLst>
              <a:ext uri="{FF2B5EF4-FFF2-40B4-BE49-F238E27FC236}">
                <a16:creationId xmlns:a16="http://schemas.microsoft.com/office/drawing/2014/main" id="{6624FF99-5C5C-BBB9-F209-7639878FCC96}"/>
              </a:ext>
            </a:extLst>
          </p:cNvPr>
          <p:cNvCxnSpPr>
            <a:cxnSpLocks/>
            <a:stCxn id="18" idx="2"/>
            <a:endCxn id="9" idx="0"/>
          </p:cNvCxnSpPr>
          <p:nvPr/>
        </p:nvCxnSpPr>
        <p:spPr>
          <a:xfrm rot="16200000" flipH="1">
            <a:off x="7182470" y="1290010"/>
            <a:ext cx="655247" cy="2323270"/>
          </a:xfrm>
          <a:prstGeom prst="bentConnector3">
            <a:avLst>
              <a:gd name="adj1" fmla="val 50000"/>
            </a:avLst>
          </a:prstGeom>
          <a:ln>
            <a:prstDash val="sysDash"/>
            <a:tailEnd type="triangle"/>
          </a:ln>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3727660A-DDA1-B9FB-FC7B-B558FBA3513B}"/>
              </a:ext>
            </a:extLst>
          </p:cNvPr>
          <p:cNvCxnSpPr>
            <a:cxnSpLocks/>
            <a:stCxn id="7" idx="2"/>
            <a:endCxn id="29" idx="0"/>
          </p:cNvCxnSpPr>
          <p:nvPr/>
        </p:nvCxnSpPr>
        <p:spPr>
          <a:xfrm>
            <a:off x="1496069" y="3371000"/>
            <a:ext cx="1" cy="437493"/>
          </a:xfrm>
          <a:prstGeom prst="line">
            <a:avLst/>
          </a:prstGeom>
        </p:spPr>
        <p:style>
          <a:lnRef idx="2">
            <a:schemeClr val="dk1"/>
          </a:lnRef>
          <a:fillRef idx="0">
            <a:schemeClr val="dk1"/>
          </a:fillRef>
          <a:effectRef idx="1">
            <a:schemeClr val="dk1"/>
          </a:effectRef>
          <a:fontRef idx="minor">
            <a:schemeClr val="tx1"/>
          </a:fontRef>
        </p:style>
      </p:cxnSp>
      <p:cxnSp>
        <p:nvCxnSpPr>
          <p:cNvPr id="51" name="Connector: Elbow 50">
            <a:extLst>
              <a:ext uri="{FF2B5EF4-FFF2-40B4-BE49-F238E27FC236}">
                <a16:creationId xmlns:a16="http://schemas.microsoft.com/office/drawing/2014/main" id="{D3BB8F0E-B283-3307-6ECE-A13BFD93D447}"/>
              </a:ext>
            </a:extLst>
          </p:cNvPr>
          <p:cNvCxnSpPr>
            <a:cxnSpLocks/>
            <a:stCxn id="18" idx="2"/>
            <a:endCxn id="13" idx="0"/>
          </p:cNvCxnSpPr>
          <p:nvPr/>
        </p:nvCxnSpPr>
        <p:spPr>
          <a:xfrm rot="16200000" flipH="1">
            <a:off x="8316365" y="156114"/>
            <a:ext cx="655248" cy="4591063"/>
          </a:xfrm>
          <a:prstGeom prst="bentConnector3">
            <a:avLst>
              <a:gd name="adj1" fmla="val 50000"/>
            </a:avLst>
          </a:prstGeom>
          <a:ln>
            <a:prstDash val="sysDash"/>
            <a:tailEnd type="triangle"/>
          </a:ln>
        </p:spPr>
        <p:style>
          <a:lnRef idx="2">
            <a:schemeClr val="dk1"/>
          </a:lnRef>
          <a:fillRef idx="0">
            <a:schemeClr val="dk1"/>
          </a:fillRef>
          <a:effectRef idx="1">
            <a:schemeClr val="dk1"/>
          </a:effectRef>
          <a:fontRef idx="minor">
            <a:schemeClr val="tx1"/>
          </a:fontRef>
        </p:style>
      </p:cxnSp>
      <p:cxnSp>
        <p:nvCxnSpPr>
          <p:cNvPr id="56" name="Connector: Elbow 55">
            <a:extLst>
              <a:ext uri="{FF2B5EF4-FFF2-40B4-BE49-F238E27FC236}">
                <a16:creationId xmlns:a16="http://schemas.microsoft.com/office/drawing/2014/main" id="{66C20CA9-6066-59AF-6478-B2036BD3D5F3}"/>
              </a:ext>
            </a:extLst>
          </p:cNvPr>
          <p:cNvCxnSpPr>
            <a:cxnSpLocks/>
            <a:stCxn id="18" idx="2"/>
            <a:endCxn id="48" idx="0"/>
          </p:cNvCxnSpPr>
          <p:nvPr/>
        </p:nvCxnSpPr>
        <p:spPr>
          <a:xfrm rot="5400000">
            <a:off x="4782919" y="1213731"/>
            <a:ext cx="655248" cy="2475831"/>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59" name="Connector: Elbow 58">
            <a:extLst>
              <a:ext uri="{FF2B5EF4-FFF2-40B4-BE49-F238E27FC236}">
                <a16:creationId xmlns:a16="http://schemas.microsoft.com/office/drawing/2014/main" id="{504E964F-98A0-A923-CF45-DD535FAA2E4D}"/>
              </a:ext>
            </a:extLst>
          </p:cNvPr>
          <p:cNvCxnSpPr>
            <a:cxnSpLocks/>
            <a:stCxn id="18" idx="2"/>
            <a:endCxn id="17" idx="0"/>
          </p:cNvCxnSpPr>
          <p:nvPr/>
        </p:nvCxnSpPr>
        <p:spPr>
          <a:xfrm rot="16200000" flipH="1">
            <a:off x="6022649" y="2449831"/>
            <a:ext cx="655248" cy="3630"/>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CF542623-E938-2DE9-FC60-E3A5297BAF4F}"/>
              </a:ext>
            </a:extLst>
          </p:cNvPr>
          <p:cNvCxnSpPr>
            <a:cxnSpLocks/>
            <a:stCxn id="48" idx="2"/>
            <a:endCxn id="112" idx="0"/>
          </p:cNvCxnSpPr>
          <p:nvPr/>
        </p:nvCxnSpPr>
        <p:spPr>
          <a:xfrm>
            <a:off x="3872627" y="3371000"/>
            <a:ext cx="0" cy="1622066"/>
          </a:xfrm>
          <a:prstGeom prst="line">
            <a:avLst/>
          </a:prstGeom>
        </p:spPr>
        <p:style>
          <a:lnRef idx="2">
            <a:schemeClr val="dk1"/>
          </a:lnRef>
          <a:fillRef idx="0">
            <a:schemeClr val="dk1"/>
          </a:fillRef>
          <a:effectRef idx="1">
            <a:schemeClr val="dk1"/>
          </a:effectRef>
          <a:fontRef idx="minor">
            <a:schemeClr val="tx1"/>
          </a:fontRef>
        </p:style>
      </p:cxnSp>
      <p:cxnSp>
        <p:nvCxnSpPr>
          <p:cNvPr id="65" name="Straight Connector 64">
            <a:extLst>
              <a:ext uri="{FF2B5EF4-FFF2-40B4-BE49-F238E27FC236}">
                <a16:creationId xmlns:a16="http://schemas.microsoft.com/office/drawing/2014/main" id="{3BAB679E-C54A-B9F0-19F1-7A65BA7ED294}"/>
              </a:ext>
            </a:extLst>
          </p:cNvPr>
          <p:cNvCxnSpPr>
            <a:cxnSpLocks/>
            <a:stCxn id="17" idx="2"/>
            <a:endCxn id="25" idx="0"/>
          </p:cNvCxnSpPr>
          <p:nvPr/>
        </p:nvCxnSpPr>
        <p:spPr>
          <a:xfrm>
            <a:off x="6352088" y="3371000"/>
            <a:ext cx="0" cy="1622066"/>
          </a:xfrm>
          <a:prstGeom prst="line">
            <a:avLst/>
          </a:prstGeom>
        </p:spPr>
        <p:style>
          <a:lnRef idx="2">
            <a:schemeClr val="dk1"/>
          </a:lnRef>
          <a:fillRef idx="0">
            <a:schemeClr val="dk1"/>
          </a:fillRef>
          <a:effectRef idx="1">
            <a:schemeClr val="dk1"/>
          </a:effectRef>
          <a:fontRef idx="minor">
            <a:schemeClr val="tx1"/>
          </a:fontRef>
        </p:style>
      </p:cxnSp>
      <p:sp>
        <p:nvSpPr>
          <p:cNvPr id="69" name="Rounded Rectangle 8">
            <a:extLst>
              <a:ext uri="{FF2B5EF4-FFF2-40B4-BE49-F238E27FC236}">
                <a16:creationId xmlns:a16="http://schemas.microsoft.com/office/drawing/2014/main" id="{769C4640-24F7-C263-91FF-C798E032023F}"/>
              </a:ext>
            </a:extLst>
          </p:cNvPr>
          <p:cNvSpPr/>
          <p:nvPr/>
        </p:nvSpPr>
        <p:spPr>
          <a:xfrm>
            <a:off x="3110299" y="3808493"/>
            <a:ext cx="1524657"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YOLO26-seg</a:t>
            </a:r>
            <a:endParaRPr dirty="0">
              <a:solidFill>
                <a:schemeClr val="tx1"/>
              </a:solidFill>
            </a:endParaRPr>
          </a:p>
        </p:txBody>
      </p:sp>
      <p:sp>
        <p:nvSpPr>
          <p:cNvPr id="73" name="Rounded Rectangle 8">
            <a:extLst>
              <a:ext uri="{FF2B5EF4-FFF2-40B4-BE49-F238E27FC236}">
                <a16:creationId xmlns:a16="http://schemas.microsoft.com/office/drawing/2014/main" id="{805133F9-CE7F-D351-8D7B-84C1148B497A}"/>
              </a:ext>
            </a:extLst>
          </p:cNvPr>
          <p:cNvSpPr/>
          <p:nvPr/>
        </p:nvSpPr>
        <p:spPr>
          <a:xfrm>
            <a:off x="5553007" y="3808493"/>
            <a:ext cx="1598162" cy="560127"/>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a:solidFill>
                  <a:schemeClr val="tx1"/>
                </a:solidFill>
              </a:rPr>
              <a:t>Seg-Grad-Cam</a:t>
            </a:r>
            <a:endParaRPr dirty="0">
              <a:solidFill>
                <a:schemeClr val="tx1"/>
              </a:solidFill>
            </a:endParaRPr>
          </a:p>
        </p:txBody>
      </p:sp>
      <p:sp>
        <p:nvSpPr>
          <p:cNvPr id="105" name="TextBox 104">
            <a:extLst>
              <a:ext uri="{FF2B5EF4-FFF2-40B4-BE49-F238E27FC236}">
                <a16:creationId xmlns:a16="http://schemas.microsoft.com/office/drawing/2014/main" id="{B4568D0E-F7A1-C347-A640-CFA5754A129A}"/>
              </a:ext>
            </a:extLst>
          </p:cNvPr>
          <p:cNvSpPr txBox="1"/>
          <p:nvPr/>
        </p:nvSpPr>
        <p:spPr>
          <a:xfrm>
            <a:off x="426381" y="4420239"/>
            <a:ext cx="2139377" cy="369332"/>
          </a:xfrm>
          <a:prstGeom prst="rect">
            <a:avLst/>
          </a:prstGeom>
          <a:solidFill>
            <a:schemeClr val="bg1"/>
          </a:solidFill>
        </p:spPr>
        <p:txBody>
          <a:bodyPr wrap="square">
            <a:spAutoFit/>
          </a:bodyPr>
          <a:lstStyle/>
          <a:p>
            <a:r>
              <a:rPr lang="en-CA" dirty="0"/>
              <a:t>(Feature Extraction)</a:t>
            </a:r>
          </a:p>
        </p:txBody>
      </p:sp>
      <p:sp>
        <p:nvSpPr>
          <p:cNvPr id="112" name="Rounded Rectangle 8">
            <a:extLst>
              <a:ext uri="{FF2B5EF4-FFF2-40B4-BE49-F238E27FC236}">
                <a16:creationId xmlns:a16="http://schemas.microsoft.com/office/drawing/2014/main" id="{44494DB6-2E03-6032-4D91-CE9D7D27A627}"/>
              </a:ext>
            </a:extLst>
          </p:cNvPr>
          <p:cNvSpPr/>
          <p:nvPr/>
        </p:nvSpPr>
        <p:spPr>
          <a:xfrm>
            <a:off x="3172771" y="4993066"/>
            <a:ext cx="1399712" cy="591730"/>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A" dirty="0">
                <a:solidFill>
                  <a:schemeClr val="tx1"/>
                </a:solidFill>
              </a:rPr>
              <a:t>ONNX</a:t>
            </a:r>
          </a:p>
          <a:p>
            <a:pPr algn="ctr"/>
            <a:r>
              <a:rPr lang="en-CA" dirty="0">
                <a:solidFill>
                  <a:schemeClr val="tx1"/>
                </a:solidFill>
              </a:rPr>
              <a:t>Web export</a:t>
            </a:r>
            <a:endParaRPr dirty="0">
              <a:solidFill>
                <a:schemeClr val="tx1"/>
              </a:solidFill>
            </a:endParaRPr>
          </a:p>
        </p:txBody>
      </p:sp>
      <p:sp>
        <p:nvSpPr>
          <p:cNvPr id="115" name="TextBox 114">
            <a:extLst>
              <a:ext uri="{FF2B5EF4-FFF2-40B4-BE49-F238E27FC236}">
                <a16:creationId xmlns:a16="http://schemas.microsoft.com/office/drawing/2014/main" id="{0BA8A915-1F49-3EC7-1DE9-7ECBCE7A6DE6}"/>
              </a:ext>
            </a:extLst>
          </p:cNvPr>
          <p:cNvSpPr txBox="1"/>
          <p:nvPr/>
        </p:nvSpPr>
        <p:spPr>
          <a:xfrm>
            <a:off x="2904989" y="4420239"/>
            <a:ext cx="1935277" cy="369332"/>
          </a:xfrm>
          <a:prstGeom prst="rect">
            <a:avLst/>
          </a:prstGeom>
          <a:solidFill>
            <a:schemeClr val="bg1"/>
          </a:solidFill>
        </p:spPr>
        <p:txBody>
          <a:bodyPr wrap="square">
            <a:spAutoFit/>
          </a:bodyPr>
          <a:lstStyle/>
          <a:p>
            <a:r>
              <a:rPr lang="en-CA" dirty="0"/>
              <a:t>(L4 vertebral split)</a:t>
            </a:r>
          </a:p>
        </p:txBody>
      </p:sp>
    </p:spTree>
    <p:extLst>
      <p:ext uri="{BB962C8B-B14F-4D97-AF65-F5344CB8AC3E}">
        <p14:creationId xmlns:p14="http://schemas.microsoft.com/office/powerpoint/2010/main" val="1677496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6857A-B619-5A75-14E8-ABDE63D26C4B}"/>
            </a:ext>
          </a:extLst>
        </p:cNvPr>
        <p:cNvGrpSpPr/>
        <p:nvPr/>
      </p:nvGrpSpPr>
      <p:grpSpPr>
        <a:xfrm>
          <a:off x="0" y="0"/>
          <a:ext cx="0" cy="0"/>
          <a:chOff x="0" y="0"/>
          <a:chExt cx="0" cy="0"/>
        </a:xfrm>
      </p:grpSpPr>
      <p:sp>
        <p:nvSpPr>
          <p:cNvPr id="30" name="Rounded Rectangle 5">
            <a:extLst>
              <a:ext uri="{FF2B5EF4-FFF2-40B4-BE49-F238E27FC236}">
                <a16:creationId xmlns:a16="http://schemas.microsoft.com/office/drawing/2014/main" id="{A5EBFCDC-858E-F920-7B7B-1D31C2EF9944}"/>
              </a:ext>
            </a:extLst>
          </p:cNvPr>
          <p:cNvSpPr/>
          <p:nvPr/>
        </p:nvSpPr>
        <p:spPr>
          <a:xfrm>
            <a:off x="392993" y="4156038"/>
            <a:ext cx="4914113" cy="1821906"/>
          </a:xfrm>
          <a:prstGeom prst="roundRect">
            <a:avLst>
              <a:gd name="adj" fmla="val 4000"/>
            </a:avLst>
          </a:prstGeom>
          <a:solidFill>
            <a:srgbClr val="E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5">
            <a:extLst>
              <a:ext uri="{FF2B5EF4-FFF2-40B4-BE49-F238E27FC236}">
                <a16:creationId xmlns:a16="http://schemas.microsoft.com/office/drawing/2014/main" id="{F3768AB3-DF58-F846-89B0-BEE129D1BF46}"/>
              </a:ext>
            </a:extLst>
          </p:cNvPr>
          <p:cNvSpPr/>
          <p:nvPr/>
        </p:nvSpPr>
        <p:spPr>
          <a:xfrm>
            <a:off x="392993" y="1939681"/>
            <a:ext cx="4914113" cy="1821906"/>
          </a:xfrm>
          <a:prstGeom prst="roundRect">
            <a:avLst>
              <a:gd name="adj" fmla="val 4000"/>
            </a:avLst>
          </a:prstGeom>
          <a:solidFill>
            <a:srgbClr val="E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8">
            <a:extLst>
              <a:ext uri="{FF2B5EF4-FFF2-40B4-BE49-F238E27FC236}">
                <a16:creationId xmlns:a16="http://schemas.microsoft.com/office/drawing/2014/main" id="{3F39BA45-91E0-E2BA-907E-CC2EF357EBFF}"/>
              </a:ext>
            </a:extLst>
          </p:cNvPr>
          <p:cNvSpPr/>
          <p:nvPr/>
        </p:nvSpPr>
        <p:spPr>
          <a:xfrm>
            <a:off x="6298493" y="1939680"/>
            <a:ext cx="5387341" cy="1998621"/>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17E59281-E9D1-F7E4-0888-327535842B35}"/>
              </a:ext>
            </a:extLst>
          </p:cNvPr>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631C82D-D77F-C7AC-CDAB-ECF1CB8D9D4D}"/>
              </a:ext>
            </a:extLst>
          </p:cNvPr>
          <p:cNvSpPr txBox="1"/>
          <p:nvPr/>
        </p:nvSpPr>
        <p:spPr>
          <a:xfrm>
            <a:off x="548640" y="320040"/>
            <a:ext cx="10515600" cy="235962"/>
          </a:xfrm>
          <a:prstGeom prst="rect">
            <a:avLst/>
          </a:prstGeom>
          <a:noFill/>
        </p:spPr>
        <p:txBody>
          <a:bodyPr wrap="square" lIns="25400" tIns="25400" rIns="25400" bIns="25400" anchor="t">
            <a:spAutoFit/>
          </a:bodyPr>
          <a:lstStyle/>
          <a:p>
            <a:pPr>
              <a:spcAft>
                <a:spcPts val="400"/>
              </a:spcAft>
            </a:pPr>
            <a:r>
              <a:rPr lang="en-CA" sz="1200" b="1" dirty="0">
                <a:solidFill>
                  <a:srgbClr val="00838F"/>
                </a:solidFill>
              </a:rPr>
              <a:t>dataset</a:t>
            </a:r>
          </a:p>
        </p:txBody>
      </p:sp>
      <p:sp>
        <p:nvSpPr>
          <p:cNvPr id="4" name="TextBox 3">
            <a:extLst>
              <a:ext uri="{FF2B5EF4-FFF2-40B4-BE49-F238E27FC236}">
                <a16:creationId xmlns:a16="http://schemas.microsoft.com/office/drawing/2014/main" id="{4E430844-A6AB-B269-80C1-5EDABE0D44CD}"/>
              </a:ext>
            </a:extLst>
          </p:cNvPr>
          <p:cNvSpPr txBox="1"/>
          <p:nvPr/>
        </p:nvSpPr>
        <p:spPr>
          <a:xfrm>
            <a:off x="548640" y="566928"/>
            <a:ext cx="11064240" cy="466794"/>
          </a:xfrm>
          <a:prstGeom prst="rect">
            <a:avLst/>
          </a:prstGeom>
          <a:noFill/>
        </p:spPr>
        <p:txBody>
          <a:bodyPr wrap="square" lIns="25400" tIns="25400" rIns="25400" bIns="25400" anchor="t">
            <a:spAutoFit/>
          </a:bodyPr>
          <a:lstStyle/>
          <a:p>
            <a:pPr>
              <a:spcAft>
                <a:spcPts val="400"/>
              </a:spcAft>
            </a:pPr>
            <a:r>
              <a:rPr lang="it-IT" sz="2700" b="1" dirty="0">
                <a:solidFill>
                  <a:srgbClr val="1B324F"/>
                </a:solidFill>
              </a:rPr>
              <a:t>Dataset</a:t>
            </a:r>
          </a:p>
        </p:txBody>
      </p:sp>
      <p:sp>
        <p:nvSpPr>
          <p:cNvPr id="5" name="Rectangle 4">
            <a:extLst>
              <a:ext uri="{FF2B5EF4-FFF2-40B4-BE49-F238E27FC236}">
                <a16:creationId xmlns:a16="http://schemas.microsoft.com/office/drawing/2014/main" id="{6731D27E-692A-CE68-67FB-83BF96BDEB7E}"/>
              </a:ext>
            </a:extLst>
          </p:cNvPr>
          <p:cNvSpPr/>
          <p:nvPr/>
        </p:nvSpPr>
        <p:spPr>
          <a:xfrm>
            <a:off x="1935649"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C130B10-4E47-B7FB-DE86-2B04C2E9CB34}"/>
              </a:ext>
            </a:extLst>
          </p:cNvPr>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12" name="TextBox 11">
            <a:extLst>
              <a:ext uri="{FF2B5EF4-FFF2-40B4-BE49-F238E27FC236}">
                <a16:creationId xmlns:a16="http://schemas.microsoft.com/office/drawing/2014/main" id="{49A4EFE2-7337-52C4-9B14-EAC6A9F5EBA3}"/>
              </a:ext>
            </a:extLst>
          </p:cNvPr>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dirty="0"/>
              <a:t>6/15</a:t>
            </a:r>
            <a:endParaRPr sz="900" b="0" i="0" dirty="0">
              <a:solidFill>
                <a:srgbClr val="5A646E"/>
              </a:solidFill>
              <a:latin typeface="Calibri"/>
            </a:endParaRPr>
          </a:p>
        </p:txBody>
      </p:sp>
      <p:pic>
        <p:nvPicPr>
          <p:cNvPr id="8" name="Picture 7">
            <a:extLst>
              <a:ext uri="{FF2B5EF4-FFF2-40B4-BE49-F238E27FC236}">
                <a16:creationId xmlns:a16="http://schemas.microsoft.com/office/drawing/2014/main" id="{B4F96099-8F45-A7E6-547E-2584284733B9}"/>
              </a:ext>
            </a:extLst>
          </p:cNvPr>
          <p:cNvPicPr>
            <a:picLocks noChangeAspect="1"/>
          </p:cNvPicPr>
          <p:nvPr/>
        </p:nvPicPr>
        <p:blipFill>
          <a:blip r:embed="rId3"/>
          <a:stretch>
            <a:fillRect/>
          </a:stretch>
        </p:blipFill>
        <p:spPr>
          <a:xfrm>
            <a:off x="478888" y="2456656"/>
            <a:ext cx="4742322" cy="1112901"/>
          </a:xfrm>
          <a:prstGeom prst="rect">
            <a:avLst/>
          </a:prstGeom>
        </p:spPr>
      </p:pic>
      <p:pic>
        <p:nvPicPr>
          <p:cNvPr id="14" name="Picture 13">
            <a:extLst>
              <a:ext uri="{FF2B5EF4-FFF2-40B4-BE49-F238E27FC236}">
                <a16:creationId xmlns:a16="http://schemas.microsoft.com/office/drawing/2014/main" id="{025A6D43-64F4-9A02-D9B4-541789CC67A4}"/>
              </a:ext>
            </a:extLst>
          </p:cNvPr>
          <p:cNvPicPr>
            <a:picLocks noChangeAspect="1"/>
          </p:cNvPicPr>
          <p:nvPr/>
        </p:nvPicPr>
        <p:blipFill>
          <a:blip r:embed="rId4"/>
          <a:stretch>
            <a:fillRect/>
          </a:stretch>
        </p:blipFill>
        <p:spPr>
          <a:xfrm>
            <a:off x="495923" y="4685693"/>
            <a:ext cx="4708252" cy="1105335"/>
          </a:xfrm>
          <a:prstGeom prst="rect">
            <a:avLst/>
          </a:prstGeom>
        </p:spPr>
      </p:pic>
      <p:sp>
        <p:nvSpPr>
          <p:cNvPr id="22" name="TextBox 21">
            <a:extLst>
              <a:ext uri="{FF2B5EF4-FFF2-40B4-BE49-F238E27FC236}">
                <a16:creationId xmlns:a16="http://schemas.microsoft.com/office/drawing/2014/main" id="{D733492A-542B-3825-ACF8-DAA1E8319A4D}"/>
              </a:ext>
            </a:extLst>
          </p:cNvPr>
          <p:cNvSpPr txBox="1"/>
          <p:nvPr/>
        </p:nvSpPr>
        <p:spPr>
          <a:xfrm>
            <a:off x="392994" y="2014679"/>
            <a:ext cx="5234938" cy="420628"/>
          </a:xfrm>
          <a:prstGeom prst="rect">
            <a:avLst/>
          </a:prstGeom>
          <a:noFill/>
        </p:spPr>
        <p:txBody>
          <a:bodyPr wrap="square" lIns="25400" tIns="25400" rIns="25400" bIns="25400" anchor="t">
            <a:spAutoFit/>
          </a:bodyPr>
          <a:lstStyle/>
          <a:p>
            <a:pPr algn="ctr">
              <a:lnSpc>
                <a:spcPct val="100000"/>
              </a:lnSpc>
              <a:spcAft>
                <a:spcPts val="400"/>
              </a:spcAft>
            </a:pPr>
            <a:r>
              <a:rPr lang="en-CA" sz="2400" b="1" i="0" dirty="0">
                <a:solidFill>
                  <a:srgbClr val="2E7D32"/>
                </a:solidFill>
                <a:latin typeface="Calibri"/>
              </a:rPr>
              <a:t>2000(train 1700/</a:t>
            </a:r>
            <a:r>
              <a:rPr lang="en-CA" sz="2400" b="1" i="0" dirty="0" err="1">
                <a:solidFill>
                  <a:srgbClr val="2E7D32"/>
                </a:solidFill>
                <a:latin typeface="Calibri"/>
              </a:rPr>
              <a:t>val</a:t>
            </a:r>
            <a:r>
              <a:rPr lang="en-CA" sz="2400" b="1" i="0" dirty="0">
                <a:solidFill>
                  <a:srgbClr val="2E7D32"/>
                </a:solidFill>
                <a:latin typeface="Calibri"/>
              </a:rPr>
              <a:t> 300) AP Dataset</a:t>
            </a:r>
            <a:endParaRPr sz="2400" b="1" i="0" dirty="0">
              <a:solidFill>
                <a:srgbClr val="2E7D32"/>
              </a:solidFill>
              <a:latin typeface="Calibri"/>
            </a:endParaRPr>
          </a:p>
        </p:txBody>
      </p:sp>
      <p:sp>
        <p:nvSpPr>
          <p:cNvPr id="24" name="TextBox 23">
            <a:extLst>
              <a:ext uri="{FF2B5EF4-FFF2-40B4-BE49-F238E27FC236}">
                <a16:creationId xmlns:a16="http://schemas.microsoft.com/office/drawing/2014/main" id="{922FF575-AFE9-DCED-C144-A47B5AB53F91}"/>
              </a:ext>
            </a:extLst>
          </p:cNvPr>
          <p:cNvSpPr txBox="1"/>
          <p:nvPr/>
        </p:nvSpPr>
        <p:spPr>
          <a:xfrm>
            <a:off x="392994" y="4264837"/>
            <a:ext cx="5234938" cy="420628"/>
          </a:xfrm>
          <a:prstGeom prst="rect">
            <a:avLst/>
          </a:prstGeom>
          <a:noFill/>
        </p:spPr>
        <p:txBody>
          <a:bodyPr wrap="square" lIns="25400" tIns="25400" rIns="25400" bIns="25400" anchor="t">
            <a:spAutoFit/>
          </a:bodyPr>
          <a:lstStyle/>
          <a:p>
            <a:pPr algn="ctr">
              <a:lnSpc>
                <a:spcPct val="100000"/>
              </a:lnSpc>
              <a:spcAft>
                <a:spcPts val="400"/>
              </a:spcAft>
            </a:pPr>
            <a:r>
              <a:rPr lang="en-CA" sz="2400" b="1" dirty="0">
                <a:solidFill>
                  <a:srgbClr val="2E7D32"/>
                </a:solidFill>
              </a:rPr>
              <a:t>2000(train 1700/</a:t>
            </a:r>
            <a:r>
              <a:rPr lang="en-CA" sz="2400" b="1" dirty="0" err="1">
                <a:solidFill>
                  <a:srgbClr val="2E7D32"/>
                </a:solidFill>
              </a:rPr>
              <a:t>val</a:t>
            </a:r>
            <a:r>
              <a:rPr lang="en-CA" sz="2400" b="1" dirty="0">
                <a:solidFill>
                  <a:srgbClr val="2E7D32"/>
                </a:solidFill>
              </a:rPr>
              <a:t> 300) </a:t>
            </a:r>
            <a:r>
              <a:rPr lang="en-CA" sz="2400" b="1" i="0" dirty="0">
                <a:solidFill>
                  <a:srgbClr val="2E7D32"/>
                </a:solidFill>
                <a:latin typeface="Calibri"/>
              </a:rPr>
              <a:t>LA Dataset</a:t>
            </a:r>
            <a:endParaRPr sz="2400" b="1" i="0" dirty="0">
              <a:solidFill>
                <a:srgbClr val="2E7D32"/>
              </a:solidFill>
              <a:latin typeface="Calibri"/>
            </a:endParaRPr>
          </a:p>
        </p:txBody>
      </p:sp>
      <p:pic>
        <p:nvPicPr>
          <p:cNvPr id="27" name="Picture 26">
            <a:extLst>
              <a:ext uri="{FF2B5EF4-FFF2-40B4-BE49-F238E27FC236}">
                <a16:creationId xmlns:a16="http://schemas.microsoft.com/office/drawing/2014/main" id="{6494F79A-2B3F-F672-D6DC-535B518A7E7E}"/>
              </a:ext>
            </a:extLst>
          </p:cNvPr>
          <p:cNvPicPr>
            <a:picLocks noChangeAspect="1"/>
          </p:cNvPicPr>
          <p:nvPr/>
        </p:nvPicPr>
        <p:blipFill>
          <a:blip r:embed="rId5"/>
          <a:stretch>
            <a:fillRect/>
          </a:stretch>
        </p:blipFill>
        <p:spPr>
          <a:xfrm>
            <a:off x="6473534" y="2510306"/>
            <a:ext cx="5037258" cy="1095262"/>
          </a:xfrm>
          <a:prstGeom prst="rect">
            <a:avLst/>
          </a:prstGeom>
        </p:spPr>
      </p:pic>
      <p:sp>
        <p:nvSpPr>
          <p:cNvPr id="32" name="Rectangle 31">
            <a:extLst>
              <a:ext uri="{FF2B5EF4-FFF2-40B4-BE49-F238E27FC236}">
                <a16:creationId xmlns:a16="http://schemas.microsoft.com/office/drawing/2014/main" id="{464476E4-1A1E-CF91-FFE6-ADB393BED59F}"/>
              </a:ext>
            </a:extLst>
          </p:cNvPr>
          <p:cNvSpPr/>
          <p:nvPr/>
        </p:nvSpPr>
        <p:spPr>
          <a:xfrm>
            <a:off x="129540" y="1379220"/>
            <a:ext cx="5761846" cy="4911852"/>
          </a:xfrm>
          <a:prstGeom prst="rect">
            <a:avLst/>
          </a:prstGeom>
          <a:noFill/>
          <a:ln>
            <a:prstDash val="sysDash"/>
          </a:ln>
        </p:spPr>
        <p:style>
          <a:lnRef idx="1">
            <a:schemeClr val="accent1"/>
          </a:lnRef>
          <a:fillRef idx="3">
            <a:schemeClr val="accent1"/>
          </a:fillRef>
          <a:effectRef idx="2">
            <a:schemeClr val="accent1"/>
          </a:effectRef>
          <a:fontRef idx="minor">
            <a:schemeClr val="lt1"/>
          </a:fontRef>
        </p:style>
        <p:txBody>
          <a:bodyPr rtlCol="0" anchor="t"/>
          <a:lstStyle/>
          <a:p>
            <a:pPr algn="ctr"/>
            <a:r>
              <a:rPr lang="en-CA" sz="2400" dirty="0">
                <a:solidFill>
                  <a:schemeClr val="tx1"/>
                </a:solidFill>
              </a:rPr>
              <a:t>Training/Validation Dataset (BUU dataset)</a:t>
            </a:r>
          </a:p>
        </p:txBody>
      </p:sp>
      <p:sp>
        <p:nvSpPr>
          <p:cNvPr id="36" name="TextBox 35">
            <a:extLst>
              <a:ext uri="{FF2B5EF4-FFF2-40B4-BE49-F238E27FC236}">
                <a16:creationId xmlns:a16="http://schemas.microsoft.com/office/drawing/2014/main" id="{A22070FF-6F99-1D10-F51D-2DF25D72E1CA}"/>
              </a:ext>
            </a:extLst>
          </p:cNvPr>
          <p:cNvSpPr txBox="1"/>
          <p:nvPr/>
        </p:nvSpPr>
        <p:spPr>
          <a:xfrm>
            <a:off x="6659662" y="2014679"/>
            <a:ext cx="4665002" cy="420628"/>
          </a:xfrm>
          <a:prstGeom prst="rect">
            <a:avLst/>
          </a:prstGeom>
          <a:noFill/>
        </p:spPr>
        <p:txBody>
          <a:bodyPr wrap="square" lIns="25400" tIns="25400" rIns="25400" bIns="25400" anchor="t">
            <a:spAutoFit/>
          </a:bodyPr>
          <a:lstStyle/>
          <a:p>
            <a:pPr algn="ctr">
              <a:lnSpc>
                <a:spcPct val="100000"/>
              </a:lnSpc>
              <a:spcAft>
                <a:spcPts val="400"/>
              </a:spcAft>
            </a:pPr>
            <a:r>
              <a:rPr lang="en-CA" sz="2400" b="1" i="0" dirty="0">
                <a:solidFill>
                  <a:srgbClr val="2E7D32"/>
                </a:solidFill>
                <a:latin typeface="Calibri"/>
              </a:rPr>
              <a:t>42 AP Dataset</a:t>
            </a:r>
            <a:endParaRPr sz="2400" b="1" i="0" dirty="0">
              <a:solidFill>
                <a:srgbClr val="2E7D32"/>
              </a:solidFill>
              <a:latin typeface="Calibri"/>
            </a:endParaRPr>
          </a:p>
        </p:txBody>
      </p:sp>
      <p:sp>
        <p:nvSpPr>
          <p:cNvPr id="38" name="Rectangle 37">
            <a:extLst>
              <a:ext uri="{FF2B5EF4-FFF2-40B4-BE49-F238E27FC236}">
                <a16:creationId xmlns:a16="http://schemas.microsoft.com/office/drawing/2014/main" id="{08971F01-33E7-8EE7-1013-5D8CA4EB7C8D}"/>
              </a:ext>
            </a:extLst>
          </p:cNvPr>
          <p:cNvSpPr/>
          <p:nvPr/>
        </p:nvSpPr>
        <p:spPr>
          <a:xfrm>
            <a:off x="6111240" y="1379220"/>
            <a:ext cx="5761846" cy="4911852"/>
          </a:xfrm>
          <a:prstGeom prst="rect">
            <a:avLst/>
          </a:prstGeom>
          <a:noFill/>
          <a:ln>
            <a:prstDash val="sysDash"/>
          </a:ln>
        </p:spPr>
        <p:style>
          <a:lnRef idx="1">
            <a:schemeClr val="accent1"/>
          </a:lnRef>
          <a:fillRef idx="3">
            <a:schemeClr val="accent1"/>
          </a:fillRef>
          <a:effectRef idx="2">
            <a:schemeClr val="accent1"/>
          </a:effectRef>
          <a:fontRef idx="minor">
            <a:schemeClr val="lt1"/>
          </a:fontRef>
        </p:style>
        <p:txBody>
          <a:bodyPr rtlCol="0" anchor="t"/>
          <a:lstStyle/>
          <a:p>
            <a:pPr algn="ctr"/>
            <a:r>
              <a:rPr lang="en-CA" sz="2400" dirty="0">
                <a:solidFill>
                  <a:schemeClr val="tx1"/>
                </a:solidFill>
              </a:rPr>
              <a:t>Test Dataset (DICOM dataset)</a:t>
            </a:r>
          </a:p>
        </p:txBody>
      </p:sp>
      <p:sp>
        <p:nvSpPr>
          <p:cNvPr id="40" name="Rounded Rectangle 8">
            <a:extLst>
              <a:ext uri="{FF2B5EF4-FFF2-40B4-BE49-F238E27FC236}">
                <a16:creationId xmlns:a16="http://schemas.microsoft.com/office/drawing/2014/main" id="{F141D04F-08D5-9C86-39D9-51C0AC30EF9E}"/>
              </a:ext>
            </a:extLst>
          </p:cNvPr>
          <p:cNvSpPr/>
          <p:nvPr/>
        </p:nvSpPr>
        <p:spPr>
          <a:xfrm>
            <a:off x="6298493" y="4148001"/>
            <a:ext cx="5387341" cy="672196"/>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085C991C-D277-F6DE-AC28-9887381ED468}"/>
              </a:ext>
            </a:extLst>
          </p:cNvPr>
          <p:cNvSpPr txBox="1"/>
          <p:nvPr/>
        </p:nvSpPr>
        <p:spPr>
          <a:xfrm>
            <a:off x="6374694" y="4264837"/>
            <a:ext cx="5234938" cy="420628"/>
          </a:xfrm>
          <a:prstGeom prst="rect">
            <a:avLst/>
          </a:prstGeom>
          <a:noFill/>
        </p:spPr>
        <p:txBody>
          <a:bodyPr wrap="square" lIns="25400" tIns="25400" rIns="25400" bIns="25400" anchor="t">
            <a:spAutoFit/>
          </a:bodyPr>
          <a:lstStyle/>
          <a:p>
            <a:pPr algn="ctr">
              <a:lnSpc>
                <a:spcPct val="100000"/>
              </a:lnSpc>
              <a:spcAft>
                <a:spcPts val="400"/>
              </a:spcAft>
            </a:pPr>
            <a:r>
              <a:rPr lang="en-CA" sz="2400" b="1" i="0" dirty="0">
                <a:solidFill>
                  <a:srgbClr val="2E7D32"/>
                </a:solidFill>
                <a:latin typeface="Calibri"/>
              </a:rPr>
              <a:t>0 LA Dataset</a:t>
            </a:r>
            <a:endParaRPr sz="2400" b="1" i="0" dirty="0">
              <a:solidFill>
                <a:srgbClr val="2E7D32"/>
              </a:solidFill>
              <a:latin typeface="Calibri"/>
            </a:endParaRPr>
          </a:p>
        </p:txBody>
      </p:sp>
    </p:spTree>
    <p:extLst>
      <p:ext uri="{BB962C8B-B14F-4D97-AF65-F5344CB8AC3E}">
        <p14:creationId xmlns:p14="http://schemas.microsoft.com/office/powerpoint/2010/main" val="3209961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515600" cy="235962"/>
          </a:xfrm>
          <a:prstGeom prst="rect">
            <a:avLst/>
          </a:prstGeom>
          <a:noFill/>
        </p:spPr>
        <p:txBody>
          <a:bodyPr wrap="square" lIns="25400" tIns="25400" rIns="25400" bIns="25400" anchor="t">
            <a:spAutoFit/>
          </a:bodyPr>
          <a:lstStyle/>
          <a:p>
            <a:pPr algn="l">
              <a:lnSpc>
                <a:spcPct val="100000"/>
              </a:lnSpc>
              <a:spcAft>
                <a:spcPts val="400"/>
              </a:spcAft>
            </a:pPr>
            <a:r>
              <a:rPr sz="1200" b="1" i="0" dirty="0">
                <a:solidFill>
                  <a:srgbClr val="00838F"/>
                </a:solidFill>
                <a:latin typeface="Calibri"/>
              </a:rPr>
              <a:t>STEP </a:t>
            </a:r>
            <a:r>
              <a:rPr lang="en-CA" sz="1200" b="1" i="0" dirty="0">
                <a:solidFill>
                  <a:srgbClr val="00838F"/>
                </a:solidFill>
                <a:latin typeface="Calibri"/>
              </a:rPr>
              <a:t>1</a:t>
            </a:r>
            <a:endParaRPr sz="1200" b="1" i="0" dirty="0">
              <a:solidFill>
                <a:srgbClr val="00838F"/>
              </a:solidFill>
              <a:latin typeface="Calibri"/>
            </a:endParaRPr>
          </a:p>
        </p:txBody>
      </p:sp>
      <p:sp>
        <p:nvSpPr>
          <p:cNvPr id="4" name="TextBox 3"/>
          <p:cNvSpPr txBox="1"/>
          <p:nvPr/>
        </p:nvSpPr>
        <p:spPr>
          <a:xfrm>
            <a:off x="548640" y="566928"/>
            <a:ext cx="11064240" cy="640080"/>
          </a:xfrm>
          <a:prstGeom prst="rect">
            <a:avLst/>
          </a:prstGeom>
          <a:noFill/>
        </p:spPr>
        <p:txBody>
          <a:bodyPr wrap="square" lIns="25400" tIns="25400" rIns="25400" bIns="25400" anchor="t">
            <a:spAutoFit/>
          </a:bodyPr>
          <a:lstStyle/>
          <a:p>
            <a:pPr algn="l">
              <a:lnSpc>
                <a:spcPct val="100000"/>
              </a:lnSpc>
              <a:spcAft>
                <a:spcPts val="400"/>
              </a:spcAft>
            </a:pPr>
            <a:r>
              <a:rPr sz="2700" b="1" i="0">
                <a:solidFill>
                  <a:srgbClr val="1B324F"/>
                </a:solidFill>
                <a:latin typeface="Calibri"/>
              </a:rPr>
              <a:t>Finding the L4 vertebra</a:t>
            </a:r>
          </a:p>
        </p:txBody>
      </p:sp>
      <p:sp>
        <p:nvSpPr>
          <p:cNvPr id="5" name="Rectangle 4"/>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54140" y="1845644"/>
            <a:ext cx="5570220" cy="1485407"/>
          </a:xfrm>
          <a:prstGeom prst="rect">
            <a:avLst/>
          </a:prstGeom>
          <a:noFill/>
        </p:spPr>
        <p:txBody>
          <a:bodyPr wrap="square" lIns="25400" tIns="25400" rIns="25400" bIns="25400" anchor="t">
            <a:spAutoFit/>
          </a:bodyPr>
          <a:lstStyle/>
          <a:p>
            <a:pPr algn="l">
              <a:lnSpc>
                <a:spcPct val="112000"/>
              </a:lnSpc>
              <a:spcAft>
                <a:spcPts val="400"/>
              </a:spcAft>
            </a:pPr>
            <a:r>
              <a:rPr sz="1700" b="1" i="0" dirty="0">
                <a:solidFill>
                  <a:srgbClr val="1B324F"/>
                </a:solidFill>
                <a:latin typeface="Calibri"/>
              </a:rPr>
              <a:t>AI segmentation (YOLOv8-seg)</a:t>
            </a:r>
          </a:p>
          <a:p>
            <a:pPr algn="l">
              <a:lnSpc>
                <a:spcPct val="112000"/>
              </a:lnSpc>
              <a:spcAft>
                <a:spcPts val="400"/>
              </a:spcAft>
            </a:pPr>
            <a:r>
              <a:rPr sz="1400" b="0" i="0" dirty="0">
                <a:solidFill>
                  <a:srgbClr val="222A33"/>
                </a:solidFill>
                <a:latin typeface="Calibri"/>
              </a:rPr>
              <a:t>It outlines each vertebra L1-L5 as a separate object.</a:t>
            </a:r>
          </a:p>
          <a:p>
            <a:pPr algn="l">
              <a:lnSpc>
                <a:spcPct val="112000"/>
              </a:lnSpc>
              <a:spcAft>
                <a:spcPts val="400"/>
              </a:spcAft>
            </a:pPr>
            <a:r>
              <a:rPr sz="1400" b="0" i="0" dirty="0">
                <a:solidFill>
                  <a:srgbClr val="222A33"/>
                </a:solidFill>
                <a:latin typeface="Calibri"/>
              </a:rPr>
              <a:t>L4 is selected by its label, with a 4th-from-top backup rule.</a:t>
            </a:r>
          </a:p>
          <a:p>
            <a:pPr algn="l">
              <a:lnSpc>
                <a:spcPct val="112000"/>
              </a:lnSpc>
              <a:spcAft>
                <a:spcPts val="400"/>
              </a:spcAft>
            </a:pPr>
            <a:r>
              <a:rPr sz="1400" b="0" i="0" dirty="0">
                <a:solidFill>
                  <a:srgbClr val="222A33"/>
                </a:solidFill>
                <a:latin typeface="Calibri"/>
              </a:rPr>
              <a:t>Output: a clean L4 outline at full image resolution.</a:t>
            </a:r>
          </a:p>
          <a:p>
            <a:pPr algn="l">
              <a:lnSpc>
                <a:spcPct val="112000"/>
              </a:lnSpc>
              <a:spcAft>
                <a:spcPts val="400"/>
              </a:spcAft>
            </a:pPr>
            <a:r>
              <a:rPr sz="1300" b="1" i="0" dirty="0">
                <a:solidFill>
                  <a:srgbClr val="00838F"/>
                </a:solidFill>
                <a:latin typeface="Calibri"/>
              </a:rPr>
              <a:t>Blue = all vertebrae   ·   Green = selected L4</a:t>
            </a:r>
          </a:p>
        </p:txBody>
      </p:sp>
      <p:pic>
        <p:nvPicPr>
          <p:cNvPr id="7" name="Picture 6" descr="detect_overlay.png"/>
          <p:cNvPicPr>
            <a:picLocks noChangeAspect="1"/>
          </p:cNvPicPr>
          <p:nvPr/>
        </p:nvPicPr>
        <p:blipFill>
          <a:blip r:embed="rId3"/>
          <a:stretch>
            <a:fillRect/>
          </a:stretch>
        </p:blipFill>
        <p:spPr>
          <a:xfrm>
            <a:off x="6307897" y="4228629"/>
            <a:ext cx="5716463" cy="1808681"/>
          </a:xfrm>
          <a:prstGeom prst="rect">
            <a:avLst/>
          </a:prstGeom>
        </p:spPr>
      </p:pic>
      <p:sp>
        <p:nvSpPr>
          <p:cNvPr id="8" name="TextBox 7"/>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9" name="TextBox 8"/>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solidFill>
                  <a:srgbClr val="5A646E"/>
                </a:solidFill>
                <a:latin typeface="Calibri"/>
              </a:rPr>
              <a:t>7</a:t>
            </a:r>
            <a:r>
              <a:rPr lang="en-CA" sz="900" dirty="0"/>
              <a:t>/15</a:t>
            </a:r>
            <a:endParaRPr sz="900" b="0" i="0" dirty="0">
              <a:solidFill>
                <a:srgbClr val="5A646E"/>
              </a:solidFill>
              <a:latin typeface="Calibri"/>
            </a:endParaRPr>
          </a:p>
        </p:txBody>
      </p:sp>
      <p:pic>
        <p:nvPicPr>
          <p:cNvPr id="15" name="Picture 14">
            <a:extLst>
              <a:ext uri="{FF2B5EF4-FFF2-40B4-BE49-F238E27FC236}">
                <a16:creationId xmlns:a16="http://schemas.microsoft.com/office/drawing/2014/main" id="{B8428F4F-D8CE-58B8-17A9-1F9644CB2E90}"/>
              </a:ext>
            </a:extLst>
          </p:cNvPr>
          <p:cNvPicPr>
            <a:picLocks noChangeAspect="1"/>
          </p:cNvPicPr>
          <p:nvPr/>
        </p:nvPicPr>
        <p:blipFill>
          <a:blip r:embed="rId4"/>
          <a:stretch>
            <a:fillRect/>
          </a:stretch>
        </p:blipFill>
        <p:spPr>
          <a:xfrm>
            <a:off x="309175" y="3710312"/>
            <a:ext cx="5880160" cy="2362827"/>
          </a:xfrm>
          <a:prstGeom prst="rect">
            <a:avLst/>
          </a:prstGeom>
        </p:spPr>
      </p:pic>
      <p:pic>
        <p:nvPicPr>
          <p:cNvPr id="17" name="Picture 16">
            <a:extLst>
              <a:ext uri="{FF2B5EF4-FFF2-40B4-BE49-F238E27FC236}">
                <a16:creationId xmlns:a16="http://schemas.microsoft.com/office/drawing/2014/main" id="{B22D2D6F-4131-3187-E847-DF903B5B8AB2}"/>
              </a:ext>
            </a:extLst>
          </p:cNvPr>
          <p:cNvPicPr>
            <a:picLocks noChangeAspect="1"/>
          </p:cNvPicPr>
          <p:nvPr/>
        </p:nvPicPr>
        <p:blipFill>
          <a:blip r:embed="rId5"/>
          <a:stretch>
            <a:fillRect/>
          </a:stretch>
        </p:blipFill>
        <p:spPr>
          <a:xfrm>
            <a:off x="167640" y="1551432"/>
            <a:ext cx="6027020" cy="21979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515600" cy="274320"/>
          </a:xfrm>
          <a:prstGeom prst="rect">
            <a:avLst/>
          </a:prstGeom>
          <a:noFill/>
        </p:spPr>
        <p:txBody>
          <a:bodyPr wrap="square" lIns="25400" tIns="25400" rIns="25400" bIns="25400" anchor="t">
            <a:spAutoFit/>
          </a:bodyPr>
          <a:lstStyle/>
          <a:p>
            <a:pPr algn="l">
              <a:lnSpc>
                <a:spcPct val="100000"/>
              </a:lnSpc>
              <a:spcAft>
                <a:spcPts val="400"/>
              </a:spcAft>
            </a:pPr>
            <a:r>
              <a:rPr sz="1200" b="1" i="0">
                <a:solidFill>
                  <a:srgbClr val="00838F"/>
                </a:solidFill>
                <a:latin typeface="Calibri"/>
              </a:rPr>
              <a:t>VALIDATION</a:t>
            </a:r>
          </a:p>
        </p:txBody>
      </p:sp>
      <p:sp>
        <p:nvSpPr>
          <p:cNvPr id="4" name="TextBox 3"/>
          <p:cNvSpPr txBox="1"/>
          <p:nvPr/>
        </p:nvSpPr>
        <p:spPr>
          <a:xfrm>
            <a:off x="548640" y="566928"/>
            <a:ext cx="11064240" cy="640080"/>
          </a:xfrm>
          <a:prstGeom prst="rect">
            <a:avLst/>
          </a:prstGeom>
          <a:noFill/>
        </p:spPr>
        <p:txBody>
          <a:bodyPr wrap="square" lIns="25400" tIns="25400" rIns="25400" bIns="25400" anchor="t">
            <a:spAutoFit/>
          </a:bodyPr>
          <a:lstStyle/>
          <a:p>
            <a:pPr algn="l">
              <a:lnSpc>
                <a:spcPct val="100000"/>
              </a:lnSpc>
              <a:spcAft>
                <a:spcPts val="400"/>
              </a:spcAft>
            </a:pPr>
            <a:r>
              <a:rPr sz="2700" b="1" i="0">
                <a:solidFill>
                  <a:srgbClr val="1B324F"/>
                </a:solidFill>
                <a:latin typeface="Calibri"/>
              </a:rPr>
              <a:t>The detector is accurate (in-domain)</a:t>
            </a:r>
          </a:p>
        </p:txBody>
      </p:sp>
      <p:sp>
        <p:nvSpPr>
          <p:cNvPr id="5" name="Rectangle 4"/>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6264" y="1554480"/>
            <a:ext cx="1324952" cy="137160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6264" y="1737360"/>
            <a:ext cx="1324952" cy="512961"/>
          </a:xfrm>
          <a:prstGeom prst="rect">
            <a:avLst/>
          </a:prstGeom>
          <a:noFill/>
        </p:spPr>
        <p:txBody>
          <a:bodyPr wrap="square" lIns="25400" tIns="25400" rIns="25400" bIns="25400" anchor="t">
            <a:spAutoFit/>
          </a:bodyPr>
          <a:lstStyle/>
          <a:p>
            <a:pPr algn="ctr">
              <a:lnSpc>
                <a:spcPct val="100000"/>
              </a:lnSpc>
              <a:spcAft>
                <a:spcPts val="400"/>
              </a:spcAft>
            </a:pPr>
            <a:r>
              <a:rPr sz="3000" b="1" i="0">
                <a:solidFill>
                  <a:srgbClr val="00838F"/>
                </a:solidFill>
                <a:latin typeface="Calibri"/>
              </a:rPr>
              <a:t>0.97</a:t>
            </a:r>
          </a:p>
        </p:txBody>
      </p:sp>
      <p:sp>
        <p:nvSpPr>
          <p:cNvPr id="8" name="TextBox 7"/>
          <p:cNvSpPr txBox="1"/>
          <p:nvPr/>
        </p:nvSpPr>
        <p:spPr>
          <a:xfrm>
            <a:off x="686264" y="2423160"/>
            <a:ext cx="1324952" cy="235962"/>
          </a:xfrm>
          <a:prstGeom prst="rect">
            <a:avLst/>
          </a:prstGeom>
          <a:noFill/>
        </p:spPr>
        <p:txBody>
          <a:bodyPr wrap="square" lIns="25400" tIns="25400" rIns="25400" bIns="25400" anchor="t">
            <a:spAutoFit/>
          </a:bodyPr>
          <a:lstStyle/>
          <a:p>
            <a:pPr algn="ctr">
              <a:lnSpc>
                <a:spcPct val="100000"/>
              </a:lnSpc>
              <a:spcAft>
                <a:spcPts val="400"/>
              </a:spcAft>
            </a:pPr>
            <a:r>
              <a:rPr sz="1200" b="1" i="0">
                <a:solidFill>
                  <a:srgbClr val="5A646E"/>
                </a:solidFill>
                <a:latin typeface="Calibri"/>
              </a:rPr>
              <a:t>Mask mAP@50</a:t>
            </a:r>
          </a:p>
        </p:txBody>
      </p:sp>
      <p:sp>
        <p:nvSpPr>
          <p:cNvPr id="9" name="Rounded Rectangle 8"/>
          <p:cNvSpPr/>
          <p:nvPr/>
        </p:nvSpPr>
        <p:spPr>
          <a:xfrm>
            <a:off x="2107218" y="1554480"/>
            <a:ext cx="1324952" cy="137160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07218" y="1737360"/>
            <a:ext cx="1324952" cy="512961"/>
          </a:xfrm>
          <a:prstGeom prst="rect">
            <a:avLst/>
          </a:prstGeom>
          <a:noFill/>
        </p:spPr>
        <p:txBody>
          <a:bodyPr wrap="square" lIns="25400" tIns="25400" rIns="25400" bIns="25400" anchor="t">
            <a:spAutoFit/>
          </a:bodyPr>
          <a:lstStyle/>
          <a:p>
            <a:pPr algn="ctr">
              <a:lnSpc>
                <a:spcPct val="100000"/>
              </a:lnSpc>
              <a:spcAft>
                <a:spcPts val="400"/>
              </a:spcAft>
            </a:pPr>
            <a:r>
              <a:rPr sz="3000" b="1" i="0">
                <a:solidFill>
                  <a:srgbClr val="1B324F"/>
                </a:solidFill>
                <a:latin typeface="Calibri"/>
              </a:rPr>
              <a:t>0.95</a:t>
            </a:r>
          </a:p>
        </p:txBody>
      </p:sp>
      <p:sp>
        <p:nvSpPr>
          <p:cNvPr id="11" name="TextBox 10"/>
          <p:cNvSpPr txBox="1"/>
          <p:nvPr/>
        </p:nvSpPr>
        <p:spPr>
          <a:xfrm>
            <a:off x="2107218" y="2423160"/>
            <a:ext cx="1324952" cy="235962"/>
          </a:xfrm>
          <a:prstGeom prst="rect">
            <a:avLst/>
          </a:prstGeom>
          <a:noFill/>
        </p:spPr>
        <p:txBody>
          <a:bodyPr wrap="square" lIns="25400" tIns="25400" rIns="25400" bIns="25400" anchor="t">
            <a:spAutoFit/>
          </a:bodyPr>
          <a:lstStyle/>
          <a:p>
            <a:pPr algn="ctr">
              <a:lnSpc>
                <a:spcPct val="100000"/>
              </a:lnSpc>
              <a:spcAft>
                <a:spcPts val="400"/>
              </a:spcAft>
            </a:pPr>
            <a:r>
              <a:rPr sz="1200" b="1" i="0">
                <a:solidFill>
                  <a:srgbClr val="5A646E"/>
                </a:solidFill>
                <a:latin typeface="Calibri"/>
              </a:rPr>
              <a:t>Precision</a:t>
            </a:r>
          </a:p>
        </p:txBody>
      </p:sp>
      <p:sp>
        <p:nvSpPr>
          <p:cNvPr id="12" name="Rounded Rectangle 11"/>
          <p:cNvSpPr/>
          <p:nvPr/>
        </p:nvSpPr>
        <p:spPr>
          <a:xfrm>
            <a:off x="3510061" y="1554480"/>
            <a:ext cx="1324952" cy="137160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10061" y="1737360"/>
            <a:ext cx="1324952" cy="512961"/>
          </a:xfrm>
          <a:prstGeom prst="rect">
            <a:avLst/>
          </a:prstGeom>
          <a:noFill/>
        </p:spPr>
        <p:txBody>
          <a:bodyPr wrap="square" lIns="25400" tIns="25400" rIns="25400" bIns="25400" anchor="t">
            <a:spAutoFit/>
          </a:bodyPr>
          <a:lstStyle/>
          <a:p>
            <a:pPr algn="ctr">
              <a:lnSpc>
                <a:spcPct val="100000"/>
              </a:lnSpc>
              <a:spcAft>
                <a:spcPts val="400"/>
              </a:spcAft>
            </a:pPr>
            <a:r>
              <a:rPr sz="3000" b="1" i="0">
                <a:solidFill>
                  <a:srgbClr val="1B324F"/>
                </a:solidFill>
                <a:latin typeface="Calibri"/>
              </a:rPr>
              <a:t>0.96</a:t>
            </a:r>
          </a:p>
        </p:txBody>
      </p:sp>
      <p:sp>
        <p:nvSpPr>
          <p:cNvPr id="14" name="TextBox 13"/>
          <p:cNvSpPr txBox="1"/>
          <p:nvPr/>
        </p:nvSpPr>
        <p:spPr>
          <a:xfrm>
            <a:off x="3510061" y="2423160"/>
            <a:ext cx="1324952" cy="235962"/>
          </a:xfrm>
          <a:prstGeom prst="rect">
            <a:avLst/>
          </a:prstGeom>
          <a:noFill/>
        </p:spPr>
        <p:txBody>
          <a:bodyPr wrap="square" lIns="25400" tIns="25400" rIns="25400" bIns="25400" anchor="t">
            <a:spAutoFit/>
          </a:bodyPr>
          <a:lstStyle/>
          <a:p>
            <a:pPr algn="ctr">
              <a:lnSpc>
                <a:spcPct val="100000"/>
              </a:lnSpc>
              <a:spcAft>
                <a:spcPts val="400"/>
              </a:spcAft>
            </a:pPr>
            <a:r>
              <a:rPr sz="1200" b="1" i="0">
                <a:solidFill>
                  <a:srgbClr val="5A646E"/>
                </a:solidFill>
                <a:latin typeface="Calibri"/>
              </a:rPr>
              <a:t>Recall</a:t>
            </a:r>
          </a:p>
        </p:txBody>
      </p:sp>
      <p:sp>
        <p:nvSpPr>
          <p:cNvPr id="15" name="Rounded Rectangle 14"/>
          <p:cNvSpPr/>
          <p:nvPr/>
        </p:nvSpPr>
        <p:spPr>
          <a:xfrm>
            <a:off x="4903845" y="1554480"/>
            <a:ext cx="1324952" cy="137160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03845" y="1737360"/>
            <a:ext cx="1324952" cy="512961"/>
          </a:xfrm>
          <a:prstGeom prst="rect">
            <a:avLst/>
          </a:prstGeom>
          <a:noFill/>
        </p:spPr>
        <p:txBody>
          <a:bodyPr wrap="square" lIns="25400" tIns="25400" rIns="25400" bIns="25400" anchor="t">
            <a:spAutoFit/>
          </a:bodyPr>
          <a:lstStyle/>
          <a:p>
            <a:pPr algn="ctr">
              <a:lnSpc>
                <a:spcPct val="100000"/>
              </a:lnSpc>
              <a:spcAft>
                <a:spcPts val="400"/>
              </a:spcAft>
            </a:pPr>
            <a:r>
              <a:rPr sz="3000" b="1" i="0">
                <a:solidFill>
                  <a:srgbClr val="5A646E"/>
                </a:solidFill>
                <a:latin typeface="Calibri"/>
              </a:rPr>
              <a:t>0.76</a:t>
            </a:r>
          </a:p>
        </p:txBody>
      </p:sp>
      <p:sp>
        <p:nvSpPr>
          <p:cNvPr id="17" name="TextBox 16"/>
          <p:cNvSpPr txBox="1"/>
          <p:nvPr/>
        </p:nvSpPr>
        <p:spPr>
          <a:xfrm>
            <a:off x="4903845" y="2423160"/>
            <a:ext cx="1324952" cy="235962"/>
          </a:xfrm>
          <a:prstGeom prst="rect">
            <a:avLst/>
          </a:prstGeom>
          <a:noFill/>
        </p:spPr>
        <p:txBody>
          <a:bodyPr wrap="square" lIns="25400" tIns="25400" rIns="25400" bIns="25400" anchor="t">
            <a:spAutoFit/>
          </a:bodyPr>
          <a:lstStyle/>
          <a:p>
            <a:pPr algn="ctr">
              <a:lnSpc>
                <a:spcPct val="100000"/>
              </a:lnSpc>
              <a:spcAft>
                <a:spcPts val="400"/>
              </a:spcAft>
            </a:pPr>
            <a:r>
              <a:rPr sz="1200" b="1" i="0">
                <a:solidFill>
                  <a:srgbClr val="5A646E"/>
                </a:solidFill>
                <a:latin typeface="Calibri"/>
              </a:rPr>
              <a:t>mAP@50-95</a:t>
            </a:r>
          </a:p>
        </p:txBody>
      </p:sp>
      <p:sp>
        <p:nvSpPr>
          <p:cNvPr id="18" name="TextBox 17"/>
          <p:cNvSpPr txBox="1"/>
          <p:nvPr/>
        </p:nvSpPr>
        <p:spPr>
          <a:xfrm>
            <a:off x="360127" y="2926080"/>
            <a:ext cx="6142274" cy="1365567"/>
          </a:xfrm>
          <a:prstGeom prst="rect">
            <a:avLst/>
          </a:prstGeom>
          <a:noFill/>
        </p:spPr>
        <p:txBody>
          <a:bodyPr wrap="square" lIns="25400" tIns="25400" rIns="25400" bIns="25400" anchor="t">
            <a:spAutoFit/>
          </a:bodyPr>
          <a:lstStyle/>
          <a:p>
            <a:pPr algn="l">
              <a:lnSpc>
                <a:spcPct val="112000"/>
              </a:lnSpc>
              <a:spcAft>
                <a:spcPts val="400"/>
              </a:spcAft>
            </a:pPr>
            <a:r>
              <a:rPr sz="1500" b="0" i="0" dirty="0">
                <a:solidFill>
                  <a:srgbClr val="222A33"/>
                </a:solidFill>
                <a:latin typeface="Calibri"/>
              </a:rPr>
              <a:t>On held-out validation X-rays, the model finds and outlines vertebrae very reliably.</a:t>
            </a:r>
          </a:p>
          <a:p>
            <a:pPr algn="l">
              <a:lnSpc>
                <a:spcPct val="112000"/>
              </a:lnSpc>
              <a:spcAft>
                <a:spcPts val="400"/>
              </a:spcAft>
            </a:pPr>
            <a:r>
              <a:rPr sz="1400" b="0" i="0" dirty="0">
                <a:solidFill>
                  <a:srgbClr val="5A646E"/>
                </a:solidFill>
                <a:latin typeface="Calibri"/>
              </a:rPr>
              <a:t>mAP@50 = 0.97 means near-complete agreement with the human labels at a standard overlap threshold.</a:t>
            </a:r>
          </a:p>
          <a:p>
            <a:pPr algn="l">
              <a:lnSpc>
                <a:spcPct val="112000"/>
              </a:lnSpc>
              <a:spcAft>
                <a:spcPts val="400"/>
              </a:spcAft>
            </a:pPr>
            <a:r>
              <a:rPr sz="1300" b="1" i="0" dirty="0">
                <a:solidFill>
                  <a:srgbClr val="00838F"/>
                </a:solidFill>
                <a:latin typeface="Calibri"/>
              </a:rPr>
              <a:t>Right: model predictions on a validation batch.</a:t>
            </a:r>
          </a:p>
        </p:txBody>
      </p:sp>
      <p:pic>
        <p:nvPicPr>
          <p:cNvPr id="19" name="Picture 18" descr="val_batch0_pred.jpg"/>
          <p:cNvPicPr>
            <a:picLocks noChangeAspect="1"/>
          </p:cNvPicPr>
          <p:nvPr/>
        </p:nvPicPr>
        <p:blipFill>
          <a:blip r:embed="rId3"/>
          <a:stretch>
            <a:fillRect/>
          </a:stretch>
        </p:blipFill>
        <p:spPr>
          <a:xfrm>
            <a:off x="6688926" y="1166600"/>
            <a:ext cx="5329473" cy="5329473"/>
          </a:xfrm>
          <a:prstGeom prst="rect">
            <a:avLst/>
          </a:prstGeom>
        </p:spPr>
      </p:pic>
      <p:sp>
        <p:nvSpPr>
          <p:cNvPr id="20" name="TextBox 19"/>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21" name="TextBox 20"/>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solidFill>
                  <a:srgbClr val="5A646E"/>
                </a:solidFill>
                <a:latin typeface="Calibri"/>
              </a:rPr>
              <a:t>8</a:t>
            </a:r>
            <a:r>
              <a:rPr lang="en-CA" sz="900" dirty="0"/>
              <a:t>/15</a:t>
            </a:r>
            <a:endParaRPr sz="900" b="0" i="0" dirty="0">
              <a:solidFill>
                <a:srgbClr val="5A646E"/>
              </a:solidFill>
              <a:latin typeface="Calibri"/>
            </a:endParaRPr>
          </a:p>
        </p:txBody>
      </p:sp>
      <p:pic>
        <p:nvPicPr>
          <p:cNvPr id="25" name="Picture 24">
            <a:extLst>
              <a:ext uri="{FF2B5EF4-FFF2-40B4-BE49-F238E27FC236}">
                <a16:creationId xmlns:a16="http://schemas.microsoft.com/office/drawing/2014/main" id="{62635FED-346A-1570-1C07-361D6445A07E}"/>
              </a:ext>
            </a:extLst>
          </p:cNvPr>
          <p:cNvPicPr>
            <a:picLocks noChangeAspect="1"/>
          </p:cNvPicPr>
          <p:nvPr/>
        </p:nvPicPr>
        <p:blipFill>
          <a:blip r:embed="rId4"/>
          <a:stretch>
            <a:fillRect/>
          </a:stretch>
        </p:blipFill>
        <p:spPr>
          <a:xfrm>
            <a:off x="3164582" y="1542863"/>
            <a:ext cx="6231466" cy="4673600"/>
          </a:xfrm>
          <a:prstGeom prst="rect">
            <a:avLst/>
          </a:prstGeom>
        </p:spPr>
      </p:pic>
      <p:pic>
        <p:nvPicPr>
          <p:cNvPr id="24" name="Picture 23">
            <a:extLst>
              <a:ext uri="{FF2B5EF4-FFF2-40B4-BE49-F238E27FC236}">
                <a16:creationId xmlns:a16="http://schemas.microsoft.com/office/drawing/2014/main" id="{D7586D57-DC6A-882F-E804-D25E85F9B9B8}"/>
              </a:ext>
            </a:extLst>
          </p:cNvPr>
          <p:cNvPicPr>
            <a:picLocks noChangeAspect="1"/>
          </p:cNvPicPr>
          <p:nvPr/>
        </p:nvPicPr>
        <p:blipFill>
          <a:blip r:embed="rId5"/>
          <a:srcRect r="55833"/>
          <a:stretch>
            <a:fillRect/>
          </a:stretch>
        </p:blipFill>
        <p:spPr>
          <a:xfrm>
            <a:off x="686264" y="1940251"/>
            <a:ext cx="5270675" cy="3580050"/>
          </a:xfrm>
          <a:prstGeom prst="rect">
            <a:avLst/>
          </a:prstGeom>
        </p:spPr>
      </p:pic>
      <p:pic>
        <p:nvPicPr>
          <p:cNvPr id="26" name="Picture 25">
            <a:extLst>
              <a:ext uri="{FF2B5EF4-FFF2-40B4-BE49-F238E27FC236}">
                <a16:creationId xmlns:a16="http://schemas.microsoft.com/office/drawing/2014/main" id="{B0758E11-02DC-0E68-C8B8-3F5B9D60156D}"/>
              </a:ext>
            </a:extLst>
          </p:cNvPr>
          <p:cNvPicPr>
            <a:picLocks noChangeAspect="1"/>
          </p:cNvPicPr>
          <p:nvPr/>
        </p:nvPicPr>
        <p:blipFill>
          <a:blip r:embed="rId5"/>
          <a:srcRect l="55340"/>
          <a:stretch>
            <a:fillRect/>
          </a:stretch>
        </p:blipFill>
        <p:spPr>
          <a:xfrm>
            <a:off x="5956939" y="1940251"/>
            <a:ext cx="5329473" cy="3580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515600" cy="274320"/>
          </a:xfrm>
          <a:prstGeom prst="rect">
            <a:avLst/>
          </a:prstGeom>
          <a:noFill/>
        </p:spPr>
        <p:txBody>
          <a:bodyPr wrap="square" lIns="25400" tIns="25400" rIns="25400" bIns="25400" anchor="t">
            <a:spAutoFit/>
          </a:bodyPr>
          <a:lstStyle/>
          <a:p>
            <a:pPr algn="l">
              <a:lnSpc>
                <a:spcPct val="100000"/>
              </a:lnSpc>
              <a:spcAft>
                <a:spcPts val="400"/>
              </a:spcAft>
            </a:pPr>
            <a:r>
              <a:rPr sz="1200" b="1" i="0">
                <a:solidFill>
                  <a:srgbClr val="00838F"/>
                </a:solidFill>
                <a:latin typeface="Calibri"/>
              </a:rPr>
              <a:t>REALITY CHECK</a:t>
            </a:r>
          </a:p>
        </p:txBody>
      </p:sp>
      <p:sp>
        <p:nvSpPr>
          <p:cNvPr id="4" name="TextBox 3"/>
          <p:cNvSpPr txBox="1"/>
          <p:nvPr/>
        </p:nvSpPr>
        <p:spPr>
          <a:xfrm>
            <a:off x="548640" y="566928"/>
            <a:ext cx="11064240" cy="640080"/>
          </a:xfrm>
          <a:prstGeom prst="rect">
            <a:avLst/>
          </a:prstGeom>
          <a:noFill/>
        </p:spPr>
        <p:txBody>
          <a:bodyPr wrap="square" lIns="25400" tIns="25400" rIns="25400" bIns="25400" anchor="t">
            <a:spAutoFit/>
          </a:bodyPr>
          <a:lstStyle/>
          <a:p>
            <a:pPr algn="l">
              <a:lnSpc>
                <a:spcPct val="100000"/>
              </a:lnSpc>
              <a:spcAft>
                <a:spcPts val="400"/>
              </a:spcAft>
            </a:pPr>
            <a:r>
              <a:rPr sz="2700" b="1" i="0" dirty="0">
                <a:solidFill>
                  <a:srgbClr val="1B324F"/>
                </a:solidFill>
                <a:latin typeface="Calibri"/>
              </a:rPr>
              <a:t>Honest test on 42 real clinical X-rays</a:t>
            </a:r>
          </a:p>
        </p:txBody>
      </p:sp>
      <p:sp>
        <p:nvSpPr>
          <p:cNvPr id="5" name="Rectangle 4"/>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554480"/>
            <a:ext cx="3383280" cy="2194560"/>
          </a:xfrm>
          <a:prstGeom prst="roundRect">
            <a:avLst>
              <a:gd name="adj" fmla="val 4000"/>
            </a:avLst>
          </a:prstGeom>
          <a:solidFill>
            <a:srgbClr val="E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783080"/>
            <a:ext cx="3383280" cy="759182"/>
          </a:xfrm>
          <a:prstGeom prst="rect">
            <a:avLst/>
          </a:prstGeom>
          <a:noFill/>
        </p:spPr>
        <p:txBody>
          <a:bodyPr wrap="square" lIns="25400" tIns="25400" rIns="25400" bIns="25400" anchor="t">
            <a:spAutoFit/>
          </a:bodyPr>
          <a:lstStyle/>
          <a:p>
            <a:pPr algn="ctr">
              <a:lnSpc>
                <a:spcPct val="100000"/>
              </a:lnSpc>
              <a:spcAft>
                <a:spcPts val="400"/>
              </a:spcAft>
            </a:pPr>
            <a:r>
              <a:rPr sz="4600" b="1" i="0" dirty="0">
                <a:solidFill>
                  <a:srgbClr val="2E7D32"/>
                </a:solidFill>
                <a:latin typeface="Calibri"/>
              </a:rPr>
              <a:t>0.</a:t>
            </a:r>
            <a:r>
              <a:rPr lang="en-CA" sz="4600" b="1" i="0" dirty="0">
                <a:solidFill>
                  <a:srgbClr val="2E7D32"/>
                </a:solidFill>
                <a:latin typeface="Calibri"/>
              </a:rPr>
              <a:t>93 (39/42)</a:t>
            </a:r>
            <a:endParaRPr sz="4600" b="1" i="0" dirty="0">
              <a:solidFill>
                <a:srgbClr val="2E7D32"/>
              </a:solidFill>
              <a:latin typeface="Calibri"/>
            </a:endParaRPr>
          </a:p>
        </p:txBody>
      </p:sp>
      <p:sp>
        <p:nvSpPr>
          <p:cNvPr id="8" name="TextBox 7"/>
          <p:cNvSpPr txBox="1"/>
          <p:nvPr/>
        </p:nvSpPr>
        <p:spPr>
          <a:xfrm>
            <a:off x="548640" y="2697480"/>
            <a:ext cx="3383280" cy="525785"/>
          </a:xfrm>
          <a:prstGeom prst="rect">
            <a:avLst/>
          </a:prstGeom>
          <a:noFill/>
        </p:spPr>
        <p:txBody>
          <a:bodyPr wrap="square" lIns="25400" tIns="25400" rIns="25400" bIns="25400" anchor="t">
            <a:spAutoFit/>
          </a:bodyPr>
          <a:lstStyle/>
          <a:p>
            <a:pPr algn="ctr">
              <a:lnSpc>
                <a:spcPct val="100000"/>
              </a:lnSpc>
              <a:spcAft>
                <a:spcPts val="400"/>
              </a:spcAft>
            </a:pPr>
            <a:r>
              <a:rPr lang="en-CA" sz="1500" b="1" i="0" dirty="0">
                <a:solidFill>
                  <a:srgbClr val="222A33"/>
                </a:solidFill>
                <a:latin typeface="Calibri"/>
              </a:rPr>
              <a:t>Found an L4</a:t>
            </a:r>
            <a:endParaRPr sz="1500" b="1" i="0" dirty="0">
              <a:solidFill>
                <a:srgbClr val="222A33"/>
              </a:solidFill>
              <a:latin typeface="Calibri"/>
            </a:endParaRPr>
          </a:p>
          <a:p>
            <a:pPr algn="ctr">
              <a:lnSpc>
                <a:spcPct val="100000"/>
              </a:lnSpc>
              <a:spcAft>
                <a:spcPts val="400"/>
              </a:spcAft>
            </a:pPr>
            <a:r>
              <a:rPr lang="en-CA" sz="1250" b="0" i="0" dirty="0">
                <a:solidFill>
                  <a:srgbClr val="5A646E"/>
                </a:solidFill>
                <a:latin typeface="Calibri"/>
              </a:rPr>
              <a:t>The model produced an L4 mask on 39 of 42 X-rays</a:t>
            </a:r>
            <a:endParaRPr sz="1250" b="0" i="0" dirty="0">
              <a:solidFill>
                <a:srgbClr val="5A646E"/>
              </a:solidFill>
              <a:latin typeface="Calibri"/>
            </a:endParaRPr>
          </a:p>
        </p:txBody>
      </p:sp>
      <p:sp>
        <p:nvSpPr>
          <p:cNvPr id="9" name="Rounded Rectangle 8"/>
          <p:cNvSpPr/>
          <p:nvPr/>
        </p:nvSpPr>
        <p:spPr>
          <a:xfrm>
            <a:off x="4114800" y="1554480"/>
            <a:ext cx="3383280" cy="2194560"/>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0" y="1783080"/>
            <a:ext cx="3383280" cy="759182"/>
          </a:xfrm>
          <a:prstGeom prst="rect">
            <a:avLst/>
          </a:prstGeom>
          <a:noFill/>
        </p:spPr>
        <p:txBody>
          <a:bodyPr wrap="square" lIns="25400" tIns="25400" rIns="25400" bIns="25400" anchor="t">
            <a:spAutoFit/>
          </a:bodyPr>
          <a:lstStyle/>
          <a:p>
            <a:pPr algn="ctr">
              <a:lnSpc>
                <a:spcPct val="100000"/>
              </a:lnSpc>
              <a:spcAft>
                <a:spcPts val="400"/>
              </a:spcAft>
            </a:pPr>
            <a:r>
              <a:rPr sz="4600" b="1" i="0" dirty="0">
                <a:solidFill>
                  <a:srgbClr val="C43A35"/>
                </a:solidFill>
                <a:latin typeface="Calibri"/>
              </a:rPr>
              <a:t>0.</a:t>
            </a:r>
            <a:r>
              <a:rPr lang="en-CA" sz="4600" b="1" i="0" dirty="0">
                <a:solidFill>
                  <a:srgbClr val="C43A35"/>
                </a:solidFill>
                <a:latin typeface="Calibri"/>
              </a:rPr>
              <a:t>38(15/39)</a:t>
            </a:r>
            <a:endParaRPr sz="4600" b="1" i="0" dirty="0">
              <a:solidFill>
                <a:srgbClr val="C43A35"/>
              </a:solidFill>
              <a:latin typeface="Calibri"/>
            </a:endParaRPr>
          </a:p>
        </p:txBody>
      </p:sp>
      <p:sp>
        <p:nvSpPr>
          <p:cNvPr id="11" name="TextBox 10"/>
          <p:cNvSpPr txBox="1"/>
          <p:nvPr/>
        </p:nvSpPr>
        <p:spPr>
          <a:xfrm>
            <a:off x="4206240" y="2697480"/>
            <a:ext cx="3200400" cy="525785"/>
          </a:xfrm>
          <a:prstGeom prst="rect">
            <a:avLst/>
          </a:prstGeom>
          <a:noFill/>
        </p:spPr>
        <p:txBody>
          <a:bodyPr wrap="square" lIns="25400" tIns="25400" rIns="25400" bIns="25400" anchor="t">
            <a:spAutoFit/>
          </a:bodyPr>
          <a:lstStyle/>
          <a:p>
            <a:pPr algn="ctr">
              <a:lnSpc>
                <a:spcPct val="100000"/>
              </a:lnSpc>
              <a:spcAft>
                <a:spcPts val="400"/>
              </a:spcAft>
            </a:pPr>
            <a:r>
              <a:rPr lang="en-CA" sz="1500" b="1" i="0" dirty="0">
                <a:solidFill>
                  <a:srgbClr val="222A33"/>
                </a:solidFill>
                <a:latin typeface="Calibri"/>
              </a:rPr>
              <a:t>Same vertebra as my label</a:t>
            </a:r>
            <a:endParaRPr sz="1500" b="1" i="0" dirty="0">
              <a:solidFill>
                <a:srgbClr val="222A33"/>
              </a:solidFill>
              <a:latin typeface="Calibri"/>
            </a:endParaRPr>
          </a:p>
          <a:p>
            <a:pPr algn="ctr">
              <a:lnSpc>
                <a:spcPct val="100000"/>
              </a:lnSpc>
              <a:spcAft>
                <a:spcPts val="400"/>
              </a:spcAft>
            </a:pPr>
            <a:r>
              <a:rPr lang="en-CA" sz="1250" b="0" i="0" dirty="0">
                <a:solidFill>
                  <a:srgbClr val="5A646E"/>
                </a:solidFill>
                <a:latin typeface="Calibri"/>
              </a:rPr>
              <a:t>Of those 39, only 15 matched the bone I marked</a:t>
            </a:r>
            <a:endParaRPr sz="1250" b="0" i="0" dirty="0">
              <a:solidFill>
                <a:srgbClr val="5A646E"/>
              </a:solidFill>
              <a:latin typeface="Calibri"/>
            </a:endParaRPr>
          </a:p>
        </p:txBody>
      </p:sp>
      <p:sp>
        <p:nvSpPr>
          <p:cNvPr id="12" name="Rounded Rectangle 11"/>
          <p:cNvSpPr/>
          <p:nvPr/>
        </p:nvSpPr>
        <p:spPr>
          <a:xfrm>
            <a:off x="7680960" y="1554480"/>
            <a:ext cx="3931920" cy="219456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0" y="1691640"/>
            <a:ext cx="3611880" cy="1636345"/>
          </a:xfrm>
          <a:prstGeom prst="rect">
            <a:avLst/>
          </a:prstGeom>
          <a:noFill/>
        </p:spPr>
        <p:txBody>
          <a:bodyPr wrap="square" lIns="25400" tIns="25400" rIns="25400" bIns="25400" anchor="t">
            <a:spAutoFit/>
          </a:bodyPr>
          <a:lstStyle/>
          <a:p>
            <a:pPr algn="l">
              <a:lnSpc>
                <a:spcPct val="100000"/>
              </a:lnSpc>
              <a:spcAft>
                <a:spcPts val="400"/>
              </a:spcAft>
            </a:pPr>
            <a:r>
              <a:rPr sz="1200" b="1" i="0" dirty="0">
                <a:solidFill>
                  <a:srgbClr val="B26A00"/>
                </a:solidFill>
                <a:latin typeface="Calibri"/>
              </a:rPr>
              <a:t>THE ONE ISSUE: ‘</a:t>
            </a:r>
            <a:r>
              <a:rPr lang="en-CA" sz="1200" b="1" i="0" dirty="0">
                <a:solidFill>
                  <a:srgbClr val="B26A00"/>
                </a:solidFill>
                <a:latin typeface="Calibri"/>
              </a:rPr>
              <a:t>Label mismatch</a:t>
            </a:r>
            <a:r>
              <a:rPr sz="1200" b="1" i="0" dirty="0">
                <a:solidFill>
                  <a:srgbClr val="B26A00"/>
                </a:solidFill>
                <a:latin typeface="Calibri"/>
              </a:rPr>
              <a:t>'</a:t>
            </a:r>
          </a:p>
          <a:p>
            <a:pPr>
              <a:spcAft>
                <a:spcPts val="400"/>
              </a:spcAft>
            </a:pPr>
            <a:r>
              <a:rPr lang="en-CA" sz="1350" i="1" dirty="0">
                <a:solidFill>
                  <a:srgbClr val="222A33"/>
                </a:solidFill>
                <a:latin typeface="Calibri"/>
              </a:rPr>
              <a:t>The AI draws the correct vertebra and usually picks the right one. On 27 of 42 images its 'L4' didn't match my mask — but on 23 of those, my mask was drawn on L5, not the model's error.</a:t>
            </a:r>
            <a:endParaRPr sz="1350" i="1" dirty="0">
              <a:solidFill>
                <a:srgbClr val="222A33"/>
              </a:solidFill>
              <a:latin typeface="Calibri"/>
            </a:endParaRPr>
          </a:p>
          <a:p>
            <a:pPr algn="l">
              <a:lnSpc>
                <a:spcPct val="100000"/>
              </a:lnSpc>
              <a:spcAft>
                <a:spcPts val="400"/>
              </a:spcAft>
            </a:pPr>
            <a:r>
              <a:rPr sz="1350" b="1" i="0" dirty="0">
                <a:solidFill>
                  <a:srgbClr val="1B324F"/>
                </a:solidFill>
                <a:latin typeface="Calibri"/>
              </a:rPr>
              <a:t>Right </a:t>
            </a:r>
            <a:r>
              <a:rPr lang="en-CA" sz="1350" b="1" i="0" dirty="0">
                <a:solidFill>
                  <a:srgbClr val="1B324F"/>
                </a:solidFill>
                <a:latin typeface="Calibri"/>
              </a:rPr>
              <a:t>bone</a:t>
            </a:r>
            <a:r>
              <a:rPr sz="1350" b="1" i="0" dirty="0">
                <a:solidFill>
                  <a:srgbClr val="1B324F"/>
                </a:solidFill>
                <a:latin typeface="Calibri"/>
              </a:rPr>
              <a:t>, </a:t>
            </a:r>
            <a:r>
              <a:rPr lang="en-CA" sz="1350" b="1" i="0" dirty="0">
                <a:solidFill>
                  <a:srgbClr val="1B324F"/>
                </a:solidFill>
                <a:latin typeface="Calibri"/>
              </a:rPr>
              <a:t>mismatched label</a:t>
            </a:r>
          </a:p>
          <a:p>
            <a:pPr algn="l">
              <a:lnSpc>
                <a:spcPct val="100000"/>
              </a:lnSpc>
              <a:spcAft>
                <a:spcPts val="400"/>
              </a:spcAft>
            </a:pPr>
            <a:r>
              <a:rPr lang="en-CA" sz="1350" b="1" i="0" dirty="0">
                <a:solidFill>
                  <a:srgbClr val="1B324F"/>
                </a:solidFill>
                <a:latin typeface="Calibri"/>
              </a:rPr>
              <a:t> – fixable by re-labeling</a:t>
            </a:r>
            <a:endParaRPr sz="1350" b="1" i="0" dirty="0">
              <a:solidFill>
                <a:srgbClr val="1B324F"/>
              </a:solidFill>
              <a:latin typeface="Calibri"/>
            </a:endParaRPr>
          </a:p>
        </p:txBody>
      </p:sp>
      <p:sp>
        <p:nvSpPr>
          <p:cNvPr id="14" name="TextBox 13"/>
          <p:cNvSpPr txBox="1"/>
          <p:nvPr/>
        </p:nvSpPr>
        <p:spPr>
          <a:xfrm>
            <a:off x="548640" y="3977639"/>
            <a:ext cx="6949440" cy="1415965"/>
          </a:xfrm>
          <a:prstGeom prst="rect">
            <a:avLst/>
          </a:prstGeom>
          <a:noFill/>
        </p:spPr>
        <p:txBody>
          <a:bodyPr wrap="square" lIns="25400" tIns="25400" rIns="25400" bIns="25400" anchor="t">
            <a:spAutoFit/>
          </a:bodyPr>
          <a:lstStyle/>
          <a:p>
            <a:pPr algn="l">
              <a:lnSpc>
                <a:spcPct val="112000"/>
              </a:lnSpc>
              <a:spcAft>
                <a:spcPts val="400"/>
              </a:spcAft>
            </a:pPr>
            <a:r>
              <a:rPr sz="1500" b="1" i="0" dirty="0">
                <a:solidFill>
                  <a:srgbClr val="1B324F"/>
                </a:solidFill>
                <a:latin typeface="Calibri"/>
              </a:rPr>
              <a:t>Why report two numbers?</a:t>
            </a:r>
          </a:p>
          <a:p>
            <a:pPr>
              <a:lnSpc>
                <a:spcPct val="112000"/>
              </a:lnSpc>
              <a:spcAft>
                <a:spcPts val="400"/>
              </a:spcAft>
            </a:pPr>
            <a:r>
              <a:rPr lang="en-US" sz="1400" dirty="0">
                <a:solidFill>
                  <a:srgbClr val="222A33"/>
                </a:solidFill>
              </a:rPr>
              <a:t>Separating 'does it find the bone' from 'is it the right one' tells us exactly what to fix. </a:t>
            </a:r>
          </a:p>
          <a:p>
            <a:pPr>
              <a:lnSpc>
                <a:spcPct val="112000"/>
              </a:lnSpc>
              <a:spcAft>
                <a:spcPts val="400"/>
              </a:spcAft>
            </a:pPr>
            <a:r>
              <a:rPr lang="en-US" sz="1400" dirty="0">
                <a:solidFill>
                  <a:srgbClr val="222A33"/>
                </a:solidFill>
              </a:rPr>
              <a:t>The model finds an L4 on 93% of images and its outlines are good. </a:t>
            </a:r>
          </a:p>
          <a:p>
            <a:pPr>
              <a:lnSpc>
                <a:spcPct val="112000"/>
              </a:lnSpc>
              <a:spcAft>
                <a:spcPts val="400"/>
              </a:spcAft>
            </a:pPr>
            <a:r>
              <a:rPr lang="en-US" sz="1400" dirty="0">
                <a:solidFill>
                  <a:srgbClr val="222A33"/>
                </a:solidFill>
              </a:rPr>
              <a:t>Most of the gap to 38% is my labeling — 23 of the 27 mismatches are my mask on L5 — so it's fixable by re-labeling, not retraining.</a:t>
            </a:r>
            <a:endParaRPr sz="1400" b="0" i="0" dirty="0">
              <a:solidFill>
                <a:srgbClr val="222A33"/>
              </a:solidFill>
              <a:latin typeface="Calibri"/>
            </a:endParaRPr>
          </a:p>
        </p:txBody>
      </p:sp>
      <p:pic>
        <p:nvPicPr>
          <p:cNvPr id="15" name="Picture 14" descr="eval_bar.png"/>
          <p:cNvPicPr>
            <a:picLocks noChangeAspect="1"/>
          </p:cNvPicPr>
          <p:nvPr/>
        </p:nvPicPr>
        <p:blipFill>
          <a:blip r:embed="rId3"/>
          <a:stretch>
            <a:fillRect/>
          </a:stretch>
        </p:blipFill>
        <p:spPr>
          <a:xfrm>
            <a:off x="7315200" y="4347958"/>
            <a:ext cx="4572000" cy="1545364"/>
          </a:xfrm>
          <a:prstGeom prst="rect">
            <a:avLst/>
          </a:prstGeom>
        </p:spPr>
      </p:pic>
      <p:sp>
        <p:nvSpPr>
          <p:cNvPr id="16" name="TextBox 15"/>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17" name="TextBox 16"/>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solidFill>
                  <a:srgbClr val="5A646E"/>
                </a:solidFill>
                <a:latin typeface="Calibri"/>
              </a:rPr>
              <a:t>10</a:t>
            </a:r>
            <a:r>
              <a:rPr lang="en-CA" sz="900" dirty="0"/>
              <a:t>/15</a:t>
            </a:r>
            <a:endParaRPr sz="900" b="0" i="0" dirty="0">
              <a:solidFill>
                <a:srgbClr val="5A646E"/>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515600" cy="274320"/>
          </a:xfrm>
          <a:prstGeom prst="rect">
            <a:avLst/>
          </a:prstGeom>
          <a:noFill/>
        </p:spPr>
        <p:txBody>
          <a:bodyPr wrap="square" lIns="25400" tIns="25400" rIns="25400" bIns="25400" anchor="t">
            <a:spAutoFit/>
          </a:bodyPr>
          <a:lstStyle/>
          <a:p>
            <a:pPr algn="l">
              <a:lnSpc>
                <a:spcPct val="100000"/>
              </a:lnSpc>
              <a:spcAft>
                <a:spcPts val="400"/>
              </a:spcAft>
            </a:pPr>
            <a:r>
              <a:rPr sz="1200" b="1" i="0">
                <a:solidFill>
                  <a:srgbClr val="00838F"/>
                </a:solidFill>
                <a:latin typeface="Calibri"/>
              </a:rPr>
              <a:t>DIAGNOSIS</a:t>
            </a:r>
          </a:p>
        </p:txBody>
      </p:sp>
      <p:sp>
        <p:nvSpPr>
          <p:cNvPr id="4" name="TextBox 3"/>
          <p:cNvSpPr txBox="1"/>
          <p:nvPr/>
        </p:nvSpPr>
        <p:spPr>
          <a:xfrm>
            <a:off x="548640" y="566928"/>
            <a:ext cx="11064240" cy="466794"/>
          </a:xfrm>
          <a:prstGeom prst="rect">
            <a:avLst/>
          </a:prstGeom>
          <a:noFill/>
        </p:spPr>
        <p:txBody>
          <a:bodyPr wrap="square" lIns="25400" tIns="25400" rIns="25400" bIns="25400" anchor="t">
            <a:spAutoFit/>
          </a:bodyPr>
          <a:lstStyle/>
          <a:p>
            <a:pPr algn="l">
              <a:lnSpc>
                <a:spcPct val="100000"/>
              </a:lnSpc>
              <a:spcAft>
                <a:spcPts val="400"/>
              </a:spcAft>
            </a:pPr>
            <a:r>
              <a:rPr sz="2700" b="1" i="0" dirty="0">
                <a:solidFill>
                  <a:srgbClr val="1B324F"/>
                </a:solidFill>
                <a:latin typeface="Calibri"/>
              </a:rPr>
              <a:t>Seeing the ‘</a:t>
            </a:r>
            <a:r>
              <a:rPr lang="en-CA" sz="2700" b="1" i="0" dirty="0">
                <a:solidFill>
                  <a:srgbClr val="1B324F"/>
                </a:solidFill>
                <a:latin typeface="Calibri"/>
              </a:rPr>
              <a:t>Mismatch</a:t>
            </a:r>
            <a:r>
              <a:rPr sz="2700" b="1" i="0" dirty="0">
                <a:solidFill>
                  <a:srgbClr val="1B324F"/>
                </a:solidFill>
                <a:latin typeface="Calibri"/>
              </a:rPr>
              <a:t>'</a:t>
            </a:r>
          </a:p>
        </p:txBody>
      </p:sp>
      <p:sp>
        <p:nvSpPr>
          <p:cNvPr id="5" name="Rectangle 4"/>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val_overlays.png"/>
          <p:cNvPicPr>
            <a:picLocks noChangeAspect="1"/>
          </p:cNvPicPr>
          <p:nvPr/>
        </p:nvPicPr>
        <p:blipFill>
          <a:blip r:embed="rId3"/>
          <a:stretch>
            <a:fillRect/>
          </a:stretch>
        </p:blipFill>
        <p:spPr>
          <a:xfrm>
            <a:off x="548640" y="1734380"/>
            <a:ext cx="7863840" cy="4029320"/>
          </a:xfrm>
          <a:prstGeom prst="rect">
            <a:avLst/>
          </a:prstGeom>
        </p:spPr>
      </p:pic>
      <p:sp>
        <p:nvSpPr>
          <p:cNvPr id="7" name="TextBox 6"/>
          <p:cNvSpPr txBox="1"/>
          <p:nvPr/>
        </p:nvSpPr>
        <p:spPr>
          <a:xfrm>
            <a:off x="8595360" y="1645920"/>
            <a:ext cx="3108960" cy="3285195"/>
          </a:xfrm>
          <a:prstGeom prst="rect">
            <a:avLst/>
          </a:prstGeom>
          <a:noFill/>
        </p:spPr>
        <p:txBody>
          <a:bodyPr wrap="square" lIns="25400" tIns="25400" rIns="25400" bIns="25400" anchor="t">
            <a:spAutoFit/>
          </a:bodyPr>
          <a:lstStyle/>
          <a:p>
            <a:pPr algn="l">
              <a:lnSpc>
                <a:spcPct val="110000"/>
              </a:lnSpc>
              <a:spcAft>
                <a:spcPts val="400"/>
              </a:spcAft>
            </a:pPr>
            <a:r>
              <a:rPr sz="1600" b="1" i="0" dirty="0">
                <a:solidFill>
                  <a:srgbClr val="1B324F"/>
                </a:solidFill>
                <a:latin typeface="Calibri"/>
              </a:rPr>
              <a:t>How to read this</a:t>
            </a:r>
          </a:p>
          <a:p>
            <a:pPr algn="l">
              <a:lnSpc>
                <a:spcPct val="110000"/>
              </a:lnSpc>
              <a:spcAft>
                <a:spcPts val="400"/>
              </a:spcAft>
            </a:pPr>
            <a:r>
              <a:rPr sz="1400" b="1" i="0" dirty="0">
                <a:solidFill>
                  <a:srgbClr val="B26A00"/>
                </a:solidFill>
                <a:latin typeface="Calibri"/>
              </a:rPr>
              <a:t>Yellow = true L4 (</a:t>
            </a:r>
            <a:r>
              <a:rPr lang="en-CA" sz="1400" b="1" i="0" dirty="0">
                <a:solidFill>
                  <a:srgbClr val="B26A00"/>
                </a:solidFill>
                <a:latin typeface="Calibri"/>
              </a:rPr>
              <a:t>Edward</a:t>
            </a:r>
            <a:r>
              <a:rPr sz="1400" b="1" i="0" dirty="0">
                <a:solidFill>
                  <a:srgbClr val="B26A00"/>
                </a:solidFill>
                <a:latin typeface="Calibri"/>
              </a:rPr>
              <a:t>)</a:t>
            </a:r>
          </a:p>
          <a:p>
            <a:pPr algn="l">
              <a:lnSpc>
                <a:spcPct val="110000"/>
              </a:lnSpc>
              <a:spcAft>
                <a:spcPts val="400"/>
              </a:spcAft>
            </a:pPr>
            <a:r>
              <a:rPr sz="1400" b="1" i="0" dirty="0">
                <a:solidFill>
                  <a:srgbClr val="C43A35"/>
                </a:solidFill>
                <a:latin typeface="Calibri"/>
              </a:rPr>
              <a:t>Red = what the AI named L4</a:t>
            </a:r>
          </a:p>
          <a:p>
            <a:pPr algn="l">
              <a:lnSpc>
                <a:spcPct val="110000"/>
              </a:lnSpc>
              <a:spcAft>
                <a:spcPts val="400"/>
              </a:spcAft>
            </a:pPr>
            <a:r>
              <a:rPr sz="1400" b="1" i="0" dirty="0">
                <a:solidFill>
                  <a:srgbClr val="2E7D32"/>
                </a:solidFill>
                <a:latin typeface="Calibri"/>
              </a:rPr>
              <a:t>Green = best-matching vertebra</a:t>
            </a:r>
          </a:p>
          <a:p>
            <a:pPr algn="l">
              <a:lnSpc>
                <a:spcPct val="110000"/>
              </a:lnSpc>
              <a:spcAft>
                <a:spcPts val="400"/>
              </a:spcAft>
            </a:pPr>
            <a:endParaRPr sz="1400" b="1" i="0" dirty="0">
              <a:solidFill>
                <a:srgbClr val="2E7D32"/>
              </a:solidFill>
              <a:latin typeface="Calibri"/>
            </a:endParaRPr>
          </a:p>
          <a:p>
            <a:pPr algn="l">
              <a:lnSpc>
                <a:spcPct val="110000"/>
              </a:lnSpc>
              <a:spcAft>
                <a:spcPts val="400"/>
              </a:spcAft>
            </a:pPr>
            <a:r>
              <a:rPr sz="1350" b="0" i="1" dirty="0">
                <a:solidFill>
                  <a:srgbClr val="222A33"/>
                </a:solidFill>
                <a:latin typeface="Calibri"/>
              </a:rPr>
              <a:t>Top row (</a:t>
            </a:r>
            <a:r>
              <a:rPr lang="en-CA" sz="1350" b="0" i="1" dirty="0">
                <a:solidFill>
                  <a:srgbClr val="222A33"/>
                </a:solidFill>
                <a:latin typeface="Calibri"/>
              </a:rPr>
              <a:t>bad</a:t>
            </a:r>
            <a:r>
              <a:rPr sz="1350" b="0" i="1" dirty="0">
                <a:solidFill>
                  <a:srgbClr val="222A33"/>
                </a:solidFill>
                <a:latin typeface="Calibri"/>
              </a:rPr>
              <a:t>): red sits one vertebra above the yellow — the off-by-one shift.</a:t>
            </a:r>
          </a:p>
          <a:p>
            <a:pPr algn="l">
              <a:lnSpc>
                <a:spcPct val="110000"/>
              </a:lnSpc>
              <a:spcAft>
                <a:spcPts val="400"/>
              </a:spcAft>
            </a:pPr>
            <a:r>
              <a:rPr sz="1350" b="0" i="1" dirty="0">
                <a:solidFill>
                  <a:srgbClr val="222A33"/>
                </a:solidFill>
                <a:latin typeface="Calibri"/>
              </a:rPr>
              <a:t>Bottom row (best): red, green and yellow line up.</a:t>
            </a:r>
          </a:p>
          <a:p>
            <a:pPr algn="l">
              <a:lnSpc>
                <a:spcPct val="110000"/>
              </a:lnSpc>
              <a:spcAft>
                <a:spcPts val="400"/>
              </a:spcAft>
            </a:pPr>
            <a:endParaRPr sz="1350" b="0" i="1" dirty="0">
              <a:solidFill>
                <a:srgbClr val="222A33"/>
              </a:solidFill>
              <a:latin typeface="Calibri"/>
            </a:endParaRPr>
          </a:p>
          <a:p>
            <a:pPr>
              <a:lnSpc>
                <a:spcPct val="110000"/>
              </a:lnSpc>
              <a:spcAft>
                <a:spcPts val="400"/>
              </a:spcAft>
            </a:pPr>
            <a:r>
              <a:rPr sz="1300" b="0" i="1" dirty="0">
                <a:solidFill>
                  <a:srgbClr val="5A646E"/>
                </a:solidFill>
                <a:latin typeface="Calibri"/>
              </a:rPr>
              <a:t>Cause: </a:t>
            </a:r>
            <a:r>
              <a:rPr lang="en-US" sz="1300" i="1" dirty="0">
                <a:solidFill>
                  <a:srgbClr val="5A646E"/>
                </a:solidFill>
                <a:latin typeface="Calibri"/>
              </a:rPr>
              <a:t>I am having difficulty naming the L4 bone</a:t>
            </a:r>
            <a:r>
              <a:rPr sz="1300" i="1" dirty="0">
                <a:solidFill>
                  <a:srgbClr val="5A646E"/>
                </a:solidFill>
                <a:latin typeface="Calibri"/>
              </a:rPr>
              <a:t>.</a:t>
            </a:r>
            <a:r>
              <a:rPr lang="en-CA" sz="1300" i="1" dirty="0">
                <a:solidFill>
                  <a:srgbClr val="5A646E"/>
                </a:solidFill>
                <a:latin typeface="Calibri"/>
              </a:rPr>
              <a:t> </a:t>
            </a:r>
            <a:r>
              <a:rPr lang="en-US" sz="1300" i="1" dirty="0">
                <a:solidFill>
                  <a:srgbClr val="5A646E"/>
                </a:solidFill>
              </a:rPr>
              <a:t>I think it's a labeling issue.</a:t>
            </a:r>
            <a:endParaRPr sz="1300" i="1" dirty="0">
              <a:solidFill>
                <a:srgbClr val="5A646E"/>
              </a:solidFill>
              <a:latin typeface="Calibri"/>
            </a:endParaRPr>
          </a:p>
        </p:txBody>
      </p:sp>
      <p:sp>
        <p:nvSpPr>
          <p:cNvPr id="8" name="TextBox 7"/>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9" name="TextBox 8"/>
          <p:cNvSpPr txBox="1"/>
          <p:nvPr/>
        </p:nvSpPr>
        <p:spPr>
          <a:xfrm>
            <a:off x="10607040" y="6455664"/>
            <a:ext cx="1005840" cy="189796"/>
          </a:xfrm>
          <a:prstGeom prst="rect">
            <a:avLst/>
          </a:prstGeom>
          <a:noFill/>
        </p:spPr>
        <p:txBody>
          <a:bodyPr wrap="square" lIns="25400" tIns="25400" rIns="25400" bIns="25400" anchor="t">
            <a:spAutoFit/>
          </a:bodyPr>
          <a:lstStyle/>
          <a:p>
            <a:pPr algn="r">
              <a:spcAft>
                <a:spcPts val="400"/>
              </a:spcAft>
            </a:pPr>
            <a:r>
              <a:rPr lang="en-CA" sz="900" b="0" i="0" dirty="0">
                <a:solidFill>
                  <a:srgbClr val="5A646E"/>
                </a:solidFill>
                <a:latin typeface="Calibri"/>
              </a:rPr>
              <a:t>11</a:t>
            </a:r>
            <a:r>
              <a:rPr lang="en-CA" sz="900" dirty="0"/>
              <a:t>/15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9497D1A-8355-DE6A-5A00-581C5C2CF7A5}"/>
              </a:ext>
            </a:extLst>
          </p:cNvPr>
          <p:cNvPicPr>
            <a:picLocks noChangeAspect="1"/>
          </p:cNvPicPr>
          <p:nvPr/>
        </p:nvPicPr>
        <p:blipFill>
          <a:blip r:embed="rId3"/>
          <a:stretch>
            <a:fillRect/>
          </a:stretch>
        </p:blipFill>
        <p:spPr>
          <a:xfrm>
            <a:off x="0" y="200288"/>
            <a:ext cx="12192000" cy="6457423"/>
          </a:xfrm>
          <a:prstGeom prst="rect">
            <a:avLst/>
          </a:prstGeom>
        </p:spPr>
      </p:pic>
      <p:sp>
        <p:nvSpPr>
          <p:cNvPr id="3" name="Rounded Rectangle 5">
            <a:extLst>
              <a:ext uri="{FF2B5EF4-FFF2-40B4-BE49-F238E27FC236}">
                <a16:creationId xmlns:a16="http://schemas.microsoft.com/office/drawing/2014/main" id="{64949507-C82D-AB89-4440-15CC3C0DC8EC}"/>
              </a:ext>
            </a:extLst>
          </p:cNvPr>
          <p:cNvSpPr/>
          <p:nvPr/>
        </p:nvSpPr>
        <p:spPr>
          <a:xfrm>
            <a:off x="3840480" y="916207"/>
            <a:ext cx="3383280" cy="900569"/>
          </a:xfrm>
          <a:prstGeom prst="roundRect">
            <a:avLst>
              <a:gd name="adj" fmla="val 4000"/>
            </a:avLst>
          </a:prstGeom>
          <a:solidFill>
            <a:srgbClr val="E7F1EC">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4ECA376-03CB-4800-232C-A14C464424F2}"/>
              </a:ext>
            </a:extLst>
          </p:cNvPr>
          <p:cNvSpPr txBox="1"/>
          <p:nvPr/>
        </p:nvSpPr>
        <p:spPr>
          <a:xfrm>
            <a:off x="3840480" y="914287"/>
            <a:ext cx="3383280" cy="420628"/>
          </a:xfrm>
          <a:prstGeom prst="rect">
            <a:avLst/>
          </a:prstGeom>
          <a:noFill/>
        </p:spPr>
        <p:txBody>
          <a:bodyPr wrap="square" lIns="25400" tIns="25400" rIns="25400" bIns="25400" anchor="t">
            <a:spAutoFit/>
          </a:bodyPr>
          <a:lstStyle/>
          <a:p>
            <a:pPr algn="ctr">
              <a:lnSpc>
                <a:spcPct val="100000"/>
              </a:lnSpc>
              <a:spcAft>
                <a:spcPts val="400"/>
              </a:spcAft>
            </a:pPr>
            <a:r>
              <a:rPr sz="2400" b="1" i="0" dirty="0">
                <a:solidFill>
                  <a:srgbClr val="2E7D32"/>
                </a:solidFill>
                <a:latin typeface="Calibri"/>
              </a:rPr>
              <a:t>0.</a:t>
            </a:r>
            <a:r>
              <a:rPr lang="en-CA" sz="2400" b="1" i="0" dirty="0">
                <a:solidFill>
                  <a:srgbClr val="2E7D32"/>
                </a:solidFill>
                <a:latin typeface="Calibri"/>
              </a:rPr>
              <a:t>93 (39/42)</a:t>
            </a:r>
            <a:endParaRPr sz="2400" b="1" i="0" dirty="0">
              <a:solidFill>
                <a:srgbClr val="2E7D32"/>
              </a:solidFill>
              <a:latin typeface="Calibri"/>
            </a:endParaRPr>
          </a:p>
        </p:txBody>
      </p:sp>
      <p:sp>
        <p:nvSpPr>
          <p:cNvPr id="7" name="TextBox 6">
            <a:extLst>
              <a:ext uri="{FF2B5EF4-FFF2-40B4-BE49-F238E27FC236}">
                <a16:creationId xmlns:a16="http://schemas.microsoft.com/office/drawing/2014/main" id="{13EDE81C-3289-23D4-22E6-84F61BEA6FCD}"/>
              </a:ext>
            </a:extLst>
          </p:cNvPr>
          <p:cNvSpPr txBox="1"/>
          <p:nvPr/>
        </p:nvSpPr>
        <p:spPr>
          <a:xfrm>
            <a:off x="3840480" y="1252889"/>
            <a:ext cx="3383280" cy="502702"/>
          </a:xfrm>
          <a:prstGeom prst="rect">
            <a:avLst/>
          </a:prstGeom>
          <a:noFill/>
        </p:spPr>
        <p:txBody>
          <a:bodyPr wrap="square" lIns="25400" tIns="25400" rIns="25400" bIns="25400" anchor="t">
            <a:spAutoFit/>
          </a:bodyPr>
          <a:lstStyle/>
          <a:p>
            <a:pPr algn="ctr">
              <a:lnSpc>
                <a:spcPct val="100000"/>
              </a:lnSpc>
              <a:spcAft>
                <a:spcPts val="400"/>
              </a:spcAft>
            </a:pPr>
            <a:r>
              <a:rPr lang="en-US" sz="1400" b="1" dirty="0">
                <a:solidFill>
                  <a:srgbClr val="222A33"/>
                </a:solidFill>
              </a:rPr>
              <a:t>Found an L4</a:t>
            </a:r>
          </a:p>
          <a:p>
            <a:pPr algn="ctr">
              <a:lnSpc>
                <a:spcPct val="100000"/>
              </a:lnSpc>
              <a:spcAft>
                <a:spcPts val="400"/>
              </a:spcAft>
            </a:pPr>
            <a:r>
              <a:rPr lang="en-US" sz="1200" dirty="0">
                <a:solidFill>
                  <a:srgbClr val="5A646E"/>
                </a:solidFill>
              </a:rPr>
              <a:t>The model produced an L4 mask on 39 of 42 X-rays</a:t>
            </a:r>
          </a:p>
        </p:txBody>
      </p:sp>
      <p:grpSp>
        <p:nvGrpSpPr>
          <p:cNvPr id="14" name="Group 13">
            <a:extLst>
              <a:ext uri="{FF2B5EF4-FFF2-40B4-BE49-F238E27FC236}">
                <a16:creationId xmlns:a16="http://schemas.microsoft.com/office/drawing/2014/main" id="{DFAB791D-3B1F-C170-B592-C2426175C17C}"/>
              </a:ext>
            </a:extLst>
          </p:cNvPr>
          <p:cNvGrpSpPr/>
          <p:nvPr/>
        </p:nvGrpSpPr>
        <p:grpSpPr>
          <a:xfrm>
            <a:off x="1677652" y="2211944"/>
            <a:ext cx="7714805" cy="3066987"/>
            <a:chOff x="1677652" y="2211944"/>
            <a:chExt cx="7714805" cy="3066987"/>
          </a:xfrm>
        </p:grpSpPr>
        <p:pic>
          <p:nvPicPr>
            <p:cNvPr id="9" name="Picture 8">
              <a:extLst>
                <a:ext uri="{FF2B5EF4-FFF2-40B4-BE49-F238E27FC236}">
                  <a16:creationId xmlns:a16="http://schemas.microsoft.com/office/drawing/2014/main" id="{C7B6C967-D819-FA27-CAC7-0C266EC4F255}"/>
                </a:ext>
              </a:extLst>
            </p:cNvPr>
            <p:cNvPicPr>
              <a:picLocks noChangeAspect="1"/>
            </p:cNvPicPr>
            <p:nvPr/>
          </p:nvPicPr>
          <p:blipFill>
            <a:blip r:embed="rId4"/>
            <a:stretch>
              <a:fillRect/>
            </a:stretch>
          </p:blipFill>
          <p:spPr>
            <a:xfrm>
              <a:off x="1677652" y="2211944"/>
              <a:ext cx="2511647" cy="3066987"/>
            </a:xfrm>
            <a:prstGeom prst="rect">
              <a:avLst/>
            </a:prstGeom>
          </p:spPr>
        </p:pic>
        <p:pic>
          <p:nvPicPr>
            <p:cNvPr id="11" name="Picture 10">
              <a:extLst>
                <a:ext uri="{FF2B5EF4-FFF2-40B4-BE49-F238E27FC236}">
                  <a16:creationId xmlns:a16="http://schemas.microsoft.com/office/drawing/2014/main" id="{8B81975D-3B38-95AC-38F9-561C58049F93}"/>
                </a:ext>
              </a:extLst>
            </p:cNvPr>
            <p:cNvPicPr>
              <a:picLocks noChangeAspect="1"/>
            </p:cNvPicPr>
            <p:nvPr/>
          </p:nvPicPr>
          <p:blipFill>
            <a:blip r:embed="rId5"/>
            <a:stretch>
              <a:fillRect/>
            </a:stretch>
          </p:blipFill>
          <p:spPr>
            <a:xfrm>
              <a:off x="4218445" y="2211944"/>
              <a:ext cx="2589342" cy="3066987"/>
            </a:xfrm>
            <a:prstGeom prst="rect">
              <a:avLst/>
            </a:prstGeom>
          </p:spPr>
        </p:pic>
        <p:pic>
          <p:nvPicPr>
            <p:cNvPr id="13" name="Picture 12">
              <a:extLst>
                <a:ext uri="{FF2B5EF4-FFF2-40B4-BE49-F238E27FC236}">
                  <a16:creationId xmlns:a16="http://schemas.microsoft.com/office/drawing/2014/main" id="{4DCA375A-6B6E-6A3F-B5E8-2C60621FA998}"/>
                </a:ext>
              </a:extLst>
            </p:cNvPr>
            <p:cNvPicPr>
              <a:picLocks noChangeAspect="1"/>
            </p:cNvPicPr>
            <p:nvPr/>
          </p:nvPicPr>
          <p:blipFill>
            <a:blip r:embed="rId6"/>
            <a:stretch>
              <a:fillRect/>
            </a:stretch>
          </p:blipFill>
          <p:spPr>
            <a:xfrm>
              <a:off x="6830325" y="2211944"/>
              <a:ext cx="2562132" cy="3066987"/>
            </a:xfrm>
            <a:prstGeom prst="rect">
              <a:avLst/>
            </a:prstGeom>
          </p:spPr>
        </p:pic>
      </p:grpSp>
    </p:spTree>
    <p:extLst>
      <p:ext uri="{BB962C8B-B14F-4D97-AF65-F5344CB8AC3E}">
        <p14:creationId xmlns:p14="http://schemas.microsoft.com/office/powerpoint/2010/main" val="3890714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3338AA-6DE8-BFD8-7644-2F0A52F12210}"/>
              </a:ext>
            </a:extLst>
          </p:cNvPr>
          <p:cNvPicPr>
            <a:picLocks noChangeAspect="1"/>
          </p:cNvPicPr>
          <p:nvPr/>
        </p:nvPicPr>
        <p:blipFill>
          <a:blip r:embed="rId3"/>
          <a:stretch>
            <a:fillRect/>
          </a:stretch>
        </p:blipFill>
        <p:spPr>
          <a:xfrm>
            <a:off x="3396011" y="0"/>
            <a:ext cx="5399978" cy="6858000"/>
          </a:xfrm>
          <a:prstGeom prst="rect">
            <a:avLst/>
          </a:prstGeom>
        </p:spPr>
      </p:pic>
      <p:sp>
        <p:nvSpPr>
          <p:cNvPr id="5" name="Rectangle 4">
            <a:extLst>
              <a:ext uri="{FF2B5EF4-FFF2-40B4-BE49-F238E27FC236}">
                <a16:creationId xmlns:a16="http://schemas.microsoft.com/office/drawing/2014/main" id="{5CDB14A4-4020-3654-54A5-35AC0B2C9B24}"/>
              </a:ext>
            </a:extLst>
          </p:cNvPr>
          <p:cNvSpPr/>
          <p:nvPr/>
        </p:nvSpPr>
        <p:spPr>
          <a:xfrm>
            <a:off x="6095999" y="2205318"/>
            <a:ext cx="2699989" cy="875979"/>
          </a:xfrm>
          <a:prstGeom prst="rect">
            <a:avLst/>
          </a:prstGeom>
          <a:noFill/>
          <a:ln w="444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A"/>
          </a:p>
        </p:txBody>
      </p:sp>
      <p:sp>
        <p:nvSpPr>
          <p:cNvPr id="7" name="Rectangle 6">
            <a:extLst>
              <a:ext uri="{FF2B5EF4-FFF2-40B4-BE49-F238E27FC236}">
                <a16:creationId xmlns:a16="http://schemas.microsoft.com/office/drawing/2014/main" id="{81A4A001-C71A-2F1B-0EA0-0538644E7AFE}"/>
              </a:ext>
            </a:extLst>
          </p:cNvPr>
          <p:cNvSpPr/>
          <p:nvPr/>
        </p:nvSpPr>
        <p:spPr>
          <a:xfrm>
            <a:off x="3429475" y="3081297"/>
            <a:ext cx="5366514" cy="3719073"/>
          </a:xfrm>
          <a:prstGeom prst="rect">
            <a:avLst/>
          </a:prstGeom>
          <a:noFill/>
          <a:ln w="444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A"/>
          </a:p>
        </p:txBody>
      </p:sp>
      <p:sp>
        <p:nvSpPr>
          <p:cNvPr id="9" name="Rounded Rectangle 8">
            <a:extLst>
              <a:ext uri="{FF2B5EF4-FFF2-40B4-BE49-F238E27FC236}">
                <a16:creationId xmlns:a16="http://schemas.microsoft.com/office/drawing/2014/main" id="{B6982A83-11E6-43D3-46C8-0C162332FC98}"/>
              </a:ext>
            </a:extLst>
          </p:cNvPr>
          <p:cNvSpPr/>
          <p:nvPr/>
        </p:nvSpPr>
        <p:spPr>
          <a:xfrm>
            <a:off x="91440" y="373380"/>
            <a:ext cx="3200400" cy="1249680"/>
          </a:xfrm>
          <a:prstGeom prst="roundRect">
            <a:avLst>
              <a:gd name="adj" fmla="val 4000"/>
            </a:avLst>
          </a:prstGeom>
          <a:solidFill>
            <a:srgbClr val="F7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D6E684D7-3472-5F62-D137-55BE6E461C2B}"/>
              </a:ext>
            </a:extLst>
          </p:cNvPr>
          <p:cNvSpPr txBox="1"/>
          <p:nvPr/>
        </p:nvSpPr>
        <p:spPr>
          <a:xfrm>
            <a:off x="91440" y="370241"/>
            <a:ext cx="3200400" cy="543739"/>
          </a:xfrm>
          <a:prstGeom prst="rect">
            <a:avLst/>
          </a:prstGeom>
          <a:noFill/>
        </p:spPr>
        <p:txBody>
          <a:bodyPr wrap="square" lIns="25400" tIns="25400" rIns="25400" bIns="25400" anchor="t">
            <a:spAutoFit/>
          </a:bodyPr>
          <a:lstStyle/>
          <a:p>
            <a:pPr algn="ctr">
              <a:lnSpc>
                <a:spcPct val="100000"/>
              </a:lnSpc>
              <a:spcAft>
                <a:spcPts val="400"/>
              </a:spcAft>
            </a:pPr>
            <a:r>
              <a:rPr sz="3200" b="1" i="0" dirty="0">
                <a:solidFill>
                  <a:srgbClr val="C43A35"/>
                </a:solidFill>
                <a:latin typeface="Calibri"/>
              </a:rPr>
              <a:t>0.</a:t>
            </a:r>
            <a:r>
              <a:rPr lang="en-CA" sz="3200" b="1" i="0" dirty="0">
                <a:solidFill>
                  <a:srgbClr val="C43A35"/>
                </a:solidFill>
                <a:latin typeface="Calibri"/>
              </a:rPr>
              <a:t>38(15/39)</a:t>
            </a:r>
            <a:endParaRPr sz="3200" b="1" i="0" dirty="0">
              <a:solidFill>
                <a:srgbClr val="C43A35"/>
              </a:solidFill>
              <a:latin typeface="Calibri"/>
            </a:endParaRPr>
          </a:p>
        </p:txBody>
      </p:sp>
      <p:sp>
        <p:nvSpPr>
          <p:cNvPr id="13" name="TextBox 12">
            <a:extLst>
              <a:ext uri="{FF2B5EF4-FFF2-40B4-BE49-F238E27FC236}">
                <a16:creationId xmlns:a16="http://schemas.microsoft.com/office/drawing/2014/main" id="{3D8E8155-FDE5-8661-4833-E4FEF420B526}"/>
              </a:ext>
            </a:extLst>
          </p:cNvPr>
          <p:cNvSpPr txBox="1"/>
          <p:nvPr/>
        </p:nvSpPr>
        <p:spPr>
          <a:xfrm>
            <a:off x="177937" y="987461"/>
            <a:ext cx="3027406" cy="425758"/>
          </a:xfrm>
          <a:prstGeom prst="rect">
            <a:avLst/>
          </a:prstGeom>
          <a:noFill/>
        </p:spPr>
        <p:txBody>
          <a:bodyPr wrap="square" lIns="25400" tIns="25400" rIns="25400" bIns="25400" anchor="t">
            <a:spAutoFit/>
          </a:bodyPr>
          <a:lstStyle/>
          <a:p>
            <a:pPr algn="ctr">
              <a:lnSpc>
                <a:spcPct val="100000"/>
              </a:lnSpc>
              <a:spcAft>
                <a:spcPts val="400"/>
              </a:spcAft>
            </a:pPr>
            <a:r>
              <a:rPr lang="en-CA" sz="1050" b="1" i="0" dirty="0">
                <a:solidFill>
                  <a:srgbClr val="222A33"/>
                </a:solidFill>
                <a:latin typeface="Calibri"/>
              </a:rPr>
              <a:t>Same vertebra as my label</a:t>
            </a:r>
            <a:endParaRPr sz="1050" b="1" i="0" dirty="0">
              <a:solidFill>
                <a:srgbClr val="222A33"/>
              </a:solidFill>
              <a:latin typeface="Calibri"/>
            </a:endParaRPr>
          </a:p>
          <a:p>
            <a:pPr algn="ctr">
              <a:lnSpc>
                <a:spcPct val="100000"/>
              </a:lnSpc>
              <a:spcAft>
                <a:spcPts val="400"/>
              </a:spcAft>
            </a:pPr>
            <a:r>
              <a:rPr lang="en-CA" sz="1050" b="0" i="0" dirty="0">
                <a:solidFill>
                  <a:srgbClr val="5A646E"/>
                </a:solidFill>
                <a:latin typeface="Calibri"/>
              </a:rPr>
              <a:t>Of those 39, only 15 matched the bone I marked</a:t>
            </a:r>
            <a:endParaRPr sz="1050" b="0" i="0" dirty="0">
              <a:solidFill>
                <a:srgbClr val="5A646E"/>
              </a:solidFill>
              <a:latin typeface="Calibri"/>
            </a:endParaRPr>
          </a:p>
        </p:txBody>
      </p:sp>
      <p:sp>
        <p:nvSpPr>
          <p:cNvPr id="14" name="Rectangle 13">
            <a:extLst>
              <a:ext uri="{FF2B5EF4-FFF2-40B4-BE49-F238E27FC236}">
                <a16:creationId xmlns:a16="http://schemas.microsoft.com/office/drawing/2014/main" id="{0486DD9C-C74A-867C-8E2E-0A8F2777F0B0}"/>
              </a:ext>
            </a:extLst>
          </p:cNvPr>
          <p:cNvSpPr/>
          <p:nvPr/>
        </p:nvSpPr>
        <p:spPr>
          <a:xfrm>
            <a:off x="556260" y="6187440"/>
            <a:ext cx="1051560" cy="194981"/>
          </a:xfrm>
          <a:prstGeom prst="rect">
            <a:avLst/>
          </a:prstGeom>
          <a:noFill/>
          <a:ln w="4762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CA" sz="1200" dirty="0"/>
              <a:t>My masking</a:t>
            </a:r>
          </a:p>
        </p:txBody>
      </p:sp>
      <p:sp>
        <p:nvSpPr>
          <p:cNvPr id="16" name="Rectangle 15">
            <a:extLst>
              <a:ext uri="{FF2B5EF4-FFF2-40B4-BE49-F238E27FC236}">
                <a16:creationId xmlns:a16="http://schemas.microsoft.com/office/drawing/2014/main" id="{7BDC455D-3E40-06DE-9F6C-B01D1684BAE3}"/>
              </a:ext>
            </a:extLst>
          </p:cNvPr>
          <p:cNvSpPr/>
          <p:nvPr/>
        </p:nvSpPr>
        <p:spPr>
          <a:xfrm>
            <a:off x="556260" y="5894973"/>
            <a:ext cx="1051560" cy="194981"/>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r>
              <a:rPr lang="en-CA" sz="1200" dirty="0"/>
              <a:t>AI labeling</a:t>
            </a:r>
          </a:p>
        </p:txBody>
      </p:sp>
    </p:spTree>
    <p:extLst>
      <p:ext uri="{BB962C8B-B14F-4D97-AF65-F5344CB8AC3E}">
        <p14:creationId xmlns:p14="http://schemas.microsoft.com/office/powerpoint/2010/main" val="1768468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515600" cy="274320"/>
          </a:xfrm>
          <a:prstGeom prst="rect">
            <a:avLst/>
          </a:prstGeom>
          <a:noFill/>
        </p:spPr>
        <p:txBody>
          <a:bodyPr wrap="square" lIns="25400" tIns="25400" rIns="25400" bIns="25400" anchor="t">
            <a:spAutoFit/>
          </a:bodyPr>
          <a:lstStyle/>
          <a:p>
            <a:pPr algn="l">
              <a:lnSpc>
                <a:spcPct val="100000"/>
              </a:lnSpc>
              <a:spcAft>
                <a:spcPts val="400"/>
              </a:spcAft>
            </a:pPr>
            <a:r>
              <a:rPr sz="1200" b="1" i="0">
                <a:solidFill>
                  <a:srgbClr val="00838F"/>
                </a:solidFill>
                <a:latin typeface="Calibri"/>
              </a:rPr>
              <a:t>EXPLAINABILITY</a:t>
            </a:r>
          </a:p>
        </p:txBody>
      </p:sp>
      <p:sp>
        <p:nvSpPr>
          <p:cNvPr id="4" name="TextBox 3"/>
          <p:cNvSpPr txBox="1"/>
          <p:nvPr/>
        </p:nvSpPr>
        <p:spPr>
          <a:xfrm>
            <a:off x="548640" y="566928"/>
            <a:ext cx="11064240" cy="640080"/>
          </a:xfrm>
          <a:prstGeom prst="rect">
            <a:avLst/>
          </a:prstGeom>
          <a:noFill/>
        </p:spPr>
        <p:txBody>
          <a:bodyPr wrap="square" lIns="25400" tIns="25400" rIns="25400" bIns="25400" anchor="t">
            <a:spAutoFit/>
          </a:bodyPr>
          <a:lstStyle/>
          <a:p>
            <a:pPr algn="l">
              <a:lnSpc>
                <a:spcPct val="100000"/>
              </a:lnSpc>
              <a:spcAft>
                <a:spcPts val="400"/>
              </a:spcAft>
            </a:pPr>
            <a:r>
              <a:rPr sz="2700" b="1" i="0" dirty="0">
                <a:solidFill>
                  <a:srgbClr val="1B324F"/>
                </a:solidFill>
                <a:latin typeface="Calibri"/>
              </a:rPr>
              <a:t>Can we trust where the AI looks?</a:t>
            </a:r>
          </a:p>
        </p:txBody>
      </p:sp>
      <p:sp>
        <p:nvSpPr>
          <p:cNvPr id="5" name="Rectangle 4"/>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xai_gradcam.png"/>
          <p:cNvPicPr>
            <a:picLocks noChangeAspect="1"/>
          </p:cNvPicPr>
          <p:nvPr/>
        </p:nvPicPr>
        <p:blipFill>
          <a:blip r:embed="rId3"/>
          <a:stretch>
            <a:fillRect/>
          </a:stretch>
        </p:blipFill>
        <p:spPr>
          <a:xfrm>
            <a:off x="548640" y="1463040"/>
            <a:ext cx="6806436" cy="4572000"/>
          </a:xfrm>
          <a:prstGeom prst="rect">
            <a:avLst/>
          </a:prstGeom>
        </p:spPr>
      </p:pic>
      <p:sp>
        <p:nvSpPr>
          <p:cNvPr id="7" name="TextBox 6"/>
          <p:cNvSpPr txBox="1"/>
          <p:nvPr/>
        </p:nvSpPr>
        <p:spPr>
          <a:xfrm>
            <a:off x="8595360" y="1645920"/>
            <a:ext cx="3108960" cy="4389120"/>
          </a:xfrm>
          <a:prstGeom prst="rect">
            <a:avLst/>
          </a:prstGeom>
          <a:noFill/>
        </p:spPr>
        <p:txBody>
          <a:bodyPr wrap="square" lIns="25400" tIns="25400" rIns="25400" bIns="25400" anchor="t">
            <a:spAutoFit/>
          </a:bodyPr>
          <a:lstStyle/>
          <a:p>
            <a:pPr algn="l">
              <a:lnSpc>
                <a:spcPct val="112000"/>
              </a:lnSpc>
              <a:spcAft>
                <a:spcPts val="400"/>
              </a:spcAft>
            </a:pPr>
            <a:r>
              <a:rPr sz="1600" b="1" i="0" dirty="0">
                <a:solidFill>
                  <a:srgbClr val="1B324F"/>
                </a:solidFill>
                <a:latin typeface="Calibri"/>
              </a:rPr>
              <a:t>Grad-CAM (gradient-based)</a:t>
            </a:r>
          </a:p>
          <a:p>
            <a:pPr algn="l">
              <a:lnSpc>
                <a:spcPct val="112000"/>
              </a:lnSpc>
              <a:spcAft>
                <a:spcPts val="400"/>
              </a:spcAft>
            </a:pPr>
            <a:r>
              <a:rPr sz="1400" b="0" i="0" dirty="0">
                <a:solidFill>
                  <a:srgbClr val="222A33"/>
                </a:solidFill>
                <a:latin typeface="Calibri"/>
              </a:rPr>
              <a:t>A heatmap of the pixels the model used to decide 'this is L4'.</a:t>
            </a:r>
          </a:p>
          <a:p>
            <a:pPr algn="l">
              <a:lnSpc>
                <a:spcPct val="112000"/>
              </a:lnSpc>
              <a:spcAft>
                <a:spcPts val="400"/>
              </a:spcAft>
            </a:pPr>
            <a:r>
              <a:rPr sz="1350" b="1" i="0" dirty="0">
                <a:solidFill>
                  <a:srgbClr val="C43A35"/>
                </a:solidFill>
                <a:latin typeface="Calibri"/>
              </a:rPr>
              <a:t>Red / warm = most important.</a:t>
            </a:r>
          </a:p>
          <a:p>
            <a:pPr algn="l">
              <a:lnSpc>
                <a:spcPct val="112000"/>
              </a:lnSpc>
              <a:spcAft>
                <a:spcPts val="400"/>
              </a:spcAft>
            </a:pPr>
            <a:endParaRPr sz="1350" b="1" i="0" dirty="0">
              <a:solidFill>
                <a:srgbClr val="C43A35"/>
              </a:solidFill>
              <a:latin typeface="Calibri"/>
            </a:endParaRPr>
          </a:p>
          <a:p>
            <a:pPr algn="l">
              <a:lnSpc>
                <a:spcPct val="112000"/>
              </a:lnSpc>
              <a:spcAft>
                <a:spcPts val="400"/>
              </a:spcAft>
            </a:pPr>
            <a:r>
              <a:rPr sz="1350" b="0" i="1" dirty="0">
                <a:solidFill>
                  <a:srgbClr val="222A33"/>
                </a:solidFill>
                <a:latin typeface="Calibri"/>
              </a:rPr>
              <a:t>The attention lands on the L4 body and its internal bone structure — not on background, implants, or soft tissue.</a:t>
            </a:r>
          </a:p>
          <a:p>
            <a:pPr algn="l">
              <a:lnSpc>
                <a:spcPct val="112000"/>
              </a:lnSpc>
              <a:spcAft>
                <a:spcPts val="400"/>
              </a:spcAft>
            </a:pPr>
            <a:endParaRPr sz="1350" b="0" i="1" dirty="0">
              <a:solidFill>
                <a:srgbClr val="222A33"/>
              </a:solidFill>
              <a:latin typeface="Calibri"/>
            </a:endParaRPr>
          </a:p>
          <a:p>
            <a:pPr algn="l">
              <a:lnSpc>
                <a:spcPct val="112000"/>
              </a:lnSpc>
              <a:spcAft>
                <a:spcPts val="400"/>
              </a:spcAft>
            </a:pPr>
            <a:r>
              <a:rPr sz="1350" b="0" i="1" dirty="0">
                <a:solidFill>
                  <a:srgbClr val="5A646E"/>
                </a:solidFill>
                <a:latin typeface="Calibri"/>
              </a:rPr>
              <a:t>Why it matters: a clinician can verify the AI is reading the right anatomy before trusting the number.</a:t>
            </a:r>
          </a:p>
        </p:txBody>
      </p:sp>
      <p:sp>
        <p:nvSpPr>
          <p:cNvPr id="8" name="TextBox 7"/>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9" name="TextBox 8"/>
          <p:cNvSpPr txBox="1"/>
          <p:nvPr/>
        </p:nvSpPr>
        <p:spPr>
          <a:xfrm>
            <a:off x="10607040" y="6455664"/>
            <a:ext cx="1005840" cy="189796"/>
          </a:xfrm>
          <a:prstGeom prst="rect">
            <a:avLst/>
          </a:prstGeom>
          <a:noFill/>
        </p:spPr>
        <p:txBody>
          <a:bodyPr wrap="square" lIns="25400" tIns="25400" rIns="25400" bIns="25400" anchor="t">
            <a:spAutoFit/>
          </a:bodyPr>
          <a:lstStyle/>
          <a:p>
            <a:pPr algn="r">
              <a:spcAft>
                <a:spcPts val="400"/>
              </a:spcAft>
            </a:pPr>
            <a:r>
              <a:rPr lang="en-CA" sz="900" b="0" i="0" dirty="0">
                <a:solidFill>
                  <a:srgbClr val="5A646E"/>
                </a:solidFill>
                <a:latin typeface="Calibri"/>
              </a:rPr>
              <a:t>12</a:t>
            </a:r>
            <a:r>
              <a:rPr lang="en-CA" sz="900" dirty="0"/>
              <a:t>/15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515600" cy="235962"/>
          </a:xfrm>
          <a:prstGeom prst="rect">
            <a:avLst/>
          </a:prstGeom>
          <a:noFill/>
        </p:spPr>
        <p:txBody>
          <a:bodyPr wrap="square" lIns="25400" tIns="25400" rIns="25400" bIns="25400" anchor="t">
            <a:spAutoFit/>
          </a:bodyPr>
          <a:lstStyle/>
          <a:p>
            <a:pPr algn="l">
              <a:lnSpc>
                <a:spcPct val="100000"/>
              </a:lnSpc>
              <a:spcAft>
                <a:spcPts val="400"/>
              </a:spcAft>
            </a:pPr>
            <a:r>
              <a:rPr sz="1200" b="1" i="0" dirty="0">
                <a:solidFill>
                  <a:srgbClr val="00838F"/>
                </a:solidFill>
                <a:latin typeface="Calibri"/>
              </a:rPr>
              <a:t>STEP </a:t>
            </a:r>
            <a:r>
              <a:rPr lang="en-CA" sz="1200" b="1" i="0" dirty="0">
                <a:solidFill>
                  <a:srgbClr val="00838F"/>
                </a:solidFill>
                <a:latin typeface="Calibri"/>
              </a:rPr>
              <a:t>2</a:t>
            </a:r>
            <a:endParaRPr sz="1200" b="1" i="0" dirty="0">
              <a:solidFill>
                <a:srgbClr val="00838F"/>
              </a:solidFill>
              <a:latin typeface="Calibri"/>
            </a:endParaRPr>
          </a:p>
        </p:txBody>
      </p:sp>
      <p:sp>
        <p:nvSpPr>
          <p:cNvPr id="4" name="TextBox 3"/>
          <p:cNvSpPr txBox="1"/>
          <p:nvPr/>
        </p:nvSpPr>
        <p:spPr>
          <a:xfrm>
            <a:off x="548640" y="566928"/>
            <a:ext cx="11064240" cy="640080"/>
          </a:xfrm>
          <a:prstGeom prst="rect">
            <a:avLst/>
          </a:prstGeom>
          <a:noFill/>
        </p:spPr>
        <p:txBody>
          <a:bodyPr wrap="square" lIns="25400" tIns="25400" rIns="25400" bIns="25400" anchor="t">
            <a:spAutoFit/>
          </a:bodyPr>
          <a:lstStyle/>
          <a:p>
            <a:pPr algn="l">
              <a:lnSpc>
                <a:spcPct val="100000"/>
              </a:lnSpc>
              <a:spcAft>
                <a:spcPts val="400"/>
              </a:spcAft>
            </a:pPr>
            <a:r>
              <a:rPr sz="2700" b="1" i="0">
                <a:solidFill>
                  <a:srgbClr val="1B324F"/>
                </a:solidFill>
                <a:latin typeface="Calibri"/>
              </a:rPr>
              <a:t>Measuring bone on L4</a:t>
            </a:r>
          </a:p>
        </p:txBody>
      </p:sp>
      <p:sp>
        <p:nvSpPr>
          <p:cNvPr id="5" name="Rectangle 4"/>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63040"/>
            <a:ext cx="9201942" cy="2604431"/>
          </a:xfrm>
          <a:prstGeom prst="rect">
            <a:avLst/>
          </a:prstGeom>
          <a:noFill/>
        </p:spPr>
        <p:txBody>
          <a:bodyPr wrap="square" lIns="25400" tIns="25400" rIns="25400" bIns="25400" anchor="t">
            <a:spAutoFit/>
          </a:bodyPr>
          <a:lstStyle/>
          <a:p>
            <a:pPr>
              <a:lnSpc>
                <a:spcPct val="112000"/>
              </a:lnSpc>
              <a:spcAft>
                <a:spcPts val="400"/>
              </a:spcAft>
            </a:pPr>
            <a:r>
              <a:rPr lang="en-CA" sz="1700" b="1" dirty="0">
                <a:solidFill>
                  <a:srgbClr val="1B324F"/>
                </a:solidFill>
              </a:rPr>
              <a:t>Bone density measurement procedure</a:t>
            </a:r>
          </a:p>
          <a:p>
            <a:pPr>
              <a:lnSpc>
                <a:spcPct val="112000"/>
              </a:lnSpc>
              <a:spcAft>
                <a:spcPts val="400"/>
              </a:spcAft>
            </a:pPr>
            <a:r>
              <a:rPr lang="en-CA" sz="1400" dirty="0">
                <a:solidFill>
                  <a:srgbClr val="222A33"/>
                </a:solidFill>
              </a:rPr>
              <a:t>1. Extract Trabecular Bone ROI - Remove cortical bone and endplates (top and bottom surfaces) to leave only cancellous bone</a:t>
            </a:r>
          </a:p>
          <a:p>
            <a:pPr>
              <a:lnSpc>
                <a:spcPct val="112000"/>
              </a:lnSpc>
              <a:spcAft>
                <a:spcPts val="400"/>
              </a:spcAft>
            </a:pPr>
            <a:r>
              <a:rPr lang="en-CA" sz="1400" dirty="0">
                <a:solidFill>
                  <a:srgbClr val="222A33"/>
                </a:solidFill>
              </a:rPr>
              <a:t>2. Attenuation Domain Transformation - Since pixel values ​​are not density, the calculation is based on light attenuation and soft tissue.</a:t>
            </a:r>
          </a:p>
          <a:p>
            <a:pPr>
              <a:lnSpc>
                <a:spcPct val="112000"/>
              </a:lnSpc>
              <a:spcAft>
                <a:spcPts val="400"/>
              </a:spcAft>
            </a:pPr>
            <a:r>
              <a:rPr lang="en-CA" sz="1400" dirty="0">
                <a:solidFill>
                  <a:srgbClr val="222A33"/>
                </a:solidFill>
              </a:rPr>
              <a:t>4. BAR( Bone Attenuation Ratio ) calculation -  BAR  =  (</a:t>
            </a:r>
            <a:r>
              <a:rPr lang="en-CA" sz="1400" dirty="0" err="1">
                <a:solidFill>
                  <a:srgbClr val="222A33"/>
                </a:solidFill>
              </a:rPr>
              <a:t>A_trabecular</a:t>
            </a:r>
            <a:r>
              <a:rPr lang="en-CA" sz="1400" dirty="0">
                <a:solidFill>
                  <a:srgbClr val="222A33"/>
                </a:solidFill>
              </a:rPr>
              <a:t>  − </a:t>
            </a:r>
            <a:r>
              <a:rPr lang="en-CA" sz="1400" dirty="0" err="1">
                <a:solidFill>
                  <a:srgbClr val="222A33"/>
                </a:solidFill>
              </a:rPr>
              <a:t>A_soft_tissue</a:t>
            </a:r>
            <a:r>
              <a:rPr lang="en-CA" sz="1400" dirty="0">
                <a:solidFill>
                  <a:srgbClr val="222A33"/>
                </a:solidFill>
              </a:rPr>
              <a:t>) / (</a:t>
            </a:r>
            <a:r>
              <a:rPr lang="en-CA" sz="1400" dirty="0" err="1">
                <a:solidFill>
                  <a:srgbClr val="222A33"/>
                </a:solidFill>
              </a:rPr>
              <a:t>A_soft_tissue</a:t>
            </a:r>
            <a:r>
              <a:rPr lang="en-CA" sz="1400" dirty="0">
                <a:solidFill>
                  <a:srgbClr val="222A33"/>
                </a:solidFill>
              </a:rPr>
              <a:t> − </a:t>
            </a:r>
            <a:r>
              <a:rPr lang="en-CA" sz="1400" dirty="0" err="1">
                <a:solidFill>
                  <a:srgbClr val="222A33"/>
                </a:solidFill>
              </a:rPr>
              <a:t>A_air</a:t>
            </a:r>
            <a:r>
              <a:rPr lang="en-CA" sz="1400" dirty="0">
                <a:solidFill>
                  <a:srgbClr val="222A33"/>
                </a:solidFill>
              </a:rPr>
              <a:t>)</a:t>
            </a:r>
          </a:p>
          <a:p>
            <a:pPr>
              <a:lnSpc>
                <a:spcPct val="112000"/>
              </a:lnSpc>
              <a:spcAft>
                <a:spcPts val="400"/>
              </a:spcAft>
            </a:pPr>
            <a:r>
              <a:rPr lang="en-CA" sz="1400" dirty="0">
                <a:solidFill>
                  <a:srgbClr val="222A33"/>
                </a:solidFill>
              </a:rPr>
              <a:t>5. Micro structure - GLCM 5, Variation slope , fractal dimension</a:t>
            </a:r>
          </a:p>
          <a:p>
            <a:pPr>
              <a:lnSpc>
                <a:spcPct val="112000"/>
              </a:lnSpc>
              <a:spcAft>
                <a:spcPts val="400"/>
              </a:spcAft>
            </a:pPr>
            <a:r>
              <a:rPr lang="en-CA" sz="1400" dirty="0">
                <a:solidFill>
                  <a:srgbClr val="222A33"/>
                </a:solidFill>
              </a:rPr>
              <a:t>6. QC (Quality Control) Gate = Checkpoint</a:t>
            </a:r>
          </a:p>
          <a:p>
            <a:pPr>
              <a:lnSpc>
                <a:spcPct val="112000"/>
              </a:lnSpc>
              <a:spcAft>
                <a:spcPts val="400"/>
              </a:spcAft>
            </a:pPr>
            <a:r>
              <a:rPr lang="en-CA" sz="1400" dirty="0">
                <a:solidFill>
                  <a:srgbClr val="222A33"/>
                </a:solidFill>
              </a:rPr>
              <a:t>7. I’ll measure the average value of L1~L4 is bone density.</a:t>
            </a:r>
          </a:p>
          <a:p>
            <a:pPr>
              <a:lnSpc>
                <a:spcPct val="112000"/>
              </a:lnSpc>
              <a:spcAft>
                <a:spcPts val="400"/>
              </a:spcAft>
            </a:pPr>
            <a:r>
              <a:rPr sz="1300" b="1" i="0" dirty="0">
                <a:solidFill>
                  <a:srgbClr val="00838F"/>
                </a:solidFill>
                <a:latin typeface="Calibri"/>
              </a:rPr>
              <a:t>Green = L4   ·   Red = measurement ROI</a:t>
            </a:r>
          </a:p>
        </p:txBody>
      </p:sp>
      <p:sp>
        <p:nvSpPr>
          <p:cNvPr id="8" name="TextBox 7"/>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9" name="TextBox 8"/>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solidFill>
                  <a:srgbClr val="5A646E"/>
                </a:solidFill>
                <a:latin typeface="Calibri"/>
              </a:rPr>
              <a:t>9</a:t>
            </a:r>
            <a:r>
              <a:rPr lang="en-CA" sz="900" dirty="0"/>
              <a:t>/15</a:t>
            </a:r>
            <a:endParaRPr sz="900" b="0" i="0" dirty="0">
              <a:solidFill>
                <a:srgbClr val="5A646E"/>
              </a:solidFill>
              <a:latin typeface="Calibri"/>
            </a:endParaRPr>
          </a:p>
        </p:txBody>
      </p:sp>
      <p:pic>
        <p:nvPicPr>
          <p:cNvPr id="11" name="Picture 10" descr="c22_0.png">
            <a:extLst>
              <a:ext uri="{FF2B5EF4-FFF2-40B4-BE49-F238E27FC236}">
                <a16:creationId xmlns:a16="http://schemas.microsoft.com/office/drawing/2014/main" id="{781C511C-54FE-95FC-5B73-8C08FB7D411B}"/>
              </a:ext>
            </a:extLst>
          </p:cNvPr>
          <p:cNvPicPr>
            <a:picLocks noChangeAspect="1"/>
          </p:cNvPicPr>
          <p:nvPr/>
        </p:nvPicPr>
        <p:blipFill>
          <a:blip r:embed="rId3"/>
          <a:stretch>
            <a:fillRect/>
          </a:stretch>
        </p:blipFill>
        <p:spPr>
          <a:xfrm>
            <a:off x="2377440" y="4001137"/>
            <a:ext cx="9745919" cy="31087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515600" cy="274320"/>
          </a:xfrm>
          <a:prstGeom prst="rect">
            <a:avLst/>
          </a:prstGeom>
          <a:noFill/>
        </p:spPr>
        <p:txBody>
          <a:bodyPr wrap="square" lIns="25400" tIns="25400" rIns="25400" bIns="25400" anchor="t">
            <a:spAutoFit/>
          </a:bodyPr>
          <a:lstStyle/>
          <a:p>
            <a:pPr algn="l">
              <a:lnSpc>
                <a:spcPct val="100000"/>
              </a:lnSpc>
              <a:spcAft>
                <a:spcPts val="400"/>
              </a:spcAft>
            </a:pPr>
            <a:r>
              <a:rPr sz="1200" b="1" i="0">
                <a:solidFill>
                  <a:srgbClr val="00838F"/>
                </a:solidFill>
                <a:latin typeface="Calibri"/>
              </a:rPr>
              <a:t>WHERE WE STAND</a:t>
            </a:r>
          </a:p>
        </p:txBody>
      </p:sp>
      <p:sp>
        <p:nvSpPr>
          <p:cNvPr id="4" name="TextBox 3"/>
          <p:cNvSpPr txBox="1"/>
          <p:nvPr/>
        </p:nvSpPr>
        <p:spPr>
          <a:xfrm>
            <a:off x="548640" y="566928"/>
            <a:ext cx="11064240" cy="640080"/>
          </a:xfrm>
          <a:prstGeom prst="rect">
            <a:avLst/>
          </a:prstGeom>
          <a:noFill/>
        </p:spPr>
        <p:txBody>
          <a:bodyPr wrap="square" lIns="25400" tIns="25400" rIns="25400" bIns="25400" anchor="t">
            <a:spAutoFit/>
          </a:bodyPr>
          <a:lstStyle/>
          <a:p>
            <a:pPr algn="l">
              <a:lnSpc>
                <a:spcPct val="100000"/>
              </a:lnSpc>
              <a:spcAft>
                <a:spcPts val="400"/>
              </a:spcAft>
            </a:pPr>
            <a:r>
              <a:rPr sz="2700" b="1" i="0" dirty="0">
                <a:solidFill>
                  <a:srgbClr val="1B324F"/>
                </a:solidFill>
                <a:latin typeface="Calibri"/>
              </a:rPr>
              <a:t>What works, and what's next</a:t>
            </a:r>
          </a:p>
        </p:txBody>
      </p:sp>
      <p:sp>
        <p:nvSpPr>
          <p:cNvPr id="5" name="Rectangle 4"/>
          <p:cNvSpPr/>
          <p:nvPr/>
        </p:nvSpPr>
        <p:spPr>
          <a:xfrm>
            <a:off x="548640" y="1207008"/>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554480"/>
            <a:ext cx="5394960" cy="4206240"/>
          </a:xfrm>
          <a:prstGeom prst="roundRect">
            <a:avLst>
              <a:gd name="adj" fmla="val 4000"/>
            </a:avLst>
          </a:prstGeom>
          <a:solidFill>
            <a:srgbClr val="E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4937760" cy="1805879"/>
          </a:xfrm>
          <a:prstGeom prst="rect">
            <a:avLst/>
          </a:prstGeom>
          <a:noFill/>
        </p:spPr>
        <p:txBody>
          <a:bodyPr wrap="square" lIns="25400" tIns="25400" rIns="25400" bIns="25400" anchor="t">
            <a:spAutoFit/>
          </a:bodyPr>
          <a:lstStyle/>
          <a:p>
            <a:pPr algn="l">
              <a:lnSpc>
                <a:spcPct val="115000"/>
              </a:lnSpc>
              <a:spcAft>
                <a:spcPts val="400"/>
              </a:spcAft>
            </a:pPr>
            <a:r>
              <a:rPr sz="1300" b="1" i="0" dirty="0">
                <a:solidFill>
                  <a:srgbClr val="2E7D32"/>
                </a:solidFill>
                <a:latin typeface="Calibri"/>
              </a:rPr>
              <a:t>WORKING TODAY</a:t>
            </a:r>
          </a:p>
          <a:p>
            <a:pPr algn="l">
              <a:lnSpc>
                <a:spcPct val="115000"/>
              </a:lnSpc>
              <a:spcAft>
                <a:spcPts val="400"/>
              </a:spcAft>
            </a:pPr>
            <a:r>
              <a:rPr sz="1450" b="0" i="0" dirty="0">
                <a:solidFill>
                  <a:srgbClr val="222A33"/>
                </a:solidFill>
                <a:latin typeface="Calibri"/>
              </a:rPr>
              <a:t>Accurate vertebra detector (mAP@50 = 0.97 in-domain).</a:t>
            </a:r>
          </a:p>
          <a:p>
            <a:pPr algn="l">
              <a:lnSpc>
                <a:spcPct val="115000"/>
              </a:lnSpc>
              <a:spcAft>
                <a:spcPts val="400"/>
              </a:spcAft>
            </a:pPr>
            <a:r>
              <a:rPr sz="1450" b="0" i="0" dirty="0">
                <a:solidFill>
                  <a:srgbClr val="222A33"/>
                </a:solidFill>
                <a:latin typeface="Calibri"/>
              </a:rPr>
              <a:t>Good L4 outline quality on clinical images (Dice = 0.76).</a:t>
            </a:r>
          </a:p>
          <a:p>
            <a:pPr algn="l">
              <a:lnSpc>
                <a:spcPct val="115000"/>
              </a:lnSpc>
              <a:spcAft>
                <a:spcPts val="400"/>
              </a:spcAft>
            </a:pPr>
            <a:r>
              <a:rPr sz="1450" b="0" i="0" dirty="0">
                <a:solidFill>
                  <a:srgbClr val="222A33"/>
                </a:solidFill>
                <a:latin typeface="Calibri"/>
              </a:rPr>
              <a:t>Fully automatic density + texture read-out.</a:t>
            </a:r>
          </a:p>
          <a:p>
            <a:pPr algn="l">
              <a:lnSpc>
                <a:spcPct val="115000"/>
              </a:lnSpc>
              <a:spcAft>
                <a:spcPts val="400"/>
              </a:spcAft>
            </a:pPr>
            <a:r>
              <a:rPr sz="1450" b="0" i="0" dirty="0">
                <a:solidFill>
                  <a:srgbClr val="222A33"/>
                </a:solidFill>
                <a:latin typeface="Calibri"/>
              </a:rPr>
              <a:t>Explainable: heatmaps confirm correct anatomy.</a:t>
            </a:r>
            <a:endParaRPr lang="en-CA" sz="1450" b="0" i="0" dirty="0">
              <a:solidFill>
                <a:srgbClr val="222A33"/>
              </a:solidFill>
              <a:latin typeface="Calibri"/>
            </a:endParaRPr>
          </a:p>
          <a:p>
            <a:pPr algn="l">
              <a:lnSpc>
                <a:spcPct val="115000"/>
              </a:lnSpc>
              <a:spcAft>
                <a:spcPts val="400"/>
              </a:spcAft>
            </a:pPr>
            <a:r>
              <a:rPr lang="en-CA" sz="1450" b="0" i="0" dirty="0">
                <a:solidFill>
                  <a:srgbClr val="222A33"/>
                </a:solidFill>
                <a:latin typeface="Calibri"/>
              </a:rPr>
              <a:t>number evaluation.</a:t>
            </a:r>
          </a:p>
        </p:txBody>
      </p:sp>
      <p:sp>
        <p:nvSpPr>
          <p:cNvPr id="8" name="Rounded Rectangle 7"/>
          <p:cNvSpPr/>
          <p:nvPr/>
        </p:nvSpPr>
        <p:spPr>
          <a:xfrm>
            <a:off x="6217920" y="1554480"/>
            <a:ext cx="5394960" cy="4206240"/>
          </a:xfrm>
          <a:prstGeom prst="roundRect">
            <a:avLst>
              <a:gd name="adj" fmla="val 4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1737360"/>
            <a:ext cx="4937760" cy="1754583"/>
          </a:xfrm>
          <a:prstGeom prst="rect">
            <a:avLst/>
          </a:prstGeom>
          <a:noFill/>
        </p:spPr>
        <p:txBody>
          <a:bodyPr wrap="square" lIns="25400" tIns="25400" rIns="25400" bIns="25400" anchor="t">
            <a:spAutoFit/>
          </a:bodyPr>
          <a:lstStyle/>
          <a:p>
            <a:pPr algn="l">
              <a:lnSpc>
                <a:spcPct val="115000"/>
              </a:lnSpc>
              <a:spcAft>
                <a:spcPts val="400"/>
              </a:spcAft>
            </a:pPr>
            <a:r>
              <a:rPr sz="1300" b="1" i="0" dirty="0">
                <a:solidFill>
                  <a:srgbClr val="00838F"/>
                </a:solidFill>
                <a:latin typeface="Calibri"/>
              </a:rPr>
              <a:t>NEXT STEPS</a:t>
            </a:r>
          </a:p>
          <a:p>
            <a:pPr algn="l">
              <a:lnSpc>
                <a:spcPct val="115000"/>
              </a:lnSpc>
              <a:spcAft>
                <a:spcPts val="400"/>
              </a:spcAft>
            </a:pPr>
            <a:r>
              <a:rPr sz="1450" b="0" i="0" dirty="0">
                <a:solidFill>
                  <a:srgbClr val="222A33"/>
                </a:solidFill>
                <a:latin typeface="Calibri"/>
              </a:rPr>
              <a:t>1)  Fix L4 labeling: fine-tune on a small set of labeled clinical X-rays (removes off-by-one).</a:t>
            </a:r>
          </a:p>
          <a:p>
            <a:pPr algn="l">
              <a:lnSpc>
                <a:spcPct val="115000"/>
              </a:lnSpc>
              <a:spcAft>
                <a:spcPts val="400"/>
              </a:spcAft>
            </a:pPr>
            <a:r>
              <a:rPr sz="1450" b="0" i="0" strike="sngStrike" dirty="0">
                <a:solidFill>
                  <a:srgbClr val="222A33"/>
                </a:solidFill>
                <a:latin typeface="Calibri"/>
              </a:rPr>
              <a:t>2)  Calibrate density to real units using a phantom or paired DXA.</a:t>
            </a:r>
          </a:p>
          <a:p>
            <a:pPr algn="l">
              <a:lnSpc>
                <a:spcPct val="115000"/>
              </a:lnSpc>
              <a:spcAft>
                <a:spcPts val="400"/>
              </a:spcAft>
            </a:pPr>
            <a:r>
              <a:rPr sz="1450" b="0" i="0" strike="sngStrike" dirty="0">
                <a:solidFill>
                  <a:srgbClr val="222A33"/>
                </a:solidFill>
                <a:latin typeface="Calibri"/>
              </a:rPr>
              <a:t>3)  Validate against DXA on the same patients.</a:t>
            </a:r>
          </a:p>
          <a:p>
            <a:pPr algn="l">
              <a:lnSpc>
                <a:spcPct val="115000"/>
              </a:lnSpc>
              <a:spcAft>
                <a:spcPts val="400"/>
              </a:spcAft>
            </a:pPr>
            <a:r>
              <a:rPr sz="1450" b="0" i="0" dirty="0">
                <a:solidFill>
                  <a:srgbClr val="222A33"/>
                </a:solidFill>
                <a:latin typeface="Calibri"/>
              </a:rPr>
              <a:t>4)  Package as a one-click report for routine use.</a:t>
            </a:r>
          </a:p>
        </p:txBody>
      </p:sp>
      <p:sp>
        <p:nvSpPr>
          <p:cNvPr id="10" name="TextBox 9"/>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11" name="TextBox 10"/>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latin typeface="Calibri"/>
              </a:rPr>
              <a:t>13</a:t>
            </a:r>
            <a:r>
              <a:rPr lang="en-CA" sz="900" dirty="0"/>
              <a:t>/15</a:t>
            </a:r>
            <a:endParaRPr sz="900" b="0" i="0" dirty="0">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914400"/>
            <a:ext cx="1828800" cy="3810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10972800" cy="822960"/>
          </a:xfrm>
          <a:prstGeom prst="rect">
            <a:avLst/>
          </a:prstGeom>
          <a:noFill/>
        </p:spPr>
        <p:txBody>
          <a:bodyPr wrap="square" lIns="25400" tIns="25400" rIns="25400" bIns="25400" anchor="t">
            <a:spAutoFit/>
          </a:bodyPr>
          <a:lstStyle/>
          <a:p>
            <a:pPr algn="l">
              <a:lnSpc>
                <a:spcPct val="100000"/>
              </a:lnSpc>
              <a:spcAft>
                <a:spcPts val="400"/>
              </a:spcAft>
            </a:pPr>
            <a:r>
              <a:rPr sz="3400" b="1" i="0" dirty="0">
                <a:solidFill>
                  <a:srgbClr val="FFFFFF"/>
                </a:solidFill>
                <a:latin typeface="Calibri"/>
              </a:rPr>
              <a:t>Takeaways</a:t>
            </a:r>
          </a:p>
        </p:txBody>
      </p:sp>
      <p:sp>
        <p:nvSpPr>
          <p:cNvPr id="5" name="Oval 4"/>
          <p:cNvSpPr/>
          <p:nvPr/>
        </p:nvSpPr>
        <p:spPr>
          <a:xfrm>
            <a:off x="594360" y="2157984"/>
            <a:ext cx="146304" cy="146304"/>
          </a:xfrm>
          <a:prstGeom prst="ellipse">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03120"/>
            <a:ext cx="10424160" cy="340734"/>
          </a:xfrm>
          <a:prstGeom prst="rect">
            <a:avLst/>
          </a:prstGeom>
          <a:noFill/>
        </p:spPr>
        <p:txBody>
          <a:bodyPr wrap="square" lIns="25400" tIns="25400" rIns="25400" bIns="25400" anchor="t">
            <a:spAutoFit/>
          </a:bodyPr>
          <a:lstStyle/>
          <a:p>
            <a:pPr algn="l">
              <a:lnSpc>
                <a:spcPct val="110000"/>
              </a:lnSpc>
              <a:spcAft>
                <a:spcPts val="400"/>
              </a:spcAft>
            </a:pPr>
            <a:r>
              <a:rPr lang="en-CA" sz="1800" b="0" i="0" dirty="0">
                <a:solidFill>
                  <a:srgbClr val="DDE6EF"/>
                </a:solidFill>
                <a:latin typeface="Calibri"/>
              </a:rPr>
              <a:t>We</a:t>
            </a:r>
            <a:r>
              <a:rPr sz="1800" b="0" i="0" dirty="0">
                <a:solidFill>
                  <a:srgbClr val="DDE6EF"/>
                </a:solidFill>
                <a:latin typeface="Calibri"/>
              </a:rPr>
              <a:t> can measure L4 bone density and texture automatically from X-rays </a:t>
            </a:r>
            <a:r>
              <a:rPr lang="en-CA" sz="1800" b="0" i="0" dirty="0">
                <a:solidFill>
                  <a:srgbClr val="DDE6EF"/>
                </a:solidFill>
                <a:latin typeface="Calibri"/>
              </a:rPr>
              <a:t>you</a:t>
            </a:r>
            <a:r>
              <a:rPr sz="1800" b="0" i="0" dirty="0">
                <a:solidFill>
                  <a:srgbClr val="DDE6EF"/>
                </a:solidFill>
                <a:latin typeface="Calibri"/>
              </a:rPr>
              <a:t> already take.</a:t>
            </a:r>
          </a:p>
        </p:txBody>
      </p:sp>
      <p:sp>
        <p:nvSpPr>
          <p:cNvPr id="7" name="Oval 6"/>
          <p:cNvSpPr/>
          <p:nvPr/>
        </p:nvSpPr>
        <p:spPr>
          <a:xfrm>
            <a:off x="594360" y="3026664"/>
            <a:ext cx="146304" cy="146304"/>
          </a:xfrm>
          <a:prstGeom prst="ellipse">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971800"/>
            <a:ext cx="10424160" cy="645433"/>
          </a:xfrm>
          <a:prstGeom prst="rect">
            <a:avLst/>
          </a:prstGeom>
          <a:noFill/>
        </p:spPr>
        <p:txBody>
          <a:bodyPr wrap="square" lIns="25400" tIns="25400" rIns="25400" bIns="25400" anchor="t">
            <a:spAutoFit/>
          </a:bodyPr>
          <a:lstStyle/>
          <a:p>
            <a:pPr>
              <a:lnSpc>
                <a:spcPct val="110000"/>
              </a:lnSpc>
              <a:spcAft>
                <a:spcPts val="400"/>
              </a:spcAft>
            </a:pPr>
            <a:r>
              <a:rPr sz="1800" b="0" i="0" dirty="0">
                <a:solidFill>
                  <a:srgbClr val="DDE6EF"/>
                </a:solidFill>
                <a:latin typeface="Calibri"/>
              </a:rPr>
              <a:t>The detector is accurate and explainable; the L4 outline quality on clinical images is good (0.76).</a:t>
            </a:r>
            <a:br>
              <a:rPr lang="en-CA" sz="1800" b="0" i="0" dirty="0">
                <a:solidFill>
                  <a:srgbClr val="DDE6EF"/>
                </a:solidFill>
                <a:latin typeface="Calibri"/>
              </a:rPr>
            </a:br>
            <a:r>
              <a:rPr lang="en-CA" sz="1800" b="0" i="0" dirty="0">
                <a:solidFill>
                  <a:srgbClr val="DDE6EF"/>
                </a:solidFill>
                <a:latin typeface="Calibri"/>
              </a:rPr>
              <a:t>( </a:t>
            </a:r>
            <a:r>
              <a:rPr lang="en-US" dirty="0">
                <a:solidFill>
                  <a:srgbClr val="DDE6EF"/>
                </a:solidFill>
              </a:rPr>
              <a:t>0.97 for the extracted vertebrae)</a:t>
            </a:r>
            <a:endParaRPr sz="1800" b="0" i="0" dirty="0">
              <a:solidFill>
                <a:srgbClr val="DDE6EF"/>
              </a:solidFill>
              <a:latin typeface="Calibri"/>
            </a:endParaRPr>
          </a:p>
        </p:txBody>
      </p:sp>
      <p:sp>
        <p:nvSpPr>
          <p:cNvPr id="9" name="Oval 8"/>
          <p:cNvSpPr/>
          <p:nvPr/>
        </p:nvSpPr>
        <p:spPr>
          <a:xfrm>
            <a:off x="594360" y="3895344"/>
            <a:ext cx="146304" cy="146304"/>
          </a:xfrm>
          <a:prstGeom prst="ellipse">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840480"/>
            <a:ext cx="10424160" cy="822960"/>
          </a:xfrm>
          <a:prstGeom prst="rect">
            <a:avLst/>
          </a:prstGeom>
          <a:noFill/>
        </p:spPr>
        <p:txBody>
          <a:bodyPr wrap="square" lIns="25400" tIns="25400" rIns="25400" bIns="25400" anchor="t">
            <a:spAutoFit/>
          </a:bodyPr>
          <a:lstStyle/>
          <a:p>
            <a:pPr algn="l">
              <a:lnSpc>
                <a:spcPct val="110000"/>
              </a:lnSpc>
              <a:spcAft>
                <a:spcPts val="400"/>
              </a:spcAft>
            </a:pPr>
            <a:r>
              <a:rPr sz="1800" b="0" i="0" dirty="0">
                <a:solidFill>
                  <a:srgbClr val="DDE6EF"/>
                </a:solidFill>
                <a:latin typeface="Calibri"/>
              </a:rPr>
              <a:t>One clear, fixable gap remains: correctly labeling L4 on out-of-domain clinical images.</a:t>
            </a:r>
          </a:p>
        </p:txBody>
      </p:sp>
      <p:sp>
        <p:nvSpPr>
          <p:cNvPr id="11" name="Oval 10"/>
          <p:cNvSpPr/>
          <p:nvPr/>
        </p:nvSpPr>
        <p:spPr>
          <a:xfrm>
            <a:off x="594360" y="4764024"/>
            <a:ext cx="146304" cy="146304"/>
          </a:xfrm>
          <a:prstGeom prst="ellipse">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709160"/>
            <a:ext cx="10424160" cy="822960"/>
          </a:xfrm>
          <a:prstGeom prst="rect">
            <a:avLst/>
          </a:prstGeom>
          <a:noFill/>
        </p:spPr>
        <p:txBody>
          <a:bodyPr wrap="square" lIns="25400" tIns="25400" rIns="25400" bIns="25400" anchor="t">
            <a:spAutoFit/>
          </a:bodyPr>
          <a:lstStyle/>
          <a:p>
            <a:pPr algn="l">
              <a:lnSpc>
                <a:spcPct val="110000"/>
              </a:lnSpc>
              <a:spcAft>
                <a:spcPts val="400"/>
              </a:spcAft>
            </a:pPr>
            <a:r>
              <a:rPr sz="1800" b="0" i="0" dirty="0">
                <a:solidFill>
                  <a:srgbClr val="DDE6EF"/>
                </a:solidFill>
                <a:latin typeface="Calibri"/>
              </a:rPr>
              <a:t>With a small labeled clinical set + calibration, this can become a routine bone-quality readout.</a:t>
            </a:r>
          </a:p>
        </p:txBody>
      </p:sp>
      <p:sp>
        <p:nvSpPr>
          <p:cNvPr id="13" name="Rectangle 12"/>
          <p:cNvSpPr/>
          <p:nvPr/>
        </p:nvSpPr>
        <p:spPr>
          <a:xfrm>
            <a:off x="548640" y="5715000"/>
            <a:ext cx="11064240" cy="19050"/>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5897880"/>
            <a:ext cx="10972800" cy="548640"/>
          </a:xfrm>
          <a:prstGeom prst="rect">
            <a:avLst/>
          </a:prstGeom>
          <a:noFill/>
        </p:spPr>
        <p:txBody>
          <a:bodyPr wrap="square" lIns="25400" tIns="25400" rIns="25400" bIns="25400" anchor="t">
            <a:spAutoFit/>
          </a:bodyPr>
          <a:lstStyle/>
          <a:p>
            <a:pPr algn="l">
              <a:lnSpc>
                <a:spcPct val="100000"/>
              </a:lnSpc>
              <a:spcAft>
                <a:spcPts val="400"/>
              </a:spcAft>
            </a:pPr>
            <a:r>
              <a:rPr sz="1800" b="1" i="0">
                <a:solidFill>
                  <a:srgbClr val="FFFFFF"/>
                </a:solidFill>
                <a:latin typeface="Calibri"/>
              </a:rPr>
              <a:t>Thank you  —  questions &amp; discussion welcome.</a:t>
            </a:r>
          </a:p>
        </p:txBody>
      </p:sp>
      <p:sp>
        <p:nvSpPr>
          <p:cNvPr id="15" name="TextBox 14"/>
          <p:cNvSpPr txBox="1"/>
          <p:nvPr/>
        </p:nvSpPr>
        <p:spPr>
          <a:xfrm>
            <a:off x="548640" y="6355080"/>
            <a:ext cx="10972800" cy="235962"/>
          </a:xfrm>
          <a:prstGeom prst="rect">
            <a:avLst/>
          </a:prstGeom>
          <a:noFill/>
        </p:spPr>
        <p:txBody>
          <a:bodyPr wrap="square" lIns="25400" tIns="25400" rIns="25400" bIns="25400" anchor="t">
            <a:spAutoFit/>
          </a:bodyPr>
          <a:lstStyle/>
          <a:p>
            <a:pPr algn="l">
              <a:lnSpc>
                <a:spcPct val="100000"/>
              </a:lnSpc>
              <a:spcAft>
                <a:spcPts val="400"/>
              </a:spcAft>
            </a:pPr>
            <a:r>
              <a:rPr lang="en-CA" sz="1200" dirty="0">
                <a:solidFill>
                  <a:srgbClr val="AEB9C6"/>
                </a:solidFill>
                <a:latin typeface="Calibri"/>
              </a:rPr>
              <a:t>Edward</a:t>
            </a:r>
            <a:r>
              <a:rPr sz="1200" b="0" i="0" dirty="0">
                <a:solidFill>
                  <a:srgbClr val="AEB9C6"/>
                </a:solidFill>
                <a:latin typeface="Calibri"/>
              </a:rPr>
              <a:t> · Data Analyst</a:t>
            </a:r>
          </a:p>
        </p:txBody>
      </p:sp>
      <p:sp>
        <p:nvSpPr>
          <p:cNvPr id="17" name="TextBox 16">
            <a:extLst>
              <a:ext uri="{FF2B5EF4-FFF2-40B4-BE49-F238E27FC236}">
                <a16:creationId xmlns:a16="http://schemas.microsoft.com/office/drawing/2014/main" id="{F9C90ED9-488B-99C3-5CC4-9C84F99FA513}"/>
              </a:ext>
            </a:extLst>
          </p:cNvPr>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solidFill>
                  <a:schemeClr val="bg1"/>
                </a:solidFill>
                <a:latin typeface="Calibri"/>
              </a:rPr>
              <a:t>14/15</a:t>
            </a:r>
            <a:endParaRPr sz="900" b="0" i="0" dirty="0">
              <a:solidFill>
                <a:schemeClr val="bg1"/>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05E42-36D3-C4F6-BC30-341ABE8070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628C1E3-E1A7-10EC-7849-0B66A4C01709}"/>
              </a:ext>
            </a:extLst>
          </p:cNvPr>
          <p:cNvSpPr/>
          <p:nvPr/>
        </p:nvSpPr>
        <p:spPr>
          <a:xfrm>
            <a:off x="0" y="0"/>
            <a:ext cx="12191695" cy="164592"/>
          </a:xfrm>
          <a:prstGeom prst="rect">
            <a:avLst/>
          </a:prstGeom>
          <a:solidFill>
            <a:srgbClr val="0083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01FBCD4-CC43-5185-5C8E-E5A591B5577B}"/>
              </a:ext>
            </a:extLst>
          </p:cNvPr>
          <p:cNvSpPr txBox="1"/>
          <p:nvPr/>
        </p:nvSpPr>
        <p:spPr>
          <a:xfrm>
            <a:off x="548640" y="320040"/>
            <a:ext cx="10515600" cy="235962"/>
          </a:xfrm>
          <a:prstGeom prst="rect">
            <a:avLst/>
          </a:prstGeom>
          <a:noFill/>
        </p:spPr>
        <p:txBody>
          <a:bodyPr wrap="square" lIns="25400" tIns="25400" rIns="25400" bIns="25400" anchor="t">
            <a:spAutoFit/>
          </a:bodyPr>
          <a:lstStyle/>
          <a:p>
            <a:pPr algn="l">
              <a:lnSpc>
                <a:spcPct val="100000"/>
              </a:lnSpc>
              <a:spcAft>
                <a:spcPts val="400"/>
              </a:spcAft>
            </a:pPr>
            <a:r>
              <a:rPr lang="en-CA" sz="1200" b="1" i="0" dirty="0">
                <a:solidFill>
                  <a:srgbClr val="00838F"/>
                </a:solidFill>
                <a:latin typeface="Calibri"/>
              </a:rPr>
              <a:t>Sample Application Description version</a:t>
            </a:r>
            <a:endParaRPr sz="1200" b="1" i="0" dirty="0">
              <a:solidFill>
                <a:srgbClr val="00838F"/>
              </a:solidFill>
              <a:latin typeface="Calibri"/>
            </a:endParaRPr>
          </a:p>
        </p:txBody>
      </p:sp>
      <p:sp>
        <p:nvSpPr>
          <p:cNvPr id="10" name="TextBox 9">
            <a:extLst>
              <a:ext uri="{FF2B5EF4-FFF2-40B4-BE49-F238E27FC236}">
                <a16:creationId xmlns:a16="http://schemas.microsoft.com/office/drawing/2014/main" id="{75C949DD-DF1A-CE25-8F5E-43840AB0EC2A}"/>
              </a:ext>
            </a:extLst>
          </p:cNvPr>
          <p:cNvSpPr txBox="1"/>
          <p:nvPr/>
        </p:nvSpPr>
        <p:spPr>
          <a:xfrm>
            <a:off x="548640" y="6455664"/>
            <a:ext cx="7315200" cy="274320"/>
          </a:xfrm>
          <a:prstGeom prst="rect">
            <a:avLst/>
          </a:prstGeom>
          <a:noFill/>
        </p:spPr>
        <p:txBody>
          <a:bodyPr wrap="square" lIns="25400" tIns="25400" rIns="25400" bIns="25400" anchor="t">
            <a:spAutoFit/>
          </a:bodyPr>
          <a:lstStyle/>
          <a:p>
            <a:pPr algn="l">
              <a:lnSpc>
                <a:spcPct val="100000"/>
              </a:lnSpc>
              <a:spcAft>
                <a:spcPts val="400"/>
              </a:spcAft>
            </a:pPr>
            <a:r>
              <a:rPr sz="900" b="0" i="0">
                <a:solidFill>
                  <a:srgbClr val="5A646E"/>
                </a:solidFill>
                <a:latin typeface="Calibri"/>
              </a:rPr>
              <a:t>L4 Spinal Bone Measurement  ·  Data Analytics</a:t>
            </a:r>
          </a:p>
        </p:txBody>
      </p:sp>
      <p:sp>
        <p:nvSpPr>
          <p:cNvPr id="11" name="TextBox 10">
            <a:extLst>
              <a:ext uri="{FF2B5EF4-FFF2-40B4-BE49-F238E27FC236}">
                <a16:creationId xmlns:a16="http://schemas.microsoft.com/office/drawing/2014/main" id="{4CE5D938-2FAA-BDEF-67AB-3499DEAFA859}"/>
              </a:ext>
            </a:extLst>
          </p:cNvPr>
          <p:cNvSpPr txBox="1"/>
          <p:nvPr/>
        </p:nvSpPr>
        <p:spPr>
          <a:xfrm>
            <a:off x="10164126" y="6455664"/>
            <a:ext cx="1005840" cy="274320"/>
          </a:xfrm>
          <a:prstGeom prst="rect">
            <a:avLst/>
          </a:prstGeom>
          <a:noFill/>
        </p:spPr>
        <p:txBody>
          <a:bodyPr wrap="square" lIns="25400" tIns="25400" rIns="25400" bIns="25400" anchor="t">
            <a:spAutoFit/>
          </a:bodyPr>
          <a:lstStyle/>
          <a:p>
            <a:pPr algn="r">
              <a:lnSpc>
                <a:spcPct val="100000"/>
              </a:lnSpc>
              <a:spcAft>
                <a:spcPts val="400"/>
              </a:spcAft>
            </a:pPr>
            <a:r>
              <a:rPr sz="900" b="0" i="0">
                <a:solidFill>
                  <a:srgbClr val="5A646E"/>
                </a:solidFill>
                <a:latin typeface="Calibri"/>
              </a:rPr>
              <a:t>10</a:t>
            </a:r>
          </a:p>
        </p:txBody>
      </p:sp>
      <p:pic>
        <p:nvPicPr>
          <p:cNvPr id="13" name="Picture 12">
            <a:extLst>
              <a:ext uri="{FF2B5EF4-FFF2-40B4-BE49-F238E27FC236}">
                <a16:creationId xmlns:a16="http://schemas.microsoft.com/office/drawing/2014/main" id="{378C13A6-536D-CABC-EAAB-AE72BCF5EFE0}"/>
              </a:ext>
            </a:extLst>
          </p:cNvPr>
          <p:cNvPicPr>
            <a:picLocks noChangeAspect="1"/>
          </p:cNvPicPr>
          <p:nvPr/>
        </p:nvPicPr>
        <p:blipFill>
          <a:blip r:embed="rId3"/>
          <a:stretch>
            <a:fillRect/>
          </a:stretch>
        </p:blipFill>
        <p:spPr>
          <a:xfrm>
            <a:off x="684846" y="598864"/>
            <a:ext cx="10671810" cy="6202324"/>
          </a:xfrm>
          <a:prstGeom prst="rect">
            <a:avLst/>
          </a:prstGeom>
          <a:solidFill>
            <a:schemeClr val="bg1"/>
          </a:solidFill>
          <a:ln>
            <a:solidFill>
              <a:schemeClr val="accent1"/>
            </a:solidFill>
          </a:ln>
        </p:spPr>
      </p:pic>
      <p:sp>
        <p:nvSpPr>
          <p:cNvPr id="14" name="Rectangle: Rounded Corners 13">
            <a:extLst>
              <a:ext uri="{FF2B5EF4-FFF2-40B4-BE49-F238E27FC236}">
                <a16:creationId xmlns:a16="http://schemas.microsoft.com/office/drawing/2014/main" id="{08B3D23D-919D-D5C3-4229-EB8D083971B7}"/>
              </a:ext>
            </a:extLst>
          </p:cNvPr>
          <p:cNvSpPr/>
          <p:nvPr/>
        </p:nvSpPr>
        <p:spPr>
          <a:xfrm>
            <a:off x="684846" y="711450"/>
            <a:ext cx="1572578" cy="3046163"/>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r>
              <a:rPr lang="en-CA" sz="1400" dirty="0"/>
              <a:t>Patients Area</a:t>
            </a:r>
          </a:p>
        </p:txBody>
      </p:sp>
      <p:sp>
        <p:nvSpPr>
          <p:cNvPr id="16" name="Rectangle: Rounded Corners 15">
            <a:extLst>
              <a:ext uri="{FF2B5EF4-FFF2-40B4-BE49-F238E27FC236}">
                <a16:creationId xmlns:a16="http://schemas.microsoft.com/office/drawing/2014/main" id="{EBECEA96-F7F0-154E-F070-E4EF13B22B29}"/>
              </a:ext>
            </a:extLst>
          </p:cNvPr>
          <p:cNvSpPr/>
          <p:nvPr/>
        </p:nvSpPr>
        <p:spPr>
          <a:xfrm>
            <a:off x="2257424" y="711450"/>
            <a:ext cx="2000250" cy="2542603"/>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r>
              <a:rPr lang="en-CA" sz="1400" dirty="0"/>
              <a:t>Patient X-ray upload history</a:t>
            </a:r>
          </a:p>
        </p:txBody>
      </p:sp>
      <p:sp>
        <p:nvSpPr>
          <p:cNvPr id="18" name="Rectangle: Rounded Corners 17">
            <a:extLst>
              <a:ext uri="{FF2B5EF4-FFF2-40B4-BE49-F238E27FC236}">
                <a16:creationId xmlns:a16="http://schemas.microsoft.com/office/drawing/2014/main" id="{DAD91DC0-4A1E-A61B-8000-7F8266850FDF}"/>
              </a:ext>
            </a:extLst>
          </p:cNvPr>
          <p:cNvSpPr/>
          <p:nvPr/>
        </p:nvSpPr>
        <p:spPr>
          <a:xfrm>
            <a:off x="2257424" y="3296915"/>
            <a:ext cx="2000250" cy="2289498"/>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b"/>
          <a:lstStyle/>
          <a:p>
            <a:pPr algn="ctr"/>
            <a:r>
              <a:rPr lang="en-US" sz="1400" dirty="0"/>
              <a:t>Graph of bone density changes according to X-ray upload date</a:t>
            </a:r>
            <a:endParaRPr lang="en-CA" sz="1400" dirty="0"/>
          </a:p>
        </p:txBody>
      </p:sp>
      <p:sp>
        <p:nvSpPr>
          <p:cNvPr id="20" name="Rectangle: Rounded Corners 19">
            <a:extLst>
              <a:ext uri="{FF2B5EF4-FFF2-40B4-BE49-F238E27FC236}">
                <a16:creationId xmlns:a16="http://schemas.microsoft.com/office/drawing/2014/main" id="{DA1AFE7A-15D3-3674-F827-4279E667A652}"/>
              </a:ext>
            </a:extLst>
          </p:cNvPr>
          <p:cNvSpPr/>
          <p:nvPr/>
        </p:nvSpPr>
        <p:spPr>
          <a:xfrm>
            <a:off x="4257673" y="711450"/>
            <a:ext cx="5150643" cy="1938881"/>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r>
              <a:rPr lang="en-US" sz="1400" dirty="0"/>
              <a:t>Original X-ray image and extracted vertebrae and L4 marking</a:t>
            </a:r>
            <a:endParaRPr lang="en-CA" sz="1400" dirty="0"/>
          </a:p>
        </p:txBody>
      </p:sp>
      <p:cxnSp>
        <p:nvCxnSpPr>
          <p:cNvPr id="25" name="Straight Connector 24">
            <a:extLst>
              <a:ext uri="{FF2B5EF4-FFF2-40B4-BE49-F238E27FC236}">
                <a16:creationId xmlns:a16="http://schemas.microsoft.com/office/drawing/2014/main" id="{0E9BE525-6284-FE8B-3E16-93B2D1F8DA06}"/>
              </a:ext>
            </a:extLst>
          </p:cNvPr>
          <p:cNvCxnSpPr/>
          <p:nvPr/>
        </p:nvCxnSpPr>
        <p:spPr>
          <a:xfrm flipH="1">
            <a:off x="4371974" y="1771650"/>
            <a:ext cx="2336006" cy="1092994"/>
          </a:xfrm>
          <a:prstGeom prst="line">
            <a:avLst/>
          </a:prstGeom>
        </p:spPr>
        <p:style>
          <a:lnRef idx="2">
            <a:schemeClr val="accent2"/>
          </a:lnRef>
          <a:fillRef idx="0">
            <a:schemeClr val="accent2"/>
          </a:fillRef>
          <a:effectRef idx="1">
            <a:schemeClr val="accent2"/>
          </a:effectRef>
          <a:fontRef idx="minor">
            <a:schemeClr val="tx1"/>
          </a:fontRef>
        </p:style>
      </p:cxnSp>
      <p:cxnSp>
        <p:nvCxnSpPr>
          <p:cNvPr id="26" name="Straight Connector 25">
            <a:extLst>
              <a:ext uri="{FF2B5EF4-FFF2-40B4-BE49-F238E27FC236}">
                <a16:creationId xmlns:a16="http://schemas.microsoft.com/office/drawing/2014/main" id="{86BD7090-62E2-4AF8-B174-8928ECE62AAE}"/>
              </a:ext>
            </a:extLst>
          </p:cNvPr>
          <p:cNvCxnSpPr>
            <a:cxnSpLocks/>
          </p:cNvCxnSpPr>
          <p:nvPr/>
        </p:nvCxnSpPr>
        <p:spPr>
          <a:xfrm>
            <a:off x="6943724" y="1771650"/>
            <a:ext cx="314325" cy="1092994"/>
          </a:xfrm>
          <a:prstGeom prst="line">
            <a:avLst/>
          </a:prstGeom>
        </p:spPr>
        <p:style>
          <a:lnRef idx="2">
            <a:schemeClr val="accent2"/>
          </a:lnRef>
          <a:fillRef idx="0">
            <a:schemeClr val="accent2"/>
          </a:fillRef>
          <a:effectRef idx="1">
            <a:schemeClr val="accent2"/>
          </a:effectRef>
          <a:fontRef idx="minor">
            <a:schemeClr val="tx1"/>
          </a:fontRef>
        </p:style>
      </p:cxnSp>
      <p:sp>
        <p:nvSpPr>
          <p:cNvPr id="32" name="Rectangle: Rounded Corners 31">
            <a:extLst>
              <a:ext uri="{FF2B5EF4-FFF2-40B4-BE49-F238E27FC236}">
                <a16:creationId xmlns:a16="http://schemas.microsoft.com/office/drawing/2014/main" id="{D2E096B4-4A79-91CA-D49A-C0298A791EEF}"/>
              </a:ext>
            </a:extLst>
          </p:cNvPr>
          <p:cNvSpPr/>
          <p:nvPr/>
        </p:nvSpPr>
        <p:spPr>
          <a:xfrm>
            <a:off x="4257674" y="2650332"/>
            <a:ext cx="4693443" cy="1614487"/>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r"/>
            <a:r>
              <a:rPr lang="en-US" sz="1400" dirty="0"/>
              <a:t>Extracted L4 vertebra</a:t>
            </a:r>
            <a:endParaRPr lang="en-CA" sz="1400" dirty="0"/>
          </a:p>
        </p:txBody>
      </p:sp>
      <p:sp>
        <p:nvSpPr>
          <p:cNvPr id="34" name="Rectangle: Rounded Corners 33">
            <a:extLst>
              <a:ext uri="{FF2B5EF4-FFF2-40B4-BE49-F238E27FC236}">
                <a16:creationId xmlns:a16="http://schemas.microsoft.com/office/drawing/2014/main" id="{9918CC23-E109-CE87-D087-5CD6435BBDE8}"/>
              </a:ext>
            </a:extLst>
          </p:cNvPr>
          <p:cNvSpPr/>
          <p:nvPr/>
        </p:nvSpPr>
        <p:spPr>
          <a:xfrm>
            <a:off x="4257674" y="4264820"/>
            <a:ext cx="4693443" cy="1014412"/>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r"/>
            <a:r>
              <a:rPr lang="en-US" sz="1400" dirty="0"/>
              <a:t>X-ray Metadata</a:t>
            </a:r>
            <a:endParaRPr lang="en-CA" sz="1400" dirty="0"/>
          </a:p>
        </p:txBody>
      </p:sp>
      <p:sp>
        <p:nvSpPr>
          <p:cNvPr id="36" name="Rectangle: Rounded Corners 35">
            <a:extLst>
              <a:ext uri="{FF2B5EF4-FFF2-40B4-BE49-F238E27FC236}">
                <a16:creationId xmlns:a16="http://schemas.microsoft.com/office/drawing/2014/main" id="{21AFFCF6-A544-D135-8BC5-2A5BEAF3D367}"/>
              </a:ext>
            </a:extLst>
          </p:cNvPr>
          <p:cNvSpPr/>
          <p:nvPr/>
        </p:nvSpPr>
        <p:spPr>
          <a:xfrm>
            <a:off x="9408316" y="710906"/>
            <a:ext cx="2628903" cy="796426"/>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r"/>
            <a:r>
              <a:rPr lang="en-CA" sz="1400" dirty="0"/>
              <a:t>Bone tissue value based on brightness (0 - 1)</a:t>
            </a:r>
          </a:p>
        </p:txBody>
      </p:sp>
      <p:sp>
        <p:nvSpPr>
          <p:cNvPr id="38" name="Rectangle: Rounded Corners 37">
            <a:extLst>
              <a:ext uri="{FF2B5EF4-FFF2-40B4-BE49-F238E27FC236}">
                <a16:creationId xmlns:a16="http://schemas.microsoft.com/office/drawing/2014/main" id="{03113A64-1954-4904-B0EC-FBF5D02ECEC8}"/>
              </a:ext>
            </a:extLst>
          </p:cNvPr>
          <p:cNvSpPr/>
          <p:nvPr/>
        </p:nvSpPr>
        <p:spPr>
          <a:xfrm>
            <a:off x="9408315" y="1509713"/>
            <a:ext cx="2628903" cy="2247899"/>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r"/>
            <a:r>
              <a:rPr lang="en-CA" sz="1400" dirty="0"/>
              <a:t>Explainable </a:t>
            </a:r>
          </a:p>
          <a:p>
            <a:pPr algn="r"/>
            <a:r>
              <a:rPr lang="en-CA" sz="1400" dirty="0"/>
              <a:t>AI values</a:t>
            </a:r>
          </a:p>
        </p:txBody>
      </p:sp>
      <p:sp>
        <p:nvSpPr>
          <p:cNvPr id="40" name="Rectangle: Rounded Corners 39">
            <a:extLst>
              <a:ext uri="{FF2B5EF4-FFF2-40B4-BE49-F238E27FC236}">
                <a16:creationId xmlns:a16="http://schemas.microsoft.com/office/drawing/2014/main" id="{3DA15FB8-E1BA-4207-7532-5029D7A1AA5E}"/>
              </a:ext>
            </a:extLst>
          </p:cNvPr>
          <p:cNvSpPr/>
          <p:nvPr/>
        </p:nvSpPr>
        <p:spPr>
          <a:xfrm>
            <a:off x="9408316" y="3759994"/>
            <a:ext cx="2628903" cy="1433512"/>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r"/>
            <a:r>
              <a:rPr lang="en-CA" sz="1400" dirty="0"/>
              <a:t>Areas </a:t>
            </a:r>
          </a:p>
          <a:p>
            <a:pPr algn="r"/>
            <a:r>
              <a:rPr lang="en-CA" sz="1400" dirty="0"/>
              <a:t>affecting </a:t>
            </a:r>
          </a:p>
          <a:p>
            <a:pPr algn="r"/>
            <a:r>
              <a:rPr lang="en-CA" sz="1400" dirty="0"/>
              <a:t>BMD</a:t>
            </a:r>
          </a:p>
        </p:txBody>
      </p:sp>
      <p:sp>
        <p:nvSpPr>
          <p:cNvPr id="42" name="Rectangle: Rounded Corners 41">
            <a:extLst>
              <a:ext uri="{FF2B5EF4-FFF2-40B4-BE49-F238E27FC236}">
                <a16:creationId xmlns:a16="http://schemas.microsoft.com/office/drawing/2014/main" id="{BC21EB97-30F6-3BCE-B086-ED9773CAB100}"/>
              </a:ext>
            </a:extLst>
          </p:cNvPr>
          <p:cNvSpPr/>
          <p:nvPr/>
        </p:nvSpPr>
        <p:spPr>
          <a:xfrm>
            <a:off x="9408316" y="5193506"/>
            <a:ext cx="2628903" cy="1536478"/>
          </a:xfrm>
          <a:prstGeom prst="roundRect">
            <a:avLst>
              <a:gd name="adj" fmla="val 12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r"/>
            <a:r>
              <a:rPr lang="en-CA" sz="1400" dirty="0"/>
              <a:t>Areas </a:t>
            </a:r>
          </a:p>
          <a:p>
            <a:pPr algn="r"/>
            <a:r>
              <a:rPr lang="en-CA" sz="1400" dirty="0"/>
              <a:t>affecting </a:t>
            </a:r>
          </a:p>
          <a:p>
            <a:pPr algn="r"/>
            <a:r>
              <a:rPr lang="en-CA" sz="1400" dirty="0"/>
              <a:t>L4</a:t>
            </a:r>
          </a:p>
          <a:p>
            <a:pPr algn="r"/>
            <a:r>
              <a:rPr lang="en-CA" sz="1400" dirty="0"/>
              <a:t>Extraction</a:t>
            </a:r>
          </a:p>
        </p:txBody>
      </p:sp>
      <p:sp>
        <p:nvSpPr>
          <p:cNvPr id="5" name="TextBox 4">
            <a:extLst>
              <a:ext uri="{FF2B5EF4-FFF2-40B4-BE49-F238E27FC236}">
                <a16:creationId xmlns:a16="http://schemas.microsoft.com/office/drawing/2014/main" id="{880C8717-CA91-6B45-8E0A-779EB58B080E}"/>
              </a:ext>
            </a:extLst>
          </p:cNvPr>
          <p:cNvSpPr txBox="1"/>
          <p:nvPr/>
        </p:nvSpPr>
        <p:spPr>
          <a:xfrm>
            <a:off x="10607040" y="6455664"/>
            <a:ext cx="1005840" cy="189796"/>
          </a:xfrm>
          <a:prstGeom prst="rect">
            <a:avLst/>
          </a:prstGeom>
          <a:noFill/>
        </p:spPr>
        <p:txBody>
          <a:bodyPr wrap="square" lIns="25400" tIns="25400" rIns="25400" bIns="25400" anchor="t">
            <a:spAutoFit/>
          </a:bodyPr>
          <a:lstStyle/>
          <a:p>
            <a:pPr algn="r">
              <a:lnSpc>
                <a:spcPct val="100000"/>
              </a:lnSpc>
              <a:spcAft>
                <a:spcPts val="400"/>
              </a:spcAft>
            </a:pPr>
            <a:r>
              <a:rPr lang="en-CA" sz="900" b="0" i="0" dirty="0">
                <a:latin typeface="Calibri"/>
              </a:rPr>
              <a:t>15</a:t>
            </a:r>
            <a:r>
              <a:rPr lang="en-CA" sz="900" dirty="0"/>
              <a:t>/15</a:t>
            </a:r>
            <a:endParaRPr sz="900" b="0" i="0" dirty="0">
              <a:latin typeface="Calibri"/>
            </a:endParaRPr>
          </a:p>
        </p:txBody>
      </p:sp>
    </p:spTree>
    <p:extLst>
      <p:ext uri="{BB962C8B-B14F-4D97-AF65-F5344CB8AC3E}">
        <p14:creationId xmlns:p14="http://schemas.microsoft.com/office/powerpoint/2010/main" val="4254591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7509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5123</TotalTime>
  <Words>2864</Words>
  <Application>Microsoft Office PowerPoint</Application>
  <PresentationFormat>Widescreen</PresentationFormat>
  <Paragraphs>351</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최성민</dc:creator>
  <cp:keywords/>
  <dc:description>generated using python-pptx</dc:description>
  <cp:lastModifiedBy>Choi, Seongmin</cp:lastModifiedBy>
  <cp:revision>29</cp:revision>
  <dcterms:created xsi:type="dcterms:W3CDTF">2013-01-27T09:14:16Z</dcterms:created>
  <dcterms:modified xsi:type="dcterms:W3CDTF">2026-07-11T07:42:07Z</dcterms:modified>
  <cp:category/>
</cp:coreProperties>
</file>