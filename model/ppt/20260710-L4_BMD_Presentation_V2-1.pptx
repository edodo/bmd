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Rectangle 1"/>
          <p:cNvSpPr/>
          <p:nvPr/>
        </p:nvSpPr>
        <p:spPr>
          <a:xfrm>
            <a:off x="822960" y="2212848"/>
            <a:ext cx="1005840" cy="50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95728"/>
            <a:ext cx="10607040" cy="2377440"/>
          </a:xfrm>
          <a:prstGeom prst="rect">
            <a:avLst/>
          </a:prstGeom>
          <a:noFill/>
        </p:spPr>
        <p:txBody>
          <a:bodyPr wrap="square" anchor="t">
            <a:spAutoFit/>
          </a:bodyPr>
          <a:lstStyle/>
          <a:p>
            <a:pPr algn="l">
              <a:lnSpc>
                <a:spcPct val="95000"/>
              </a:lnSpc>
              <a:spcBef>
                <a:spcPts val="0"/>
              </a:spcBef>
              <a:spcAft>
                <a:spcPts val="200"/>
              </a:spcAft>
            </a:pPr>
            <a:r>
              <a:rPr sz="4000" b="1" i="0">
                <a:solidFill>
                  <a:srgbClr val="FFFFFF"/>
                </a:solidFill>
                <a:latin typeface="Segoe UI"/>
              </a:rPr>
              <a:t>L4 Bone Mineral Density &amp; Microarchitecture</a:t>
            </a:r>
          </a:p>
          <a:p>
            <a:pPr algn="l">
              <a:spcBef>
                <a:spcPts val="0"/>
              </a:spcBef>
              <a:spcAft>
                <a:spcPts val="2000"/>
              </a:spcAft>
            </a:pPr>
            <a:r>
              <a:rPr sz="1900" b="0" i="0">
                <a:solidFill>
                  <a:srgbClr val="C3C2B7"/>
                </a:solidFill>
                <a:latin typeface="Segoe UI"/>
              </a:rPr>
              <a:t>Clinician-facing pipeline v16  ·  YOLO26-seg, AP + LA</a:t>
            </a:r>
          </a:p>
          <a:p>
            <a:pPr algn="l">
              <a:spcBef>
                <a:spcPts val="0"/>
              </a:spcBef>
              <a:spcAft>
                <a:spcPts val="0"/>
              </a:spcAft>
            </a:pPr>
            <a:r>
              <a:rPr sz="1600" b="1" i="0">
                <a:solidFill>
                  <a:srgbClr val="3987E5"/>
                </a:solidFill>
                <a:latin typeface="Segoe UI"/>
              </a:rPr>
              <a:t>An analyst's review: what the numbers actually support</a:t>
            </a:r>
          </a:p>
        </p:txBody>
      </p:sp>
      <p:sp>
        <p:nvSpPr>
          <p:cNvPr id="4" name="TextBox 3"/>
          <p:cNvSpPr txBox="1"/>
          <p:nvPr/>
        </p:nvSpPr>
        <p:spPr>
          <a:xfrm>
            <a:off x="822960" y="5074920"/>
            <a:ext cx="10607040" cy="1097280"/>
          </a:xfrm>
          <a:prstGeom prst="rect">
            <a:avLst/>
          </a:prstGeom>
          <a:noFill/>
        </p:spPr>
        <p:txBody>
          <a:bodyPr wrap="square" anchor="t">
            <a:spAutoFit/>
          </a:bodyPr>
          <a:lstStyle/>
          <a:p>
            <a:pPr algn="l">
              <a:spcBef>
                <a:spcPts val="0"/>
              </a:spcBef>
              <a:spcAft>
                <a:spcPts val="800"/>
              </a:spcAft>
            </a:pPr>
            <a:r>
              <a:rPr sz="1300" b="0" i="1">
                <a:solidFill>
                  <a:srgbClr val="898781"/>
                </a:solidFill>
                <a:latin typeface="Segoe UI"/>
              </a:rPr>
              <a:t>Measuring spinal bone architecture after hip surgery from plain radiographs</a:t>
            </a:r>
          </a:p>
          <a:p>
            <a:pPr algn="l">
              <a:spcBef>
                <a:spcPts val="0"/>
              </a:spcBef>
              <a:spcAft>
                <a:spcPts val="0"/>
              </a:spcAft>
            </a:pPr>
            <a:r>
              <a:rPr sz="1150" b="0" i="0">
                <a:solidFill>
                  <a:srgbClr val="898781"/>
                </a:solidFill>
                <a:latin typeface="Segoe UI"/>
              </a:rPr>
              <a:t>L4_AP_segmentation_v16.ipynb   ·   BUU-LSPINE-2000 (n=4,000) + DICOM test set (n=42)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3987E5"/>
                </a:solidFill>
                <a:latin typeface="Segoe UI"/>
              </a:rPr>
              <a:t>EXECUTIVE SUMMARY</a:t>
            </a:r>
          </a:p>
          <a:p>
            <a:pPr algn="l">
              <a:lnSpc>
                <a:spcPct val="95000"/>
              </a:lnSpc>
              <a:spcBef>
                <a:spcPts val="0"/>
              </a:spcBef>
              <a:spcAft>
                <a:spcPts val="0"/>
              </a:spcAft>
            </a:pPr>
            <a:r>
              <a:rPr sz="2700" b="1" i="0">
                <a:solidFill>
                  <a:srgbClr val="FFFFFF"/>
                </a:solidFill>
                <a:latin typeface="Segoe UI"/>
              </a:rPr>
              <a:t>The physics is sound. The statistics are driven by one study.</a:t>
            </a:r>
          </a:p>
        </p:txBody>
      </p:sp>
      <p:sp>
        <p:nvSpPr>
          <p:cNvPr id="3" name="Rectangle 2"/>
          <p:cNvSpPr/>
          <p:nvPr/>
        </p:nvSpPr>
        <p:spPr>
          <a:xfrm>
            <a:off x="566928" y="566928"/>
            <a:ext cx="658368" cy="50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64240" cy="548640"/>
          </a:xfrm>
          <a:prstGeom prst="rect">
            <a:avLst/>
          </a:prstGeom>
          <a:noFill/>
        </p:spPr>
        <p:txBody>
          <a:bodyPr wrap="square" anchor="t">
            <a:spAutoFit/>
          </a:bodyPr>
          <a:lstStyle/>
          <a:p>
            <a:pPr>
              <a:lnSpc>
                <a:spcPct val="115000"/>
              </a:lnSpc>
              <a:spcBef>
                <a:spcPts val="0"/>
              </a:spcBef>
              <a:spcAft>
                <a:spcPts val="600"/>
              </a:spcAft>
            </a:pPr>
            <a:r>
              <a:rPr sz="1350" b="0">
                <a:solidFill>
                  <a:srgbClr val="C3C2B7"/>
                </a:solidFill>
                <a:latin typeface="Segoe UI"/>
              </a:rPr>
              <a:t>The physics and the segmentation are sound; every clinical number on top of them is not. </a:t>
            </a:r>
            <a:r>
              <a:rPr sz="1350" b="1">
                <a:solidFill>
                  <a:srgbClr val="FFFFFF"/>
                </a:solidFill>
                <a:latin typeface="Segoe UI"/>
              </a:rPr>
              <a:t>Findings 2–4 and 6 are all one contaminated reference fit. Finding 1 is a labelling rule. Finding 5 is real.</a:t>
            </a:r>
          </a:p>
        </p:txBody>
      </p:sp>
      <p:sp>
        <p:nvSpPr>
          <p:cNvPr id="5" name="TextBox 4"/>
          <p:cNvSpPr txBox="1"/>
          <p:nvPr/>
        </p:nvSpPr>
        <p:spPr>
          <a:xfrm>
            <a:off x="566928" y="2368296"/>
            <a:ext cx="457200" cy="457200"/>
          </a:xfrm>
          <a:prstGeom prst="rect">
            <a:avLst/>
          </a:prstGeom>
          <a:noFill/>
        </p:spPr>
        <p:txBody>
          <a:bodyPr wrap="square" anchor="t">
            <a:spAutoFit/>
          </a:bodyPr>
          <a:lstStyle/>
          <a:p>
            <a:pPr algn="l">
              <a:spcBef>
                <a:spcPts val="0"/>
              </a:spcBef>
              <a:spcAft>
                <a:spcPts val="600"/>
              </a:spcAft>
            </a:pPr>
            <a:r>
              <a:rPr sz="1700" b="1" i="0">
                <a:solidFill>
                  <a:srgbClr val="D03B3B"/>
                </a:solidFill>
                <a:latin typeface="Segoe UI"/>
              </a:rPr>
              <a:t>1</a:t>
            </a:r>
          </a:p>
        </p:txBody>
      </p:sp>
      <p:sp>
        <p:nvSpPr>
          <p:cNvPr id="6" name="TextBox 5"/>
          <p:cNvSpPr txBox="1"/>
          <p:nvPr/>
        </p:nvSpPr>
        <p:spPr>
          <a:xfrm>
            <a:off x="1024128" y="2340864"/>
            <a:ext cx="10607040" cy="658368"/>
          </a:xfrm>
          <a:prstGeom prst="rect">
            <a:avLst/>
          </a:prstGeom>
          <a:noFill/>
        </p:spPr>
        <p:txBody>
          <a:bodyPr wrap="square" anchor="t">
            <a:spAutoFit/>
          </a:bodyPr>
          <a:lstStyle/>
          <a:p>
            <a:pPr>
              <a:lnSpc>
                <a:spcPct val="110000"/>
              </a:lnSpc>
              <a:spcBef>
                <a:spcPts val="0"/>
              </a:spcBef>
              <a:spcAft>
                <a:spcPts val="600"/>
              </a:spcAft>
            </a:pPr>
            <a:r>
              <a:rPr sz="1250" b="1">
                <a:solidFill>
                  <a:srgbClr val="FFFFFF"/>
                </a:solidFill>
                <a:latin typeface="Segoe UI"/>
              </a:rPr>
              <a:t>Segmentation works; L4 naming does not.  </a:t>
            </a:r>
            <a:r>
              <a:rPr sz="1250" b="0">
                <a:solidFill>
                  <a:srgbClr val="C3C2B7"/>
                </a:solidFill>
                <a:latin typeface="Segoe UI"/>
              </a:rPr>
              <a:t>Matched Dice 0.757 vs deployed 0.302. 27 of 42 test images name the wrong vertebra.</a:t>
            </a:r>
          </a:p>
        </p:txBody>
      </p:sp>
      <p:sp>
        <p:nvSpPr>
          <p:cNvPr id="7" name="TextBox 6"/>
          <p:cNvSpPr txBox="1"/>
          <p:nvPr/>
        </p:nvSpPr>
        <p:spPr>
          <a:xfrm>
            <a:off x="566928" y="3026664"/>
            <a:ext cx="457200" cy="457200"/>
          </a:xfrm>
          <a:prstGeom prst="rect">
            <a:avLst/>
          </a:prstGeom>
          <a:noFill/>
        </p:spPr>
        <p:txBody>
          <a:bodyPr wrap="square" anchor="t">
            <a:spAutoFit/>
          </a:bodyPr>
          <a:lstStyle/>
          <a:p>
            <a:pPr algn="l">
              <a:spcBef>
                <a:spcPts val="0"/>
              </a:spcBef>
              <a:spcAft>
                <a:spcPts val="600"/>
              </a:spcAft>
            </a:pPr>
            <a:r>
              <a:rPr sz="1700" b="1" i="0">
                <a:solidFill>
                  <a:srgbClr val="D03B3B"/>
                </a:solidFill>
                <a:latin typeface="Segoe UI"/>
              </a:rPr>
              <a:t>2</a:t>
            </a:r>
          </a:p>
        </p:txBody>
      </p:sp>
      <p:sp>
        <p:nvSpPr>
          <p:cNvPr id="8" name="TextBox 7"/>
          <p:cNvSpPr txBox="1"/>
          <p:nvPr/>
        </p:nvSpPr>
        <p:spPr>
          <a:xfrm>
            <a:off x="1024128" y="2999232"/>
            <a:ext cx="10607040" cy="658368"/>
          </a:xfrm>
          <a:prstGeom prst="rect">
            <a:avLst/>
          </a:prstGeom>
          <a:noFill/>
        </p:spPr>
        <p:txBody>
          <a:bodyPr wrap="square" anchor="t">
            <a:spAutoFit/>
          </a:bodyPr>
          <a:lstStyle/>
          <a:p>
            <a:pPr>
              <a:lnSpc>
                <a:spcPct val="110000"/>
              </a:lnSpc>
              <a:spcBef>
                <a:spcPts val="0"/>
              </a:spcBef>
              <a:spcAft>
                <a:spcPts val="600"/>
              </a:spcAft>
            </a:pPr>
            <a:r>
              <a:rPr sz="1250" b="1">
                <a:solidFill>
                  <a:srgbClr val="FFFFFF"/>
                </a:solidFill>
                <a:latin typeface="Segoe UI"/>
              </a:rPr>
              <a:t>The reference cohort is contaminated.  </a:t>
            </a:r>
            <a:r>
              <a:rPr sz="1250" b="0">
                <a:solidFill>
                  <a:srgbClr val="C3C2B7"/>
                </a:solidFill>
                <a:latin typeface="Segoe UI"/>
              </a:rPr>
              <a:t>It was fitted on 38 studies including QC-WARN. One study (BAR = 12.24) inflates σ by 8.5×.</a:t>
            </a:r>
          </a:p>
        </p:txBody>
      </p:sp>
      <p:sp>
        <p:nvSpPr>
          <p:cNvPr id="9" name="TextBox 8"/>
          <p:cNvSpPr txBox="1"/>
          <p:nvPr/>
        </p:nvSpPr>
        <p:spPr>
          <a:xfrm>
            <a:off x="566928" y="3685032"/>
            <a:ext cx="457200" cy="457200"/>
          </a:xfrm>
          <a:prstGeom prst="rect">
            <a:avLst/>
          </a:prstGeom>
          <a:noFill/>
        </p:spPr>
        <p:txBody>
          <a:bodyPr wrap="square" anchor="t">
            <a:spAutoFit/>
          </a:bodyPr>
          <a:lstStyle/>
          <a:p>
            <a:pPr algn="l">
              <a:spcBef>
                <a:spcPts val="0"/>
              </a:spcBef>
              <a:spcAft>
                <a:spcPts val="600"/>
              </a:spcAft>
            </a:pPr>
            <a:r>
              <a:rPr sz="1700" b="1" i="0">
                <a:solidFill>
                  <a:srgbClr val="D03B3B"/>
                </a:solidFill>
                <a:latin typeface="Segoe UI"/>
              </a:rPr>
              <a:t>3</a:t>
            </a:r>
          </a:p>
        </p:txBody>
      </p:sp>
      <p:sp>
        <p:nvSpPr>
          <p:cNvPr id="10" name="TextBox 9"/>
          <p:cNvSpPr txBox="1"/>
          <p:nvPr/>
        </p:nvSpPr>
        <p:spPr>
          <a:xfrm>
            <a:off x="1024128" y="3657600"/>
            <a:ext cx="10607040" cy="658368"/>
          </a:xfrm>
          <a:prstGeom prst="rect">
            <a:avLst/>
          </a:prstGeom>
          <a:noFill/>
        </p:spPr>
        <p:txBody>
          <a:bodyPr wrap="square" anchor="t">
            <a:spAutoFit/>
          </a:bodyPr>
          <a:lstStyle/>
          <a:p>
            <a:pPr>
              <a:lnSpc>
                <a:spcPct val="110000"/>
              </a:lnSpc>
              <a:spcBef>
                <a:spcPts val="0"/>
              </a:spcBef>
              <a:spcAft>
                <a:spcPts val="600"/>
              </a:spcAft>
            </a:pPr>
            <a:r>
              <a:rPr sz="1250" b="1">
                <a:solidFill>
                  <a:srgbClr val="FFFFFF"/>
                </a:solidFill>
                <a:latin typeface="Segoe UI"/>
              </a:rPr>
              <a:t>The z-score can never flag anyone.  </a:t>
            </a:r>
            <a:r>
              <a:rPr sz="1250" b="0">
                <a:solidFill>
                  <a:srgbClr val="C3C2B7"/>
                </a:solidFill>
                <a:latin typeface="Segoe UI"/>
              </a:rPr>
              <a:t>With σ = 1.949, z ≤ −1 requires BAR ≤ −1.33 — impossible. Hence 38/38 “Within reference”.</a:t>
            </a:r>
          </a:p>
        </p:txBody>
      </p:sp>
      <p:sp>
        <p:nvSpPr>
          <p:cNvPr id="11" name="TextBox 10"/>
          <p:cNvSpPr txBox="1"/>
          <p:nvPr/>
        </p:nvSpPr>
        <p:spPr>
          <a:xfrm>
            <a:off x="566928" y="4343400"/>
            <a:ext cx="457200" cy="457200"/>
          </a:xfrm>
          <a:prstGeom prst="rect">
            <a:avLst/>
          </a:prstGeom>
          <a:noFill/>
        </p:spPr>
        <p:txBody>
          <a:bodyPr wrap="square" anchor="t">
            <a:spAutoFit/>
          </a:bodyPr>
          <a:lstStyle/>
          <a:p>
            <a:pPr algn="l">
              <a:spcBef>
                <a:spcPts val="0"/>
              </a:spcBef>
              <a:spcAft>
                <a:spcPts val="600"/>
              </a:spcAft>
            </a:pPr>
            <a:r>
              <a:rPr sz="1700" b="1" i="0">
                <a:solidFill>
                  <a:srgbClr val="D03B3B"/>
                </a:solidFill>
                <a:latin typeface="Segoe UI"/>
              </a:rPr>
              <a:t>4</a:t>
            </a:r>
          </a:p>
        </p:txBody>
      </p:sp>
      <p:sp>
        <p:nvSpPr>
          <p:cNvPr id="12" name="TextBox 11"/>
          <p:cNvSpPr txBox="1"/>
          <p:nvPr/>
        </p:nvSpPr>
        <p:spPr>
          <a:xfrm>
            <a:off x="1024128" y="4315968"/>
            <a:ext cx="10607040" cy="658368"/>
          </a:xfrm>
          <a:prstGeom prst="rect">
            <a:avLst/>
          </a:prstGeom>
          <a:noFill/>
        </p:spPr>
        <p:txBody>
          <a:bodyPr wrap="square" anchor="t">
            <a:spAutoFit/>
          </a:bodyPr>
          <a:lstStyle/>
          <a:p>
            <a:pPr>
              <a:lnSpc>
                <a:spcPct val="110000"/>
              </a:lnSpc>
              <a:spcBef>
                <a:spcPts val="0"/>
              </a:spcBef>
              <a:spcAft>
                <a:spcPts val="600"/>
              </a:spcAft>
            </a:pPr>
            <a:r>
              <a:rPr sz="1250" b="1">
                <a:solidFill>
                  <a:srgbClr val="FFFFFF"/>
                </a:solidFill>
                <a:latin typeface="Segoe UI"/>
              </a:rPr>
              <a:t>Learned texture polarity is a leverage artifact.  </a:t>
            </a:r>
            <a:r>
              <a:rPr sz="1250" b="0">
                <a:solidFill>
                  <a:srgbClr val="C3C2B7"/>
                </a:solidFill>
                <a:latin typeface="Segoe UI"/>
              </a:rPr>
              <a:t>Drop that one study and fractal dimension's sign flips (+0.845 → −0.275). It carries 15% of BHI.</a:t>
            </a:r>
          </a:p>
        </p:txBody>
      </p:sp>
      <p:sp>
        <p:nvSpPr>
          <p:cNvPr id="13" name="TextBox 12"/>
          <p:cNvSpPr txBox="1"/>
          <p:nvPr/>
        </p:nvSpPr>
        <p:spPr>
          <a:xfrm>
            <a:off x="566928" y="5001768"/>
            <a:ext cx="457200" cy="457200"/>
          </a:xfrm>
          <a:prstGeom prst="rect">
            <a:avLst/>
          </a:prstGeom>
          <a:noFill/>
        </p:spPr>
        <p:txBody>
          <a:bodyPr wrap="square" anchor="t">
            <a:spAutoFit/>
          </a:bodyPr>
          <a:lstStyle/>
          <a:p>
            <a:pPr algn="l">
              <a:spcBef>
                <a:spcPts val="0"/>
              </a:spcBef>
              <a:spcAft>
                <a:spcPts val="600"/>
              </a:spcAft>
            </a:pPr>
            <a:r>
              <a:rPr sz="1700" b="1" i="0">
                <a:solidFill>
                  <a:srgbClr val="FAB219"/>
                </a:solidFill>
                <a:latin typeface="Segoe UI"/>
              </a:rPr>
              <a:t>5</a:t>
            </a:r>
          </a:p>
        </p:txBody>
      </p:sp>
      <p:sp>
        <p:nvSpPr>
          <p:cNvPr id="14" name="TextBox 13"/>
          <p:cNvSpPr txBox="1"/>
          <p:nvPr/>
        </p:nvSpPr>
        <p:spPr>
          <a:xfrm>
            <a:off x="1024128" y="4974336"/>
            <a:ext cx="10607040" cy="658368"/>
          </a:xfrm>
          <a:prstGeom prst="rect">
            <a:avLst/>
          </a:prstGeom>
          <a:noFill/>
        </p:spPr>
        <p:txBody>
          <a:bodyPr wrap="square" anchor="t">
            <a:spAutoFit/>
          </a:bodyPr>
          <a:lstStyle/>
          <a:p>
            <a:pPr>
              <a:lnSpc>
                <a:spcPct val="110000"/>
              </a:lnSpc>
              <a:spcBef>
                <a:spcPts val="0"/>
              </a:spcBef>
              <a:spcAft>
                <a:spcPts val="600"/>
              </a:spcAft>
            </a:pPr>
            <a:r>
              <a:rPr sz="1250" b="1">
                <a:solidFill>
                  <a:srgbClr val="FFFFFF"/>
                </a:solidFill>
                <a:latin typeface="Segoe UI"/>
              </a:rPr>
              <a:t>Precision, not the outlier, blocks follow-up use.  </a:t>
            </a:r>
            <a:r>
              <a:rPr sz="1250" b="0">
                <a:solidFill>
                  <a:srgbClr val="C3C2B7"/>
                </a:solidFill>
                <a:latin typeface="Segoe UI"/>
              </a:rPr>
              <a:t>The QC gate cuts LSC from 96.8% to 36.8% — still 12× worse than DXA. This one is not an artifact.</a:t>
            </a:r>
          </a:p>
        </p:txBody>
      </p:sp>
      <p:sp>
        <p:nvSpPr>
          <p:cNvPr id="15" name="TextBox 14"/>
          <p:cNvSpPr txBox="1"/>
          <p:nvPr/>
        </p:nvSpPr>
        <p:spPr>
          <a:xfrm>
            <a:off x="566928" y="5660136"/>
            <a:ext cx="457200" cy="457200"/>
          </a:xfrm>
          <a:prstGeom prst="rect">
            <a:avLst/>
          </a:prstGeom>
          <a:noFill/>
        </p:spPr>
        <p:txBody>
          <a:bodyPr wrap="square" anchor="t">
            <a:spAutoFit/>
          </a:bodyPr>
          <a:lstStyle/>
          <a:p>
            <a:pPr algn="l">
              <a:spcBef>
                <a:spcPts val="0"/>
              </a:spcBef>
              <a:spcAft>
                <a:spcPts val="600"/>
              </a:spcAft>
            </a:pPr>
            <a:r>
              <a:rPr sz="1700" b="1" i="0">
                <a:solidFill>
                  <a:srgbClr val="FAB219"/>
                </a:solidFill>
                <a:latin typeface="Segoe UI"/>
              </a:rPr>
              <a:t>6</a:t>
            </a:r>
          </a:p>
        </p:txBody>
      </p:sp>
      <p:sp>
        <p:nvSpPr>
          <p:cNvPr id="16" name="TextBox 15"/>
          <p:cNvSpPr txBox="1"/>
          <p:nvPr/>
        </p:nvSpPr>
        <p:spPr>
          <a:xfrm>
            <a:off x="1024128" y="5632704"/>
            <a:ext cx="10607040" cy="658368"/>
          </a:xfrm>
          <a:prstGeom prst="rect">
            <a:avLst/>
          </a:prstGeom>
          <a:noFill/>
        </p:spPr>
        <p:txBody>
          <a:bodyPr wrap="square" anchor="t">
            <a:spAutoFit/>
          </a:bodyPr>
          <a:lstStyle/>
          <a:p>
            <a:pPr>
              <a:lnSpc>
                <a:spcPct val="110000"/>
              </a:lnSpc>
              <a:spcBef>
                <a:spcPts val="0"/>
              </a:spcBef>
              <a:spcAft>
                <a:spcPts val="600"/>
              </a:spcAft>
            </a:pPr>
            <a:r>
              <a:rPr sz="1250" b="1">
                <a:solidFill>
                  <a:srgbClr val="FFFFFF"/>
                </a:solidFill>
                <a:latin typeface="Segoe UI"/>
              </a:rPr>
              <a:t>BAR is right-skewed; a Gaussian z is misspecified.  </a:t>
            </a:r>
            <a:r>
              <a:rPr sz="1250" b="0">
                <a:solidFill>
                  <a:srgbClr val="C3C2B7"/>
                </a:solidFill>
                <a:latin typeface="Segoe UI"/>
              </a:rPr>
              <a:t>skew = +5.80 raw, +0.33 on log(BAR). The reference should be fitted in log space.</a:t>
            </a:r>
          </a:p>
        </p:txBody>
      </p:sp>
      <p:sp>
        <p:nvSpPr>
          <p:cNvPr id="17" name="TextBox 16"/>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Every finding below is recomputed directly from the notebook's own metrics/ CSVs.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3987E5"/>
                </a:solidFill>
                <a:latin typeface="Segoe UI"/>
              </a:rPr>
              <a:t>CONTEXT</a:t>
            </a:r>
          </a:p>
          <a:p>
            <a:pPr algn="l">
              <a:lnSpc>
                <a:spcPct val="95000"/>
              </a:lnSpc>
              <a:spcBef>
                <a:spcPts val="0"/>
              </a:spcBef>
              <a:spcAft>
                <a:spcPts val="0"/>
              </a:spcAft>
            </a:pPr>
            <a:r>
              <a:rPr sz="2800" b="1" i="0">
                <a:solidFill>
                  <a:srgbClr val="FFFFFF"/>
                </a:solidFill>
                <a:latin typeface="Segoe UI"/>
              </a:rPr>
              <a:t>What the pipeline measures, and why BAR is the right primitive</a:t>
            </a:r>
          </a:p>
        </p:txBody>
      </p:sp>
      <p:sp>
        <p:nvSpPr>
          <p:cNvPr id="3" name="Rectangle 2"/>
          <p:cNvSpPr/>
          <p:nvPr/>
        </p:nvSpPr>
        <p:spPr>
          <a:xfrm>
            <a:off x="566928" y="566928"/>
            <a:ext cx="658368" cy="50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45920"/>
            <a:ext cx="5486400" cy="4206240"/>
          </a:xfrm>
          <a:prstGeom prst="rect">
            <a:avLst/>
          </a:prstGeom>
          <a:noFill/>
        </p:spPr>
        <p:txBody>
          <a:bodyPr wrap="square" anchor="t">
            <a:spAutoFit/>
          </a:bodyPr>
          <a:lstStyle/>
          <a:p>
            <a:pPr algn="l">
              <a:spcBef>
                <a:spcPts val="0"/>
              </a:spcBef>
              <a:spcAft>
                <a:spcPts val="1000"/>
              </a:spcAft>
            </a:pPr>
            <a:r>
              <a:rPr sz="1300" b="1" i="0">
                <a:solidFill>
                  <a:srgbClr val="3987E5"/>
                </a:solidFill>
                <a:latin typeface="Segoe UI"/>
              </a:rPr>
              <a:t>The chain</a:t>
            </a:r>
          </a:p>
          <a:p>
            <a:pPr>
              <a:lnSpc>
                <a:spcPct val="110000"/>
              </a:lnSpc>
              <a:spcBef>
                <a:spcPts val="0"/>
              </a:spcBef>
              <a:spcAft>
                <a:spcPts val="900"/>
              </a:spcAft>
            </a:pPr>
            <a:r>
              <a:rPr sz="1200" b="1">
                <a:solidFill>
                  <a:srgbClr val="FFFFFF"/>
                </a:solidFill>
                <a:latin typeface="Segoe UI"/>
              </a:rPr>
              <a:t>Segment — </a:t>
            </a:r>
            <a:r>
              <a:rPr sz="1200" b="0">
                <a:solidFill>
                  <a:srgbClr val="C3C2B7"/>
                </a:solidFill>
                <a:latin typeface="Segoe UI"/>
              </a:rPr>
              <a:t>YOLO26-seg finds L1–L5 as instances (AP + LA).</a:t>
            </a:r>
          </a:p>
          <a:p>
            <a:pPr>
              <a:lnSpc>
                <a:spcPct val="110000"/>
              </a:lnSpc>
              <a:spcBef>
                <a:spcPts val="0"/>
              </a:spcBef>
              <a:spcAft>
                <a:spcPts val="900"/>
              </a:spcAft>
            </a:pPr>
            <a:r>
              <a:rPr sz="1200" b="1">
                <a:solidFill>
                  <a:srgbClr val="FFFFFF"/>
                </a:solidFill>
                <a:latin typeface="Segoe UI"/>
              </a:rPr>
              <a:t>Isolate — </a:t>
            </a:r>
            <a:r>
              <a:rPr sz="1200" b="0">
                <a:solidFill>
                  <a:srgbClr val="C3C2B7"/>
                </a:solidFill>
                <a:latin typeface="Segoe UI"/>
              </a:rPr>
              <a:t>Erode the cortical rim (10% of body height) and strip the endplate bands (18% each) → a pure trabecular ROI.</a:t>
            </a:r>
          </a:p>
          <a:p>
            <a:pPr>
              <a:lnSpc>
                <a:spcPct val="110000"/>
              </a:lnSpc>
              <a:spcBef>
                <a:spcPts val="0"/>
              </a:spcBef>
              <a:spcAft>
                <a:spcPts val="900"/>
              </a:spcAft>
            </a:pPr>
            <a:r>
              <a:rPr sz="1200" b="1">
                <a:solidFill>
                  <a:srgbClr val="FFFFFF"/>
                </a:solidFill>
                <a:latin typeface="Segoe UI"/>
              </a:rPr>
              <a:t>Linearise — </a:t>
            </a:r>
            <a:r>
              <a:rPr sz="1200" b="0">
                <a:solidFill>
                  <a:srgbClr val="C3C2B7"/>
                </a:solidFill>
                <a:latin typeface="Segoe UI"/>
              </a:rPr>
              <a:t>Map pixels to attenuation A using the DICOM PixelIntensityRelationship tag: LOG → A = I, LIN → A = −ln(1 − I).</a:t>
            </a:r>
          </a:p>
          <a:p>
            <a:pPr>
              <a:lnSpc>
                <a:spcPct val="110000"/>
              </a:lnSpc>
              <a:spcBef>
                <a:spcPts val="0"/>
              </a:spcBef>
              <a:spcAft>
                <a:spcPts val="900"/>
              </a:spcAft>
            </a:pPr>
            <a:r>
              <a:rPr sz="1200" b="1">
                <a:solidFill>
                  <a:srgbClr val="FFFFFF"/>
                </a:solidFill>
                <a:latin typeface="Segoe UI"/>
              </a:rPr>
              <a:t>Reduce — </a:t>
            </a:r>
            <a:r>
              <a:rPr sz="1200" b="0">
                <a:solidFill>
                  <a:srgbClr val="C3C2B7"/>
                </a:solidFill>
                <a:latin typeface="Segoe UI"/>
              </a:rPr>
              <a:t>A_trab = 10–90% trimmed mean; A_soft = median of paraspinal bands; A_air = Otsu background.</a:t>
            </a:r>
          </a:p>
          <a:p>
            <a:pPr>
              <a:lnSpc>
                <a:spcPct val="110000"/>
              </a:lnSpc>
              <a:spcBef>
                <a:spcPts val="0"/>
              </a:spcBef>
              <a:spcAft>
                <a:spcPts val="900"/>
              </a:spcAft>
            </a:pPr>
            <a:r>
              <a:rPr sz="1200" b="1">
                <a:solidFill>
                  <a:srgbClr val="FFFFFF"/>
                </a:solidFill>
                <a:latin typeface="Segoe UI"/>
              </a:rPr>
              <a:t>Report — </a:t>
            </a:r>
            <a:r>
              <a:rPr sz="1200" b="0">
                <a:solidFill>
                  <a:srgbClr val="C3C2B7"/>
                </a:solidFill>
                <a:latin typeface="Segoe UI"/>
              </a:rPr>
              <a:t>BAR, microarchitecture, BHI, QC verdict, LSC.</a:t>
            </a:r>
          </a:p>
        </p:txBody>
      </p:sp>
      <p:sp>
        <p:nvSpPr>
          <p:cNvPr id="5" name="Rounded Rectangle 4"/>
          <p:cNvSpPr/>
          <p:nvPr/>
        </p:nvSpPr>
        <p:spPr>
          <a:xfrm>
            <a:off x="6355080" y="1645920"/>
            <a:ext cx="5285232" cy="214884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810512"/>
            <a:ext cx="4846320" cy="1828800"/>
          </a:xfrm>
          <a:prstGeom prst="rect">
            <a:avLst/>
          </a:prstGeom>
          <a:noFill/>
        </p:spPr>
        <p:txBody>
          <a:bodyPr wrap="square" anchor="t">
            <a:spAutoFit/>
          </a:bodyPr>
          <a:lstStyle/>
          <a:p>
            <a:pPr algn="l">
              <a:spcBef>
                <a:spcPts val="0"/>
              </a:spcBef>
              <a:spcAft>
                <a:spcPts val="1000"/>
              </a:spcAft>
            </a:pPr>
            <a:r>
              <a:rPr sz="1300" b="1" i="0">
                <a:solidFill>
                  <a:srgbClr val="3987E5"/>
                </a:solidFill>
                <a:latin typeface="Segoe UI"/>
              </a:rPr>
              <a:t>BAR — Bone Attenuation Ratio</a:t>
            </a:r>
          </a:p>
          <a:p>
            <a:pPr algn="l">
              <a:spcBef>
                <a:spcPts val="0"/>
              </a:spcBef>
              <a:spcAft>
                <a:spcPts val="1000"/>
              </a:spcAft>
            </a:pPr>
            <a:r>
              <a:rPr sz="1500" b="1" i="0">
                <a:solidFill>
                  <a:srgbClr val="FFFFFF"/>
                </a:solidFill>
                <a:latin typeface="Segoe UI"/>
              </a:rPr>
              <a:t>BAR  =  (A_trab − A_soft) / (A_soft − A_air)</a:t>
            </a:r>
          </a:p>
          <a:p>
            <a:pPr algn="l">
              <a:lnSpc>
                <a:spcPct val="112000"/>
              </a:lnSpc>
              <a:spcBef>
                <a:spcPts val="0"/>
              </a:spcBef>
              <a:spcAft>
                <a:spcPts val="0"/>
              </a:spcAft>
            </a:pPr>
            <a:r>
              <a:rPr sz="1150" b="0" i="0">
                <a:solidFill>
                  <a:srgbClr val="C3C2B7"/>
                </a:solidFill>
                <a:latin typeface="Segoe UI"/>
              </a:rPr>
              <a:t>“L4 trabecular bone absorbs BAR× as much extra X-ray as the patient's own soft tissue.” Dimensionless, and provably invariant to exposure, gain and window/level — both numerator and denominator are differences, so any affine A → aA + b cancels.</a:t>
            </a:r>
          </a:p>
        </p:txBody>
      </p:sp>
      <p:sp>
        <p:nvSpPr>
          <p:cNvPr id="7" name="TextBox 6"/>
          <p:cNvSpPr txBox="1"/>
          <p:nvPr/>
        </p:nvSpPr>
        <p:spPr>
          <a:xfrm>
            <a:off x="6355080" y="3977639"/>
            <a:ext cx="5285232" cy="2011680"/>
          </a:xfrm>
          <a:prstGeom prst="rect">
            <a:avLst/>
          </a:prstGeom>
          <a:noFill/>
        </p:spPr>
        <p:txBody>
          <a:bodyPr wrap="square" anchor="t">
            <a:spAutoFit/>
          </a:bodyPr>
          <a:lstStyle/>
          <a:p>
            <a:pPr algn="l">
              <a:spcBef>
                <a:spcPts val="0"/>
              </a:spcBef>
              <a:spcAft>
                <a:spcPts val="1000"/>
              </a:spcAft>
            </a:pPr>
            <a:r>
              <a:rPr sz="1300" b="1" i="0">
                <a:solidFill>
                  <a:srgbClr val="3987E5"/>
                </a:solidFill>
                <a:latin typeface="Segoe UI"/>
              </a:rPr>
              <a:t>Why this matters analytically</a:t>
            </a:r>
          </a:p>
          <a:p>
            <a:pPr algn="l">
              <a:lnSpc>
                <a:spcPct val="115000"/>
              </a:lnSpc>
              <a:spcBef>
                <a:spcPts val="0"/>
              </a:spcBef>
              <a:spcAft>
                <a:spcPts val="0"/>
              </a:spcAft>
            </a:pPr>
            <a:r>
              <a:rPr sz="1200" b="0" i="0">
                <a:solidFill>
                  <a:srgbClr val="C3C2B7"/>
                </a:solidFill>
                <a:latin typeface="Segoe UI"/>
              </a:rPr>
              <a:t>BAR is the one quantity in the notebook whose correctness rests on physics rather than on the cohort. Everything downstream — the z-score, the category, the BHI, the LSC — is a statistical construct fitted to 38 studies, and that is where this review concentrates.</a:t>
            </a:r>
          </a:p>
        </p:txBody>
      </p:sp>
      <p:sp>
        <p:nvSpPr>
          <p:cNvPr id="8" name="TextBox 7"/>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Beer–Lambert: attenuations add along a ray, so the soft-tissue correction must be a subtraction — v15 divided, and drifted.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3987E5"/>
                </a:solidFill>
                <a:latin typeface="Segoe UI"/>
              </a:rPr>
              <a:t>WHAT IS SOLID</a:t>
            </a:r>
          </a:p>
          <a:p>
            <a:pPr algn="l">
              <a:lnSpc>
                <a:spcPct val="95000"/>
              </a:lnSpc>
              <a:spcBef>
                <a:spcPts val="0"/>
              </a:spcBef>
              <a:spcAft>
                <a:spcPts val="0"/>
              </a:spcAft>
            </a:pPr>
            <a:r>
              <a:rPr sz="2800" b="1" i="0">
                <a:solidFill>
                  <a:srgbClr val="FFFFFF"/>
                </a:solidFill>
                <a:latin typeface="Segoe UI"/>
              </a:rPr>
              <a:t>The invariance claim holds — verified numerically</a:t>
            </a:r>
          </a:p>
        </p:txBody>
      </p:sp>
      <p:sp>
        <p:nvSpPr>
          <p:cNvPr id="3" name="Rectangle 2"/>
          <p:cNvSpPr/>
          <p:nvPr/>
        </p:nvSpPr>
        <p:spPr>
          <a:xfrm>
            <a:off x="566928" y="566928"/>
            <a:ext cx="658368" cy="5080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572768"/>
            <a:ext cx="11064240" cy="1170432"/>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10515600" cy="914400"/>
          </a:xfrm>
          <a:prstGeom prst="rect">
            <a:avLst/>
          </a:prstGeom>
          <a:noFill/>
        </p:spPr>
        <p:txBody>
          <a:bodyPr wrap="square" anchor="t">
            <a:spAutoFit/>
          </a:bodyPr>
          <a:lstStyle/>
          <a:p>
            <a:pPr algn="l">
              <a:spcBef>
                <a:spcPts val="0"/>
              </a:spcBef>
              <a:spcAft>
                <a:spcPts val="800"/>
              </a:spcAft>
            </a:pPr>
            <a:r>
              <a:rPr sz="1250" b="0" i="0">
                <a:solidFill>
                  <a:srgbClr val="C3C2B7"/>
                </a:solidFill>
                <a:latin typeface="Segoe UI"/>
              </a:rPr>
              <a:t>Applying an exposure/gain/window change  A → 2.30·A − 0.11</a:t>
            </a:r>
          </a:p>
          <a:p>
            <a:pPr>
              <a:spcBef>
                <a:spcPts val="0"/>
              </a:spcBef>
              <a:spcAft>
                <a:spcPts val="0"/>
              </a:spcAft>
            </a:pPr>
            <a:r>
              <a:rPr sz="1300" b="1">
                <a:solidFill>
                  <a:srgbClr val="FFFFFF"/>
                </a:solidFill>
                <a:latin typeface="Segoe UI"/>
              </a:rPr>
              <a:t>BAR    1.005193 → 1.005192   </a:t>
            </a:r>
            <a:r>
              <a:rPr sz="1300" b="1">
                <a:solidFill>
                  <a:srgbClr val="0CA30C"/>
                </a:solidFill>
                <a:latin typeface="Segoe UI"/>
              </a:rPr>
              <a:t>invariant</a:t>
            </a:r>
            <a:r>
              <a:rPr sz="1300" b="1">
                <a:solidFill>
                  <a:srgbClr val="FFFFFF"/>
                </a:solidFill>
                <a:latin typeface="Segoe UI"/>
              </a:rPr>
              <a:t>            bmd_rel (v15)    1.837660 → 1.996527   </a:t>
            </a:r>
            <a:r>
              <a:rPr sz="1300" b="1">
                <a:solidFill>
                  <a:srgbClr val="D03B3B"/>
                </a:solidFill>
                <a:latin typeface="Segoe UI"/>
              </a:rPr>
              <a:t>drifts +8.6%</a:t>
            </a:r>
          </a:p>
        </p:txBody>
      </p:sp>
      <p:pic>
        <p:nvPicPr>
          <p:cNvPr id="6" name="Picture 5" descr="c22_0.png"/>
          <p:cNvPicPr>
            <a:picLocks noChangeAspect="1"/>
          </p:cNvPicPr>
          <p:nvPr/>
        </p:nvPicPr>
        <p:blipFill>
          <a:blip r:embed="rId2"/>
          <a:stretch>
            <a:fillRect/>
          </a:stretch>
        </p:blipFill>
        <p:spPr>
          <a:xfrm>
            <a:off x="1509282" y="2944368"/>
            <a:ext cx="9173131" cy="2926080"/>
          </a:xfrm>
          <a:prstGeom prst="rect">
            <a:avLst/>
          </a:prstGeom>
        </p:spPr>
      </p:pic>
      <p:sp>
        <p:nvSpPr>
          <p:cNvPr id="7" name="TextBox 6"/>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Step 3 demo. This property is what makes BAR comparable across visits and machines — it is the pipeline's strongest result.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3987E5"/>
                </a:solidFill>
                <a:latin typeface="Segoe UI"/>
              </a:rPr>
              <a:t>DATA</a:t>
            </a:r>
          </a:p>
          <a:p>
            <a:pPr algn="l">
              <a:lnSpc>
                <a:spcPct val="95000"/>
              </a:lnSpc>
              <a:spcBef>
                <a:spcPts val="0"/>
              </a:spcBef>
              <a:spcAft>
                <a:spcPts val="0"/>
              </a:spcAft>
            </a:pPr>
            <a:r>
              <a:rPr sz="2800" b="1" i="0">
                <a:solidFill>
                  <a:srgbClr val="FFFFFF"/>
                </a:solidFill>
                <a:latin typeface="Segoe UI"/>
              </a:rPr>
              <a:t>What we are actually fitting on</a:t>
            </a:r>
          </a:p>
        </p:txBody>
      </p:sp>
      <p:sp>
        <p:nvSpPr>
          <p:cNvPr id="3" name="Rectangle 2"/>
          <p:cNvSpPr/>
          <p:nvPr/>
        </p:nvSpPr>
        <p:spPr>
          <a:xfrm>
            <a:off x="566928" y="566928"/>
            <a:ext cx="658368" cy="50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645920"/>
            <a:ext cx="2670048" cy="19659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10512"/>
            <a:ext cx="2286000" cy="1737360"/>
          </a:xfrm>
          <a:prstGeom prst="rect">
            <a:avLst/>
          </a:prstGeom>
          <a:noFill/>
        </p:spPr>
        <p:txBody>
          <a:bodyPr wrap="square" anchor="t">
            <a:spAutoFit/>
          </a:bodyPr>
          <a:lstStyle/>
          <a:p>
            <a:pPr algn="l">
              <a:lnSpc>
                <a:spcPct val="90000"/>
              </a:lnSpc>
              <a:spcBef>
                <a:spcPts val="0"/>
              </a:spcBef>
              <a:spcAft>
                <a:spcPts val="0"/>
              </a:spcAft>
            </a:pPr>
            <a:r>
              <a:rPr sz="3400" b="1" i="0">
                <a:solidFill>
                  <a:srgbClr val="3987E5"/>
                </a:solidFill>
                <a:latin typeface="Segoe UI"/>
              </a:rPr>
              <a:t>4,000</a:t>
            </a:r>
          </a:p>
          <a:p>
            <a:pPr algn="l">
              <a:spcBef>
                <a:spcPts val="0"/>
              </a:spcBef>
              <a:spcAft>
                <a:spcPts val="800"/>
              </a:spcAft>
            </a:pPr>
            <a:r>
              <a:rPr sz="1150" b="1" i="0">
                <a:solidFill>
                  <a:srgbClr val="FFFFFF"/>
                </a:solidFill>
                <a:latin typeface="Segoe UI"/>
              </a:rPr>
              <a:t>training X-rays</a:t>
            </a:r>
          </a:p>
          <a:p>
            <a:pPr algn="l">
              <a:lnSpc>
                <a:spcPct val="110000"/>
              </a:lnSpc>
              <a:spcBef>
                <a:spcPts val="0"/>
              </a:spcBef>
              <a:spcAft>
                <a:spcPts val="0"/>
              </a:spcAft>
            </a:pPr>
            <a:r>
              <a:rPr sz="1050" b="0" i="0">
                <a:solidFill>
                  <a:srgbClr val="898781"/>
                </a:solidFill>
                <a:latin typeface="Segoe UI"/>
              </a:rPr>
              <a:t>BUU-LSPINE-2000
2,000 AP + 2,000 LA, classes L1–L5</a:t>
            </a:r>
          </a:p>
        </p:txBody>
      </p:sp>
      <p:sp>
        <p:nvSpPr>
          <p:cNvPr id="6" name="Rounded Rectangle 5"/>
          <p:cNvSpPr/>
          <p:nvPr/>
        </p:nvSpPr>
        <p:spPr>
          <a:xfrm>
            <a:off x="3364992" y="1645920"/>
            <a:ext cx="2670048" cy="19659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810512"/>
            <a:ext cx="2286000" cy="1737360"/>
          </a:xfrm>
          <a:prstGeom prst="rect">
            <a:avLst/>
          </a:prstGeom>
          <a:noFill/>
        </p:spPr>
        <p:txBody>
          <a:bodyPr wrap="square" anchor="t">
            <a:spAutoFit/>
          </a:bodyPr>
          <a:lstStyle/>
          <a:p>
            <a:pPr algn="l">
              <a:lnSpc>
                <a:spcPct val="90000"/>
              </a:lnSpc>
              <a:spcBef>
                <a:spcPts val="0"/>
              </a:spcBef>
              <a:spcAft>
                <a:spcPts val="0"/>
              </a:spcAft>
            </a:pPr>
            <a:r>
              <a:rPr sz="3400" b="1" i="0">
                <a:solidFill>
                  <a:srgbClr val="3987E5"/>
                </a:solidFill>
                <a:latin typeface="Segoe UI"/>
              </a:rPr>
              <a:t>42</a:t>
            </a:r>
          </a:p>
          <a:p>
            <a:pPr algn="l">
              <a:spcBef>
                <a:spcPts val="0"/>
              </a:spcBef>
              <a:spcAft>
                <a:spcPts val="800"/>
              </a:spcAft>
            </a:pPr>
            <a:r>
              <a:rPr sz="1150" b="1" i="0">
                <a:solidFill>
                  <a:srgbClr val="FFFFFF"/>
                </a:solidFill>
                <a:latin typeface="Segoe UI"/>
              </a:rPr>
              <a:t>DICOM test studies</a:t>
            </a:r>
          </a:p>
          <a:p>
            <a:pPr algn="l">
              <a:lnSpc>
                <a:spcPct val="110000"/>
              </a:lnSpc>
              <a:spcBef>
                <a:spcPts val="0"/>
              </a:spcBef>
              <a:spcAft>
                <a:spcPts val="0"/>
              </a:spcAft>
            </a:pPr>
            <a:r>
              <a:rPr sz="1050" b="0" i="0">
                <a:solidFill>
                  <a:srgbClr val="898781"/>
                </a:solidFill>
                <a:latin typeface="Segoe UI"/>
              </a:rPr>
              <a:t>all 42 carry an L4 ground-truth mask
out-of-domain field of view</a:t>
            </a:r>
          </a:p>
        </p:txBody>
      </p:sp>
      <p:sp>
        <p:nvSpPr>
          <p:cNvPr id="8" name="Rounded Rectangle 7"/>
          <p:cNvSpPr/>
          <p:nvPr/>
        </p:nvSpPr>
        <p:spPr>
          <a:xfrm>
            <a:off x="6163056" y="1645920"/>
            <a:ext cx="2670048" cy="19659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91656" y="1810512"/>
            <a:ext cx="2286000" cy="1737360"/>
          </a:xfrm>
          <a:prstGeom prst="rect">
            <a:avLst/>
          </a:prstGeom>
          <a:noFill/>
        </p:spPr>
        <p:txBody>
          <a:bodyPr wrap="square" anchor="t">
            <a:spAutoFit/>
          </a:bodyPr>
          <a:lstStyle/>
          <a:p>
            <a:pPr algn="l">
              <a:lnSpc>
                <a:spcPct val="90000"/>
              </a:lnSpc>
              <a:spcBef>
                <a:spcPts val="0"/>
              </a:spcBef>
              <a:spcAft>
                <a:spcPts val="0"/>
              </a:spcAft>
            </a:pPr>
            <a:r>
              <a:rPr sz="3400" b="1" i="0">
                <a:solidFill>
                  <a:srgbClr val="D03B3B"/>
                </a:solidFill>
                <a:latin typeface="Segoe UI"/>
              </a:rPr>
              <a:t>38</a:t>
            </a:r>
          </a:p>
          <a:p>
            <a:pPr algn="l">
              <a:spcBef>
                <a:spcPts val="0"/>
              </a:spcBef>
              <a:spcAft>
                <a:spcPts val="800"/>
              </a:spcAft>
            </a:pPr>
            <a:r>
              <a:rPr sz="1150" b="1" i="0">
                <a:solidFill>
                  <a:srgbClr val="FFFFFF"/>
                </a:solidFill>
                <a:latin typeface="Segoe UI"/>
              </a:rPr>
              <a:t>studies in the reference</a:t>
            </a:r>
          </a:p>
          <a:p>
            <a:pPr algn="l">
              <a:lnSpc>
                <a:spcPct val="110000"/>
              </a:lnSpc>
              <a:spcBef>
                <a:spcPts val="0"/>
              </a:spcBef>
              <a:spcAft>
                <a:spcPts val="0"/>
              </a:spcAft>
            </a:pPr>
            <a:r>
              <a:rPr sz="1050" b="0" i="0">
                <a:solidFill>
                  <a:srgbClr val="898781"/>
                </a:solidFill>
                <a:latin typeface="Segoe UI"/>
              </a:rPr>
              <a:t>PASS (27) + WARN (11)
FAIL (4) excluded — WARN is not</a:t>
            </a:r>
          </a:p>
        </p:txBody>
      </p:sp>
      <p:sp>
        <p:nvSpPr>
          <p:cNvPr id="10" name="Rounded Rectangle 9"/>
          <p:cNvSpPr/>
          <p:nvPr/>
        </p:nvSpPr>
        <p:spPr>
          <a:xfrm>
            <a:off x="8961120" y="1645920"/>
            <a:ext cx="2670048" cy="19659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9720" y="1810512"/>
            <a:ext cx="2286000" cy="1737360"/>
          </a:xfrm>
          <a:prstGeom prst="rect">
            <a:avLst/>
          </a:prstGeom>
          <a:noFill/>
        </p:spPr>
        <p:txBody>
          <a:bodyPr wrap="square" anchor="t">
            <a:spAutoFit/>
          </a:bodyPr>
          <a:lstStyle/>
          <a:p>
            <a:pPr algn="l">
              <a:lnSpc>
                <a:spcPct val="90000"/>
              </a:lnSpc>
              <a:spcBef>
                <a:spcPts val="0"/>
              </a:spcBef>
              <a:spcAft>
                <a:spcPts val="0"/>
              </a:spcAft>
            </a:pPr>
            <a:r>
              <a:rPr sz="3400" b="1" i="0">
                <a:solidFill>
                  <a:srgbClr val="FAB219"/>
                </a:solidFill>
                <a:latin typeface="Segoe UI"/>
              </a:rPr>
              <a:t>26</a:t>
            </a:r>
          </a:p>
          <a:p>
            <a:pPr algn="l">
              <a:spcBef>
                <a:spcPts val="0"/>
              </a:spcBef>
              <a:spcAft>
                <a:spcPts val="800"/>
              </a:spcAft>
            </a:pPr>
            <a:r>
              <a:rPr sz="1150" b="1" i="0">
                <a:solidFill>
                  <a:srgbClr val="FFFFFF"/>
                </a:solidFill>
                <a:latin typeface="Segoe UI"/>
              </a:rPr>
              <a:t>studies with all four vertebrae</a:t>
            </a:r>
          </a:p>
          <a:p>
            <a:pPr algn="l">
              <a:lnSpc>
                <a:spcPct val="110000"/>
              </a:lnSpc>
              <a:spcBef>
                <a:spcPts val="0"/>
              </a:spcBef>
              <a:spcAft>
                <a:spcPts val="0"/>
              </a:spcAft>
            </a:pPr>
            <a:r>
              <a:rPr sz="1050" b="0" i="0">
                <a:solidFill>
                  <a:srgbClr val="898781"/>
                </a:solidFill>
                <a:latin typeface="Segoe UI"/>
              </a:rPr>
              <a:t>n_vert = 4. Seven studies contribute
only a single vertebra</a:t>
            </a:r>
          </a:p>
        </p:txBody>
      </p:sp>
      <p:sp>
        <p:nvSpPr>
          <p:cNvPr id="12" name="TextBox 11"/>
          <p:cNvSpPr txBox="1"/>
          <p:nvPr/>
        </p:nvSpPr>
        <p:spPr>
          <a:xfrm>
            <a:off x="566928" y="3913632"/>
            <a:ext cx="11064240" cy="457200"/>
          </a:xfrm>
          <a:prstGeom prst="rect">
            <a:avLst/>
          </a:prstGeom>
          <a:noFill/>
        </p:spPr>
        <p:txBody>
          <a:bodyPr wrap="square" anchor="t">
            <a:spAutoFit/>
          </a:bodyPr>
          <a:lstStyle/>
          <a:p>
            <a:pPr algn="l">
              <a:spcBef>
                <a:spcPts val="0"/>
              </a:spcBef>
              <a:spcAft>
                <a:spcPts val="600"/>
              </a:spcAft>
            </a:pPr>
            <a:r>
              <a:rPr sz="1300" b="1" i="0">
                <a:solidFill>
                  <a:srgbClr val="3987E5"/>
                </a:solidFill>
                <a:latin typeface="Segoe UI"/>
              </a:rPr>
              <a:t>QC verdicts across the 42 test studies</a:t>
            </a:r>
          </a:p>
        </p:txBody>
      </p:sp>
      <p:graphicFrame>
        <p:nvGraphicFramePr>
          <p:cNvPr id="13" name="Table 12"/>
          <p:cNvGraphicFramePr>
            <a:graphicFrameLocks noGrp="1"/>
          </p:cNvGraphicFramePr>
          <p:nvPr/>
        </p:nvGraphicFramePr>
        <p:xfrm>
          <a:off x="566928" y="4370832"/>
          <a:ext cx="11064240" cy="1572768"/>
        </p:xfrm>
        <a:graphic>
          <a:graphicData uri="http://schemas.openxmlformats.org/drawingml/2006/table">
            <a:tbl>
              <a:tblPr firstRow="1" bandRow="1">
                <a:tableStyleId>{5C22544A-7EE6-4342-B048-85BDC9FD1C3A}</a:tableStyleId>
              </a:tblPr>
              <a:tblGrid>
                <a:gridCol w="1554480"/>
                <a:gridCol w="914400"/>
                <a:gridCol w="2926080"/>
                <a:gridCol w="5669280"/>
              </a:tblGrid>
              <a:tr h="420624">
                <a:tc>
                  <a:txBody>
                    <a:bodyPr/>
                    <a:lstStyle/>
                    <a:p>
                      <a:r>
                        <a:rPr sz="1100" b="1">
                          <a:solidFill>
                            <a:srgbClr val="C3C2B7"/>
                          </a:solidFill>
                          <a:latin typeface="Segoe UI"/>
                        </a:rPr>
                        <a:t>Verdict</a:t>
                      </a:r>
                    </a:p>
                  </a:txBody>
                  <a:tcPr marL="109728" marR="73152" marT="36576" marB="36576" anchor="ctr">
                    <a:solidFill>
                      <a:srgbClr val="1E2128"/>
                    </a:solidFill>
                  </a:tcPr>
                </a:tc>
                <a:tc>
                  <a:txBody>
                    <a:bodyPr/>
                    <a:lstStyle/>
                    <a:p>
                      <a:r>
                        <a:rPr sz="1100" b="1">
                          <a:solidFill>
                            <a:srgbClr val="C3C2B7"/>
                          </a:solidFill>
                          <a:latin typeface="Segoe UI"/>
                        </a:rPr>
                        <a:t>n</a:t>
                      </a:r>
                    </a:p>
                  </a:txBody>
                  <a:tcPr marL="109728" marR="73152" marT="36576" marB="36576" anchor="ctr">
                    <a:solidFill>
                      <a:srgbClr val="1E2128"/>
                    </a:solidFill>
                  </a:tcPr>
                </a:tc>
                <a:tc>
                  <a:txBody>
                    <a:bodyPr/>
                    <a:lstStyle/>
                    <a:p>
                      <a:r>
                        <a:rPr sz="1100" b="1">
                          <a:solidFill>
                            <a:srgbClr val="C3C2B7"/>
                          </a:solidFill>
                          <a:latin typeface="Segoe UI"/>
                        </a:rPr>
                        <a:t>Used to fit the reference?</a:t>
                      </a:r>
                    </a:p>
                  </a:txBody>
                  <a:tcPr marL="109728" marR="73152" marT="36576" marB="36576" anchor="ctr">
                    <a:solidFill>
                      <a:srgbClr val="1E2128"/>
                    </a:solidFill>
                  </a:tcPr>
                </a:tc>
                <a:tc>
                  <a:txBody>
                    <a:bodyPr/>
                    <a:lstStyle/>
                    <a:p>
                      <a:r>
                        <a:rPr sz="1100" b="1">
                          <a:solidFill>
                            <a:srgbClr val="C3C2B7"/>
                          </a:solidFill>
                          <a:latin typeface="Segoe UI"/>
                        </a:rPr>
                        <a:t>Consequence</a:t>
                      </a:r>
                    </a:p>
                  </a:txBody>
                  <a:tcPr marL="109728" marR="73152" marT="36576" marB="36576" anchor="ctr">
                    <a:solidFill>
                      <a:srgbClr val="1E2128"/>
                    </a:solidFill>
                  </a:tcPr>
                </a:tc>
              </a:tr>
              <a:tr h="384048">
                <a:tc>
                  <a:txBody>
                    <a:bodyPr/>
                    <a:lstStyle/>
                    <a:p>
                      <a:r>
                        <a:rPr sz="1200" b="1">
                          <a:solidFill>
                            <a:srgbClr val="0CA30C"/>
                          </a:solidFill>
                          <a:latin typeface="Segoe UI"/>
                        </a:rPr>
                        <a:t>PASS</a:t>
                      </a:r>
                    </a:p>
                  </a:txBody>
                  <a:tcPr marL="109728" marR="73152" marT="36576" marB="36576" anchor="ctr">
                    <a:solidFill>
                      <a:srgbClr val="14161B"/>
                    </a:solidFill>
                  </a:tcPr>
                </a:tc>
                <a:tc>
                  <a:txBody>
                    <a:bodyPr/>
                    <a:lstStyle/>
                    <a:p>
                      <a:r>
                        <a:rPr sz="1200" b="0">
                          <a:solidFill>
                            <a:srgbClr val="C3C2B7"/>
                          </a:solidFill>
                          <a:latin typeface="Segoe UI"/>
                        </a:rPr>
                        <a:t>27</a:t>
                      </a:r>
                    </a:p>
                  </a:txBody>
                  <a:tcPr marL="109728" marR="73152" marT="36576" marB="36576" anchor="ctr">
                    <a:solidFill>
                      <a:srgbClr val="14161B"/>
                    </a:solidFill>
                  </a:tcPr>
                </a:tc>
                <a:tc>
                  <a:txBody>
                    <a:bodyPr/>
                    <a:lstStyle/>
                    <a:p>
                      <a:r>
                        <a:rPr sz="1200" b="0">
                          <a:solidFill>
                            <a:srgbClr val="C3C2B7"/>
                          </a:solidFill>
                          <a:latin typeface="Segoe UI"/>
                        </a:rPr>
                        <a:t>yes</a:t>
                      </a:r>
                    </a:p>
                  </a:txBody>
                  <a:tcPr marL="109728" marR="73152" marT="36576" marB="36576" anchor="ctr">
                    <a:solidFill>
                      <a:srgbClr val="14161B"/>
                    </a:solidFill>
                  </a:tcPr>
                </a:tc>
                <a:tc>
                  <a:txBody>
                    <a:bodyPr/>
                    <a:lstStyle/>
                    <a:p>
                      <a:r>
                        <a:rPr sz="1200" b="0">
                          <a:solidFill>
                            <a:srgbClr val="898781"/>
                          </a:solidFill>
                          <a:latin typeface="Segoe UI"/>
                        </a:rPr>
                        <a:t>correct</a:t>
                      </a:r>
                    </a:p>
                  </a:txBody>
                  <a:tcPr marL="109728" marR="73152" marT="36576" marB="36576" anchor="ctr">
                    <a:solidFill>
                      <a:srgbClr val="14161B"/>
                    </a:solidFill>
                  </a:tcPr>
                </a:tc>
              </a:tr>
              <a:tr h="384048">
                <a:tc>
                  <a:txBody>
                    <a:bodyPr/>
                    <a:lstStyle/>
                    <a:p>
                      <a:r>
                        <a:rPr sz="1200" b="1">
                          <a:solidFill>
                            <a:srgbClr val="FAB219"/>
                          </a:solidFill>
                          <a:latin typeface="Segoe UI"/>
                        </a:rPr>
                        <a:t>WARN</a:t>
                      </a:r>
                    </a:p>
                  </a:txBody>
                  <a:tcPr marL="109728" marR="73152" marT="36576" marB="36576" anchor="ctr">
                    <a:solidFill>
                      <a:srgbClr val="14161B"/>
                    </a:solidFill>
                  </a:tcPr>
                </a:tc>
                <a:tc>
                  <a:txBody>
                    <a:bodyPr/>
                    <a:lstStyle/>
                    <a:p>
                      <a:r>
                        <a:rPr sz="1200" b="0">
                          <a:solidFill>
                            <a:srgbClr val="C3C2B7"/>
                          </a:solidFill>
                          <a:latin typeface="Segoe UI"/>
                        </a:rPr>
                        <a:t>11</a:t>
                      </a:r>
                    </a:p>
                  </a:txBody>
                  <a:tcPr marL="109728" marR="73152" marT="36576" marB="36576" anchor="ctr">
                    <a:solidFill>
                      <a:srgbClr val="14161B"/>
                    </a:solidFill>
                  </a:tcPr>
                </a:tc>
                <a:tc>
                  <a:txBody>
                    <a:bodyPr/>
                    <a:lstStyle/>
                    <a:p>
                      <a:r>
                        <a:rPr sz="1200" b="1">
                          <a:solidFill>
                            <a:srgbClr val="D03B3B"/>
                          </a:solidFill>
                          <a:latin typeface="Segoe UI"/>
                        </a:rPr>
                        <a:t>yes</a:t>
                      </a:r>
                    </a:p>
                  </a:txBody>
                  <a:tcPr marL="109728" marR="73152" marT="36576" marB="36576" anchor="ctr">
                    <a:solidFill>
                      <a:srgbClr val="14161B"/>
                    </a:solidFill>
                  </a:tcPr>
                </a:tc>
                <a:tc>
                  <a:txBody>
                    <a:bodyPr/>
                    <a:lstStyle/>
                    <a:p>
                      <a:r>
                        <a:rPr sz="1200" b="0">
                          <a:solidFill>
                            <a:srgbClr val="D03B3B"/>
                          </a:solidFill>
                          <a:latin typeface="Segoe UI"/>
                        </a:rPr>
                        <a:t>admits the BAR = 12.24 outlier</a:t>
                      </a:r>
                    </a:p>
                  </a:txBody>
                  <a:tcPr marL="109728" marR="73152" marT="36576" marB="36576" anchor="ctr">
                    <a:solidFill>
                      <a:srgbClr val="14161B"/>
                    </a:solidFill>
                  </a:tcPr>
                </a:tc>
              </a:tr>
              <a:tr h="384048">
                <a:tc>
                  <a:txBody>
                    <a:bodyPr/>
                    <a:lstStyle/>
                    <a:p>
                      <a:r>
                        <a:rPr sz="1200" b="1">
                          <a:solidFill>
                            <a:srgbClr val="D03B3B"/>
                          </a:solidFill>
                          <a:latin typeface="Segoe UI"/>
                        </a:rPr>
                        <a:t>FAIL</a:t>
                      </a:r>
                    </a:p>
                  </a:txBody>
                  <a:tcPr marL="109728" marR="73152" marT="36576" marB="36576" anchor="ctr">
                    <a:solidFill>
                      <a:srgbClr val="14161B"/>
                    </a:solidFill>
                  </a:tcPr>
                </a:tc>
                <a:tc>
                  <a:txBody>
                    <a:bodyPr/>
                    <a:lstStyle/>
                    <a:p>
                      <a:r>
                        <a:rPr sz="1200" b="0">
                          <a:solidFill>
                            <a:srgbClr val="C3C2B7"/>
                          </a:solidFill>
                          <a:latin typeface="Segoe UI"/>
                        </a:rPr>
                        <a:t>4</a:t>
                      </a:r>
                    </a:p>
                  </a:txBody>
                  <a:tcPr marL="109728" marR="73152" marT="36576" marB="36576" anchor="ctr">
                    <a:solidFill>
                      <a:srgbClr val="14161B"/>
                    </a:solidFill>
                  </a:tcPr>
                </a:tc>
                <a:tc>
                  <a:txBody>
                    <a:bodyPr/>
                    <a:lstStyle/>
                    <a:p>
                      <a:r>
                        <a:rPr sz="1200" b="0">
                          <a:solidFill>
                            <a:srgbClr val="C3C2B7"/>
                          </a:solidFill>
                          <a:latin typeface="Segoe UI"/>
                        </a:rPr>
                        <a:t>no</a:t>
                      </a:r>
                    </a:p>
                  </a:txBody>
                  <a:tcPr marL="109728" marR="73152" marT="36576" marB="36576" anchor="ctr">
                    <a:solidFill>
                      <a:srgbClr val="14161B"/>
                    </a:solidFill>
                  </a:tcPr>
                </a:tc>
                <a:tc>
                  <a:txBody>
                    <a:bodyPr/>
                    <a:lstStyle/>
                    <a:p>
                      <a:r>
                        <a:rPr sz="1200" b="0">
                          <a:solidFill>
                            <a:srgbClr val="898781"/>
                          </a:solidFill>
                          <a:latin typeface="Segoe UI"/>
                        </a:rPr>
                        <a:t>correct</a:t>
                      </a:r>
                    </a:p>
                  </a:txBody>
                  <a:tcPr marL="109728" marR="73152" marT="36576" marB="36576" anchor="ctr">
                    <a:solidFill>
                      <a:srgbClr val="14161B"/>
                    </a:solidFill>
                  </a:tcPr>
                </a:tc>
              </a:tr>
            </a:tbl>
          </a:graphicData>
        </a:graphic>
      </p:graphicFrame>
      <p:sp>
        <p:nvSpPr>
          <p:cNvPr id="14" name="TextBox 13"/>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The QC gate exists and works — it is simply not applied upstream of the statistics. fit_reference() takes every study with a non-null BAR.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D03B3B"/>
                </a:solidFill>
                <a:latin typeface="Segoe UI"/>
              </a:rPr>
              <a:t>FINDING 1</a:t>
            </a:r>
          </a:p>
          <a:p>
            <a:pPr algn="l">
              <a:lnSpc>
                <a:spcPct val="95000"/>
              </a:lnSpc>
              <a:spcBef>
                <a:spcPts val="0"/>
              </a:spcBef>
              <a:spcAft>
                <a:spcPts val="0"/>
              </a:spcAft>
            </a:pPr>
            <a:r>
              <a:rPr sz="2800" b="1" i="0">
                <a:solidFill>
                  <a:srgbClr val="FFFFFF"/>
                </a:solidFill>
                <a:latin typeface="Segoe UI"/>
              </a:rPr>
              <a:t>The masks are good. The labels on them are wrong.</a:t>
            </a:r>
          </a:p>
        </p:txBody>
      </p:sp>
      <p:sp>
        <p:nvSpPr>
          <p:cNvPr id="3" name="Rectangle 2"/>
          <p:cNvSpPr/>
          <p:nvPr/>
        </p:nvSpPr>
        <p:spPr>
          <a:xfrm>
            <a:off x="566928" y="566928"/>
            <a:ext cx="658368" cy="508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25_1.png"/>
          <p:cNvPicPr>
            <a:picLocks noChangeAspect="1"/>
          </p:cNvPicPr>
          <p:nvPr/>
        </p:nvPicPr>
        <p:blipFill>
          <a:blip r:embed="rId2"/>
          <a:stretch>
            <a:fillRect/>
          </a:stretch>
        </p:blipFill>
        <p:spPr>
          <a:xfrm>
            <a:off x="2037934" y="1554480"/>
            <a:ext cx="8115826" cy="2743200"/>
          </a:xfrm>
          <a:prstGeom prst="rect">
            <a:avLst/>
          </a:prstGeom>
        </p:spPr>
      </p:pic>
      <p:sp>
        <p:nvSpPr>
          <p:cNvPr id="5" name="Rounded Rectangle 4"/>
          <p:cNvSpPr/>
          <p:nvPr/>
        </p:nvSpPr>
        <p:spPr>
          <a:xfrm>
            <a:off x="566928" y="4370832"/>
            <a:ext cx="11064240" cy="1572768"/>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517136"/>
            <a:ext cx="10515600" cy="1371600"/>
          </a:xfrm>
          <a:prstGeom prst="rect">
            <a:avLst/>
          </a:prstGeom>
          <a:noFill/>
        </p:spPr>
        <p:txBody>
          <a:bodyPr wrap="square" anchor="t">
            <a:spAutoFit/>
          </a:bodyPr>
          <a:lstStyle/>
          <a:p>
            <a:pPr>
              <a:lnSpc>
                <a:spcPct val="110000"/>
              </a:lnSpc>
              <a:spcBef>
                <a:spcPts val="0"/>
              </a:spcBef>
              <a:spcAft>
                <a:spcPts val="900"/>
              </a:spcAft>
            </a:pPr>
            <a:r>
              <a:rPr sz="1300" b="1">
                <a:solidFill>
                  <a:srgbClr val="0CA30C"/>
                </a:solidFill>
                <a:latin typeface="Segoe UI"/>
              </a:rPr>
              <a:t>Matched Dice 0.757</a:t>
            </a:r>
            <a:r>
              <a:rPr sz="1300" b="0">
                <a:solidFill>
                  <a:srgbClr val="C3C2B7"/>
                </a:solidFill>
                <a:latin typeface="Segoe UI"/>
              </a:rPr>
              <a:t>  — the best-overlap vertebra against the true L4. Segmentation quality is fine.        </a:t>
            </a:r>
            <a:r>
              <a:rPr sz="1300" b="1">
                <a:solidFill>
                  <a:srgbClr val="D03B3B"/>
                </a:solidFill>
                <a:latin typeface="Segoe UI"/>
              </a:rPr>
              <a:t>Deployed Dice 0.302</a:t>
            </a:r>
            <a:r>
              <a:rPr sz="1300" b="0">
                <a:solidFill>
                  <a:srgbClr val="C3C2B7"/>
                </a:solidFill>
                <a:latin typeface="Segoe UI"/>
              </a:rPr>
              <a:t>  — the mask the pipeline actually calls “L4”.</a:t>
            </a:r>
          </a:p>
          <a:p>
            <a:pPr>
              <a:lnSpc>
                <a:spcPct val="112000"/>
              </a:lnSpc>
              <a:spcBef>
                <a:spcPts val="0"/>
              </a:spcBef>
              <a:spcAft>
                <a:spcPts val="0"/>
              </a:spcAft>
            </a:pPr>
            <a:r>
              <a:rPr sz="1250" b="1">
                <a:solidFill>
                  <a:srgbClr val="D03B3B"/>
                </a:solidFill>
                <a:latin typeface="Segoe UI"/>
              </a:rPr>
              <a:t>27 of 42 images have deployed Dice ≈ 0</a:t>
            </a:r>
            <a:r>
              <a:rPr sz="1250" b="0">
                <a:solidFill>
                  <a:srgbClr val="C3C2B7"/>
                </a:solidFill>
                <a:latin typeface="Segoe UI"/>
              </a:rPr>
              <a:t> while their best-overlap vertebra reaches mean Dice 0.707 on those same images. This is an off-by-one indexing failure on the out-of-domain DICOM field of view, not a segmentation failure — and it means most reported BAR values are measured on the wrong bone.</a:t>
            </a:r>
          </a:p>
        </p:txBody>
      </p:sp>
      <p:sp>
        <p:nvSpPr>
          <p:cNvPr id="7" name="TextBox 6"/>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The “4th-from-top” fallback selector breaks when the DICOM crop does not start at L1. Three studies detect no L4 at 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D03B3B"/>
                </a:solidFill>
                <a:latin typeface="Segoe UI"/>
              </a:rPr>
              <a:t>FINDING 1 · EVIDENCE</a:t>
            </a:r>
          </a:p>
          <a:p>
            <a:pPr algn="l">
              <a:lnSpc>
                <a:spcPct val="95000"/>
              </a:lnSpc>
              <a:spcBef>
                <a:spcPts val="0"/>
              </a:spcBef>
              <a:spcAft>
                <a:spcPts val="0"/>
              </a:spcAft>
            </a:pPr>
            <a:r>
              <a:rPr sz="2800" b="1" i="0">
                <a:solidFill>
                  <a:srgbClr val="FFFFFF"/>
                </a:solidFill>
                <a:latin typeface="Segoe UI"/>
              </a:rPr>
              <a:t>Red = the vertebra named “L4”.  Green = the true best match.</a:t>
            </a:r>
          </a:p>
        </p:txBody>
      </p:sp>
      <p:sp>
        <p:nvSpPr>
          <p:cNvPr id="3" name="Rectangle 2"/>
          <p:cNvSpPr/>
          <p:nvPr/>
        </p:nvSpPr>
        <p:spPr>
          <a:xfrm>
            <a:off x="566928" y="566928"/>
            <a:ext cx="658368" cy="508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25_0.png"/>
          <p:cNvPicPr>
            <a:picLocks noChangeAspect="1"/>
          </p:cNvPicPr>
          <p:nvPr/>
        </p:nvPicPr>
        <p:blipFill>
          <a:blip r:embed="rId2"/>
          <a:stretch>
            <a:fillRect/>
          </a:stretch>
        </p:blipFill>
        <p:spPr>
          <a:xfrm>
            <a:off x="2392818" y="1572768"/>
            <a:ext cx="7406058" cy="3794760"/>
          </a:xfrm>
          <a:prstGeom prst="rect">
            <a:avLst/>
          </a:prstGeom>
        </p:spPr>
      </p:pic>
      <p:sp>
        <p:nvSpPr>
          <p:cNvPr id="5" name="TextBox 4"/>
          <p:cNvSpPr txBox="1"/>
          <p:nvPr/>
        </p:nvSpPr>
        <p:spPr>
          <a:xfrm>
            <a:off x="566928" y="5715000"/>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Yellow contour = ground-truth L4. Where red and green diverge, the pipeline measured a neighbouring vertebra and reported it as L4.</a:t>
            </a:r>
          </a:p>
        </p:txBody>
      </p:sp>
      <p:sp>
        <p:nvSpPr>
          <p:cNvPr id="6" name="TextBox 5"/>
          <p:cNvSpPr txBox="1"/>
          <p:nvPr/>
        </p:nvSpPr>
        <p:spPr>
          <a:xfrm>
            <a:off x="566928" y="6053328"/>
            <a:ext cx="11064240" cy="548640"/>
          </a:xfrm>
          <a:prstGeom prst="rect">
            <a:avLst/>
          </a:prstGeom>
          <a:noFill/>
        </p:spPr>
        <p:txBody>
          <a:bodyPr wrap="square" anchor="t">
            <a:spAutoFit/>
          </a:bodyPr>
          <a:lstStyle/>
          <a:p>
            <a:pPr>
              <a:lnSpc>
                <a:spcPct val="110000"/>
              </a:lnSpc>
              <a:spcBef>
                <a:spcPts val="0"/>
              </a:spcBef>
              <a:spcAft>
                <a:spcPts val="600"/>
              </a:spcAft>
            </a:pPr>
            <a:r>
              <a:rPr sz="1200" b="1">
                <a:solidFill>
                  <a:srgbClr val="3987E5"/>
                </a:solidFill>
                <a:latin typeface="Segoe UI"/>
              </a:rPr>
              <a:t>Fix: </a:t>
            </a:r>
            <a:r>
              <a:rPr sz="1200" b="0">
                <a:solidFill>
                  <a:srgbClr val="C3C2B7"/>
                </a:solidFill>
                <a:latin typeface="Segoe UI"/>
              </a:rPr>
              <a:t>anchor the ordering on the sacrum / L5 rather than counting from the top of a cropped frame. The segmentation head already gives you what you need — this is a labelling rule, not a model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D03B3B"/>
                </a:solidFill>
                <a:latin typeface="Segoe UI"/>
              </a:rPr>
              <a:t>FINDING 2</a:t>
            </a:r>
          </a:p>
          <a:p>
            <a:pPr algn="l">
              <a:lnSpc>
                <a:spcPct val="95000"/>
              </a:lnSpc>
              <a:spcBef>
                <a:spcPts val="0"/>
              </a:spcBef>
              <a:spcAft>
                <a:spcPts val="0"/>
              </a:spcAft>
            </a:pPr>
            <a:r>
              <a:rPr sz="2800" b="1" i="0">
                <a:solidFill>
                  <a:srgbClr val="FFFFFF"/>
                </a:solidFill>
                <a:latin typeface="Segoe UI"/>
              </a:rPr>
              <a:t>One QC-WARN study owns the entire reference distribution</a:t>
            </a:r>
          </a:p>
        </p:txBody>
      </p:sp>
      <p:sp>
        <p:nvSpPr>
          <p:cNvPr id="3" name="Rectangle 2"/>
          <p:cNvSpPr/>
          <p:nvPr/>
        </p:nvSpPr>
        <p:spPr>
          <a:xfrm>
            <a:off x="566928" y="566928"/>
            <a:ext cx="658368" cy="508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x_sd.png"/>
          <p:cNvPicPr>
            <a:picLocks noChangeAspect="1"/>
          </p:cNvPicPr>
          <p:nvPr/>
        </p:nvPicPr>
        <p:blipFill>
          <a:blip r:embed="rId2"/>
          <a:stretch>
            <a:fillRect/>
          </a:stretch>
        </p:blipFill>
        <p:spPr>
          <a:xfrm>
            <a:off x="1250715" y="1627632"/>
            <a:ext cx="9690264" cy="2743200"/>
          </a:xfrm>
          <a:prstGeom prst="rect">
            <a:avLst/>
          </a:prstGeom>
        </p:spPr>
      </p:pic>
      <p:graphicFrame>
        <p:nvGraphicFramePr>
          <p:cNvPr id="5" name="Table 4"/>
          <p:cNvGraphicFramePr>
            <a:graphicFrameLocks noGrp="1"/>
          </p:cNvGraphicFramePr>
          <p:nvPr/>
        </p:nvGraphicFramePr>
        <p:xfrm>
          <a:off x="566928" y="4590288"/>
          <a:ext cx="11064240" cy="1572768"/>
        </p:xfrm>
        <a:graphic>
          <a:graphicData uri="http://schemas.openxmlformats.org/drawingml/2006/table">
            <a:tbl>
              <a:tblPr firstRow="1" bandRow="1">
                <a:tableStyleId>{5C22544A-7EE6-4342-B048-85BDC9FD1C3A}</a:tableStyleId>
              </a:tblPr>
              <a:tblGrid>
                <a:gridCol w="3200400"/>
                <a:gridCol w="2468880"/>
                <a:gridCol w="3200400"/>
                <a:gridCol w="2194560"/>
              </a:tblGrid>
              <a:tr h="420624">
                <a:tc>
                  <a:txBody>
                    <a:bodyPr/>
                    <a:lstStyle/>
                    <a:p>
                      <a:r>
                        <a:rPr sz="1100" b="1">
                          <a:solidFill>
                            <a:srgbClr val="C3C2B7"/>
                          </a:solidFill>
                          <a:latin typeface="Segoe UI"/>
                        </a:rPr>
                        <a:t>Reference statistic</a:t>
                      </a:r>
                    </a:p>
                  </a:txBody>
                  <a:tcPr marL="109728" marR="73152" marT="36576" marB="36576" anchor="ctr">
                    <a:solidFill>
                      <a:srgbClr val="1E2128"/>
                    </a:solidFill>
                  </a:tcPr>
                </a:tc>
                <a:tc>
                  <a:txBody>
                    <a:bodyPr/>
                    <a:lstStyle/>
                    <a:p>
                      <a:r>
                        <a:rPr sz="1100" b="1">
                          <a:solidFill>
                            <a:srgbClr val="C3C2B7"/>
                          </a:solidFill>
                          <a:latin typeface="Segoe UI"/>
                        </a:rPr>
                        <a:t>As fitted (n = 38)</a:t>
                      </a:r>
                    </a:p>
                  </a:txBody>
                  <a:tcPr marL="109728" marR="73152" marT="36576" marB="36576" anchor="ctr">
                    <a:solidFill>
                      <a:srgbClr val="1E2128"/>
                    </a:solidFill>
                  </a:tcPr>
                </a:tc>
                <a:tc>
                  <a:txBody>
                    <a:bodyPr/>
                    <a:lstStyle/>
                    <a:p>
                      <a:r>
                        <a:rPr sz="1100" b="1">
                          <a:solidFill>
                            <a:srgbClr val="C3C2B7"/>
                          </a:solidFill>
                          <a:latin typeface="Segoe UI"/>
                        </a:rPr>
                        <a:t>Excluding that one study (n = 37)</a:t>
                      </a:r>
                    </a:p>
                  </a:txBody>
                  <a:tcPr marL="109728" marR="73152" marT="36576" marB="36576" anchor="ctr">
                    <a:solidFill>
                      <a:srgbClr val="1E2128"/>
                    </a:solidFill>
                  </a:tcPr>
                </a:tc>
                <a:tc>
                  <a:txBody>
                    <a:bodyPr/>
                    <a:lstStyle/>
                    <a:p>
                      <a:r>
                        <a:rPr sz="1100" b="1">
                          <a:solidFill>
                            <a:srgbClr val="C3C2B7"/>
                          </a:solidFill>
                          <a:latin typeface="Segoe UI"/>
                        </a:rPr>
                        <a:t>Change</a:t>
                      </a:r>
                    </a:p>
                  </a:txBody>
                  <a:tcPr marL="109728" marR="73152" marT="36576" marB="36576" anchor="ctr">
                    <a:solidFill>
                      <a:srgbClr val="1E2128"/>
                    </a:solidFill>
                  </a:tcPr>
                </a:tc>
              </a:tr>
              <a:tr h="384048">
                <a:tc>
                  <a:txBody>
                    <a:bodyPr/>
                    <a:lstStyle/>
                    <a:p>
                      <a:r>
                        <a:rPr sz="1150" b="0">
                          <a:solidFill>
                            <a:srgbClr val="C3C2B7"/>
                          </a:solidFill>
                          <a:latin typeface="Segoe UI"/>
                        </a:rPr>
                        <a:t>mean BAR</a:t>
                      </a:r>
                    </a:p>
                  </a:txBody>
                  <a:tcPr marL="109728" marR="73152" marT="36576" marB="36576" anchor="ctr">
                    <a:solidFill>
                      <a:srgbClr val="14161B"/>
                    </a:solidFill>
                  </a:tcPr>
                </a:tc>
                <a:tc>
                  <a:txBody>
                    <a:bodyPr/>
                    <a:lstStyle/>
                    <a:p>
                      <a:r>
                        <a:rPr sz="1150" b="0">
                          <a:solidFill>
                            <a:srgbClr val="C3C2B7"/>
                          </a:solidFill>
                          <a:latin typeface="Segoe UI"/>
                        </a:rPr>
                        <a:t>0.620</a:t>
                      </a:r>
                    </a:p>
                  </a:txBody>
                  <a:tcPr marL="109728" marR="73152" marT="36576" marB="36576" anchor="ctr">
                    <a:solidFill>
                      <a:srgbClr val="14161B"/>
                    </a:solidFill>
                  </a:tcPr>
                </a:tc>
                <a:tc>
                  <a:txBody>
                    <a:bodyPr/>
                    <a:lstStyle/>
                    <a:p>
                      <a:r>
                        <a:rPr sz="1150" b="0">
                          <a:solidFill>
                            <a:srgbClr val="C3C2B7"/>
                          </a:solidFill>
                          <a:latin typeface="Segoe UI"/>
                        </a:rPr>
                        <a:t>0.306</a:t>
                      </a:r>
                    </a:p>
                  </a:txBody>
                  <a:tcPr marL="109728" marR="73152" marT="36576" marB="36576" anchor="ctr">
                    <a:solidFill>
                      <a:srgbClr val="14161B"/>
                    </a:solidFill>
                  </a:tcPr>
                </a:tc>
                <a:tc>
                  <a:txBody>
                    <a:bodyPr/>
                    <a:lstStyle/>
                    <a:p>
                      <a:r>
                        <a:rPr sz="1150" b="1">
                          <a:solidFill>
                            <a:srgbClr val="FAB219"/>
                          </a:solidFill>
                          <a:latin typeface="Segoe UI"/>
                        </a:rPr>
                        <a:t>−51%</a:t>
                      </a:r>
                    </a:p>
                  </a:txBody>
                  <a:tcPr marL="109728" marR="73152" marT="36576" marB="36576" anchor="ctr">
                    <a:solidFill>
                      <a:srgbClr val="14161B"/>
                    </a:solidFill>
                  </a:tcPr>
                </a:tc>
              </a:tr>
              <a:tr h="384048">
                <a:tc>
                  <a:txBody>
                    <a:bodyPr/>
                    <a:lstStyle/>
                    <a:p>
                      <a:r>
                        <a:rPr sz="1150" b="0">
                          <a:solidFill>
                            <a:srgbClr val="C3C2B7"/>
                          </a:solidFill>
                          <a:latin typeface="Segoe UI"/>
                        </a:rPr>
                        <a:t>σ (BAR)</a:t>
                      </a:r>
                    </a:p>
                  </a:txBody>
                  <a:tcPr marL="109728" marR="73152" marT="36576" marB="36576" anchor="ctr">
                    <a:solidFill>
                      <a:srgbClr val="14161B"/>
                    </a:solidFill>
                  </a:tcPr>
                </a:tc>
                <a:tc>
                  <a:txBody>
                    <a:bodyPr/>
                    <a:lstStyle/>
                    <a:p>
                      <a:r>
                        <a:rPr sz="1150" b="1">
                          <a:solidFill>
                            <a:srgbClr val="D03B3B"/>
                          </a:solidFill>
                          <a:latin typeface="Segoe UI"/>
                        </a:rPr>
                        <a:t>1.949</a:t>
                      </a:r>
                    </a:p>
                  </a:txBody>
                  <a:tcPr marL="109728" marR="73152" marT="36576" marB="36576" anchor="ctr">
                    <a:solidFill>
                      <a:srgbClr val="14161B"/>
                    </a:solidFill>
                  </a:tcPr>
                </a:tc>
                <a:tc>
                  <a:txBody>
                    <a:bodyPr/>
                    <a:lstStyle/>
                    <a:p>
                      <a:r>
                        <a:rPr sz="1150" b="1">
                          <a:solidFill>
                            <a:srgbClr val="0CA30C"/>
                          </a:solidFill>
                          <a:latin typeface="Segoe UI"/>
                        </a:rPr>
                        <a:t>0.230</a:t>
                      </a:r>
                    </a:p>
                  </a:txBody>
                  <a:tcPr marL="109728" marR="73152" marT="36576" marB="36576" anchor="ctr">
                    <a:solidFill>
                      <a:srgbClr val="14161B"/>
                    </a:solidFill>
                  </a:tcPr>
                </a:tc>
                <a:tc>
                  <a:txBody>
                    <a:bodyPr/>
                    <a:lstStyle/>
                    <a:p>
                      <a:r>
                        <a:rPr sz="1150" b="1">
                          <a:solidFill>
                            <a:srgbClr val="D03B3B"/>
                          </a:solidFill>
                          <a:latin typeface="Segoe UI"/>
                        </a:rPr>
                        <a:t>8.5× inflation</a:t>
                      </a:r>
                    </a:p>
                  </a:txBody>
                  <a:tcPr marL="109728" marR="73152" marT="36576" marB="36576" anchor="ctr">
                    <a:solidFill>
                      <a:srgbClr val="14161B"/>
                    </a:solidFill>
                  </a:tcPr>
                </a:tc>
              </a:tr>
              <a:tr h="384048">
                <a:tc>
                  <a:txBody>
                    <a:bodyPr/>
                    <a:lstStyle/>
                    <a:p>
                      <a:r>
                        <a:rPr sz="1150" b="0">
                          <a:solidFill>
                            <a:srgbClr val="C3C2B7"/>
                          </a:solidFill>
                          <a:latin typeface="Segoe UI"/>
                        </a:rPr>
                        <a:t>BAR at the z = −1 cut-point</a:t>
                      </a:r>
                    </a:p>
                  </a:txBody>
                  <a:tcPr marL="109728" marR="73152" marT="36576" marB="36576" anchor="ctr">
                    <a:solidFill>
                      <a:srgbClr val="14161B"/>
                    </a:solidFill>
                  </a:tcPr>
                </a:tc>
                <a:tc>
                  <a:txBody>
                    <a:bodyPr/>
                    <a:lstStyle/>
                    <a:p>
                      <a:r>
                        <a:rPr sz="1150" b="1">
                          <a:solidFill>
                            <a:srgbClr val="D03B3B"/>
                          </a:solidFill>
                          <a:latin typeface="Segoe UI"/>
                        </a:rPr>
                        <a:t>−1.329  (unreachable)</a:t>
                      </a:r>
                    </a:p>
                  </a:txBody>
                  <a:tcPr marL="109728" marR="73152" marT="36576" marB="36576" anchor="ctr">
                    <a:solidFill>
                      <a:srgbClr val="14161B"/>
                    </a:solidFill>
                  </a:tcPr>
                </a:tc>
                <a:tc>
                  <a:txBody>
                    <a:bodyPr/>
                    <a:lstStyle/>
                    <a:p>
                      <a:r>
                        <a:rPr sz="1150" b="0">
                          <a:solidFill>
                            <a:srgbClr val="C3C2B7"/>
                          </a:solidFill>
                          <a:latin typeface="Segoe UI"/>
                        </a:rPr>
                        <a:t>0.076</a:t>
                      </a:r>
                    </a:p>
                  </a:txBody>
                  <a:tcPr marL="109728" marR="73152" marT="36576" marB="36576" anchor="ctr">
                    <a:solidFill>
                      <a:srgbClr val="14161B"/>
                    </a:solidFill>
                  </a:tcPr>
                </a:tc>
                <a:tc>
                  <a:txBody>
                    <a:bodyPr/>
                    <a:lstStyle/>
                    <a:p>
                      <a:r>
                        <a:rPr sz="1150" b="1">
                          <a:solidFill>
                            <a:srgbClr val="0CA30C"/>
                          </a:solidFill>
                          <a:latin typeface="Segoe UI"/>
                        </a:rPr>
                        <a:t>becomes reachable</a:t>
                      </a:r>
                    </a:p>
                  </a:txBody>
                  <a:tcPr marL="109728" marR="73152" marT="36576" marB="36576" anchor="ctr">
                    <a:solidFill>
                      <a:srgbClr val="14161B"/>
                    </a:solidFill>
                  </a:tcPr>
                </a:tc>
              </a:tr>
            </a:tbl>
          </a:graphicData>
        </a:graphic>
      </p:graphicFrame>
      <p:sp>
        <p:nvSpPr>
          <p:cNvPr id="6" name="TextBox 5"/>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The outlier: n_vert = 1, ROI area 574 px, soft-tissue−air margin 0.025. It is a failed measurement, not dense bone — and QC caught it as WARN.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D03B3B"/>
                </a:solidFill>
                <a:latin typeface="Segoe UI"/>
              </a:rPr>
              <a:t>FINDING 3</a:t>
            </a:r>
          </a:p>
          <a:p>
            <a:pPr algn="l">
              <a:lnSpc>
                <a:spcPct val="95000"/>
              </a:lnSpc>
              <a:spcBef>
                <a:spcPts val="0"/>
              </a:spcBef>
              <a:spcAft>
                <a:spcPts val="0"/>
              </a:spcAft>
            </a:pPr>
            <a:r>
              <a:rPr sz="2800" b="1" i="0">
                <a:solidFill>
                  <a:srgbClr val="FFFFFF"/>
                </a:solidFill>
                <a:latin typeface="Segoe UI"/>
              </a:rPr>
              <a:t>So the category system has zero sensitivity — by construction</a:t>
            </a:r>
          </a:p>
        </p:txBody>
      </p:sp>
      <p:sp>
        <p:nvSpPr>
          <p:cNvPr id="3" name="Rectangle 2"/>
          <p:cNvSpPr/>
          <p:nvPr/>
        </p:nvSpPr>
        <p:spPr>
          <a:xfrm>
            <a:off x="566928" y="566928"/>
            <a:ext cx="658368" cy="508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40_0.png"/>
          <p:cNvPicPr>
            <a:picLocks noChangeAspect="1"/>
          </p:cNvPicPr>
          <p:nvPr/>
        </p:nvPicPr>
        <p:blipFill>
          <a:blip r:embed="rId2"/>
          <a:stretch>
            <a:fillRect/>
          </a:stretch>
        </p:blipFill>
        <p:spPr>
          <a:xfrm>
            <a:off x="3305633" y="1499616"/>
            <a:ext cx="5580428" cy="2926080"/>
          </a:xfrm>
          <a:prstGeom prst="rect">
            <a:avLst/>
          </a:prstGeom>
        </p:spPr>
      </p:pic>
      <p:sp>
        <p:nvSpPr>
          <p:cNvPr id="5" name="Rounded Rectangle 4"/>
          <p:cNvSpPr/>
          <p:nvPr/>
        </p:nvSpPr>
        <p:spPr>
          <a:xfrm>
            <a:off x="566928" y="4553712"/>
            <a:ext cx="5394960" cy="1572768"/>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4700016"/>
            <a:ext cx="4846320" cy="1371600"/>
          </a:xfrm>
          <a:prstGeom prst="rect">
            <a:avLst/>
          </a:prstGeom>
          <a:noFill/>
        </p:spPr>
        <p:txBody>
          <a:bodyPr wrap="square" anchor="t">
            <a:spAutoFit/>
          </a:bodyPr>
          <a:lstStyle/>
          <a:p>
            <a:pPr algn="l">
              <a:spcBef>
                <a:spcPts val="0"/>
              </a:spcBef>
              <a:spcAft>
                <a:spcPts val="800"/>
              </a:spcAft>
            </a:pPr>
            <a:r>
              <a:rPr sz="1500" b="1" i="0">
                <a:solidFill>
                  <a:srgbClr val="D03B3B"/>
                </a:solidFill>
                <a:latin typeface="Segoe UI"/>
              </a:rPr>
              <a:t>38 / 38  “Within reference range”</a:t>
            </a:r>
          </a:p>
          <a:p>
            <a:pPr algn="l">
              <a:lnSpc>
                <a:spcPct val="112000"/>
              </a:lnSpc>
              <a:spcBef>
                <a:spcPts val="0"/>
              </a:spcBef>
              <a:spcAft>
                <a:spcPts val="0"/>
              </a:spcAft>
            </a:pPr>
            <a:r>
              <a:rPr sz="1150" b="0" i="0">
                <a:solidFill>
                  <a:srgbClr val="C3C2B7"/>
                </a:solidFill>
                <a:latin typeface="Segoe UI"/>
              </a:rPr>
              <a:t>Not because the cohort is healthy. Because BAR ≥ 0 by construction and the z = −1 cut-point sits at BAR = −1.33. No study, however osteoporotic, can cross it.</a:t>
            </a:r>
          </a:p>
        </p:txBody>
      </p:sp>
      <p:sp>
        <p:nvSpPr>
          <p:cNvPr id="7" name="Rounded Rectangle 6"/>
          <p:cNvSpPr/>
          <p:nvPr/>
        </p:nvSpPr>
        <p:spPr>
          <a:xfrm>
            <a:off x="6236208" y="4553712"/>
            <a:ext cx="5394960" cy="1572768"/>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0528" y="4700016"/>
            <a:ext cx="4846320" cy="1371600"/>
          </a:xfrm>
          <a:prstGeom prst="rect">
            <a:avLst/>
          </a:prstGeom>
          <a:noFill/>
        </p:spPr>
        <p:txBody>
          <a:bodyPr wrap="square" anchor="t">
            <a:spAutoFit/>
          </a:bodyPr>
          <a:lstStyle/>
          <a:p>
            <a:pPr algn="l">
              <a:spcBef>
                <a:spcPts val="0"/>
              </a:spcBef>
              <a:spcAft>
                <a:spcPts val="800"/>
              </a:spcAft>
            </a:pPr>
            <a:r>
              <a:rPr sz="1500" b="1" i="0">
                <a:solidFill>
                  <a:srgbClr val="FAB219"/>
                </a:solidFill>
                <a:latin typeface="Segoe UI"/>
              </a:rPr>
              <a:t>The polarity audit panel is the tell</a:t>
            </a:r>
          </a:p>
          <a:p>
            <a:pPr algn="l">
              <a:lnSpc>
                <a:spcPct val="112000"/>
              </a:lnSpc>
              <a:spcBef>
                <a:spcPts val="0"/>
              </a:spcBef>
              <a:spcAft>
                <a:spcPts val="0"/>
              </a:spcAft>
            </a:pPr>
            <a:r>
              <a:rPr sz="1150" b="0" i="0">
                <a:solidFill>
                  <a:srgbClr val="C3C2B7"/>
                </a:solidFill>
                <a:latin typeface="Segoe UI"/>
              </a:rPr>
              <a:t>Centre-bottom: r(BAR, variogram slope) = +0.67 is a straight line from a dense cloud at BAR ≈ 0.2 to a single point at BAR = 12.24. That is leverage, not correlation.</a:t>
            </a:r>
          </a:p>
        </p:txBody>
      </p:sp>
      <p:sp>
        <p:nvSpPr>
          <p:cNvPr id="9" name="TextBox 8"/>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Step 6f cohort dashboard, reproduced unmodified from the notebook.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D03B3B"/>
                </a:solidFill>
                <a:latin typeface="Segoe UI"/>
              </a:rPr>
              <a:t>FINDING 4</a:t>
            </a:r>
          </a:p>
          <a:p>
            <a:pPr algn="l">
              <a:lnSpc>
                <a:spcPct val="95000"/>
              </a:lnSpc>
              <a:spcBef>
                <a:spcPts val="0"/>
              </a:spcBef>
              <a:spcAft>
                <a:spcPts val="0"/>
              </a:spcAft>
            </a:pPr>
            <a:r>
              <a:rPr sz="2800" b="1" i="0">
                <a:solidFill>
                  <a:srgbClr val="FFFFFF"/>
                </a:solidFill>
                <a:latin typeface="Segoe UI"/>
              </a:rPr>
              <a:t>Remove that study and a feature's sign flips</a:t>
            </a:r>
          </a:p>
        </p:txBody>
      </p:sp>
      <p:sp>
        <p:nvSpPr>
          <p:cNvPr id="3" name="Rectangle 2"/>
          <p:cNvSpPr/>
          <p:nvPr/>
        </p:nvSpPr>
        <p:spPr>
          <a:xfrm>
            <a:off x="566928" y="566928"/>
            <a:ext cx="658368" cy="508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x_loo.png"/>
          <p:cNvPicPr>
            <a:picLocks noChangeAspect="1"/>
          </p:cNvPicPr>
          <p:nvPr/>
        </p:nvPicPr>
        <p:blipFill>
          <a:blip r:embed="rId2"/>
          <a:stretch>
            <a:fillRect/>
          </a:stretch>
        </p:blipFill>
        <p:spPr>
          <a:xfrm>
            <a:off x="1294669" y="1627632"/>
            <a:ext cx="9602357" cy="2788920"/>
          </a:xfrm>
          <a:prstGeom prst="rect">
            <a:avLst/>
          </a:prstGeom>
        </p:spPr>
      </p:pic>
      <p:sp>
        <p:nvSpPr>
          <p:cNvPr id="5" name="TextBox 4"/>
          <p:cNvSpPr txBox="1"/>
          <p:nvPr/>
        </p:nvSpPr>
        <p:spPr>
          <a:xfrm>
            <a:off x="566928" y="4590288"/>
            <a:ext cx="11064240" cy="1371600"/>
          </a:xfrm>
          <a:prstGeom prst="rect">
            <a:avLst/>
          </a:prstGeom>
          <a:noFill/>
        </p:spPr>
        <p:txBody>
          <a:bodyPr wrap="square" anchor="t">
            <a:spAutoFit/>
          </a:bodyPr>
          <a:lstStyle/>
          <a:p>
            <a:pPr>
              <a:lnSpc>
                <a:spcPct val="110000"/>
              </a:lnSpc>
              <a:spcBef>
                <a:spcPts val="0"/>
              </a:spcBef>
              <a:spcAft>
                <a:spcPts val="1000"/>
              </a:spcAft>
            </a:pPr>
            <a:r>
              <a:rPr sz="1300" b="0">
                <a:solidFill>
                  <a:srgbClr val="C3C2B7"/>
                </a:solidFill>
                <a:latin typeface="Segoe UI"/>
              </a:rPr>
              <a:t>The notebook's §1.4 warns that “a wrong sign would silently invert the index.” </a:t>
            </a:r>
            <a:r>
              <a:rPr sz="1300" b="1">
                <a:solidFill>
                  <a:srgbClr val="D03B3B"/>
                </a:solidFill>
                <a:latin typeface="Segoe UI"/>
              </a:rPr>
              <a:t>It has happened.</a:t>
            </a:r>
          </a:p>
          <a:p>
            <a:pPr>
              <a:lnSpc>
                <a:spcPct val="112000"/>
              </a:lnSpc>
              <a:spcBef>
                <a:spcPts val="0"/>
              </a:spcBef>
              <a:spcAft>
                <a:spcPts val="0"/>
              </a:spcAft>
            </a:pPr>
            <a:r>
              <a:rPr sz="1250" b="0">
                <a:solidFill>
                  <a:srgbClr val="C3C2B7"/>
                </a:solidFill>
                <a:latin typeface="Segoe UI"/>
              </a:rPr>
              <a:t>Fractal dimension is entered into the BHI with sign +1 on the strength of r = +0.845. Recomputed without the single leverage point, r = −0.275 — the opposite direction. The |r| &lt; 0.2 guard did not catch it, because the outlier is exactly what pushes r past the guard. Worse, fractal dimension is only defined on </a:t>
            </a:r>
            <a:r>
              <a:rPr sz="1250" b="1">
                <a:solidFill>
                  <a:srgbClr val="D03B3B"/>
                </a:solidFill>
                <a:latin typeface="Segoe UI"/>
              </a:rPr>
              <a:t>11 of 38 studies</a:t>
            </a:r>
            <a:r>
              <a:rPr sz="1250" b="0">
                <a:solidFill>
                  <a:srgbClr val="C3C2B7"/>
                </a:solidFill>
                <a:latin typeface="Segoe UI"/>
              </a:rPr>
              <a:t> (71% missing), and those NaNs still carry 15% of the BHI weight.</a:t>
            </a:r>
          </a:p>
        </p:txBody>
      </p:sp>
      <p:sp>
        <p:nvSpPr>
          <p:cNvPr id="6" name="TextBox 5"/>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Leave-one-out is the right diagnostic here: with n = 38, a single point at 50× the median has enormous leverage on Pearson 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D03B3B"/>
                </a:solidFill>
                <a:latin typeface="Segoe UI"/>
              </a:rPr>
              <a:t>FINDING 4 · CONSEQUENCE</a:t>
            </a:r>
          </a:p>
          <a:p>
            <a:pPr algn="l">
              <a:lnSpc>
                <a:spcPct val="95000"/>
              </a:lnSpc>
              <a:spcBef>
                <a:spcPts val="0"/>
              </a:spcBef>
              <a:spcAft>
                <a:spcPts val="0"/>
              </a:spcAft>
            </a:pPr>
            <a:r>
              <a:rPr sz="2800" b="1" i="0">
                <a:solidFill>
                  <a:srgbClr val="FFFFFF"/>
                </a:solidFill>
                <a:latin typeface="Segoe UI"/>
              </a:rPr>
              <a:t>Auditing the BHI: only one term is defensible</a:t>
            </a:r>
          </a:p>
        </p:txBody>
      </p:sp>
      <p:sp>
        <p:nvSpPr>
          <p:cNvPr id="3" name="Rectangle 2"/>
          <p:cNvSpPr/>
          <p:nvPr/>
        </p:nvSpPr>
        <p:spPr>
          <a:xfrm>
            <a:off x="566928" y="566928"/>
            <a:ext cx="658368" cy="50800"/>
          </a:xfrm>
          <a:prstGeom prst="rect">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737360"/>
          <a:ext cx="11064240" cy="2340864"/>
        </p:xfrm>
        <a:graphic>
          <a:graphicData uri="http://schemas.openxmlformats.org/drawingml/2006/table">
            <a:tbl>
              <a:tblPr firstRow="1" bandRow="1">
                <a:tableStyleId>{5C22544A-7EE6-4342-B048-85BDC9FD1C3A}</a:tableStyleId>
              </a:tblPr>
              <a:tblGrid>
                <a:gridCol w="3017520"/>
                <a:gridCol w="1371600"/>
                <a:gridCol w="2011680"/>
                <a:gridCol w="2194560"/>
                <a:gridCol w="2468880"/>
              </a:tblGrid>
              <a:tr h="420624">
                <a:tc>
                  <a:txBody>
                    <a:bodyPr/>
                    <a:lstStyle/>
                    <a:p>
                      <a:r>
                        <a:rPr sz="1100" b="1">
                          <a:solidFill>
                            <a:srgbClr val="C3C2B7"/>
                          </a:solidFill>
                          <a:latin typeface="Segoe UI"/>
                        </a:rPr>
                        <a:t>Feature</a:t>
                      </a:r>
                    </a:p>
                  </a:txBody>
                  <a:tcPr marL="109728" marR="73152" marT="36576" marB="36576" anchor="ctr">
                    <a:solidFill>
                      <a:srgbClr val="1E2128"/>
                    </a:solidFill>
                  </a:tcPr>
                </a:tc>
                <a:tc>
                  <a:txBody>
                    <a:bodyPr/>
                    <a:lstStyle/>
                    <a:p>
                      <a:r>
                        <a:rPr sz="1100" b="1">
                          <a:solidFill>
                            <a:srgbClr val="C3C2B7"/>
                          </a:solidFill>
                          <a:latin typeface="Segoe UI"/>
                        </a:rPr>
                        <a:t>BHI weight</a:t>
                      </a:r>
                    </a:p>
                  </a:txBody>
                  <a:tcPr marL="109728" marR="73152" marT="36576" marB="36576" anchor="ctr">
                    <a:solidFill>
                      <a:srgbClr val="1E2128"/>
                    </a:solidFill>
                  </a:tcPr>
                </a:tc>
                <a:tc>
                  <a:txBody>
                    <a:bodyPr/>
                    <a:lstStyle/>
                    <a:p>
                      <a:r>
                        <a:rPr sz="1100" b="1">
                          <a:solidFill>
                            <a:srgbClr val="C3C2B7"/>
                          </a:solidFill>
                          <a:latin typeface="Segoe UI"/>
                        </a:rPr>
                        <a:t>r with BAR (n=38)</a:t>
                      </a:r>
                    </a:p>
                  </a:txBody>
                  <a:tcPr marL="109728" marR="73152" marT="36576" marB="36576" anchor="ctr">
                    <a:solidFill>
                      <a:srgbClr val="1E2128"/>
                    </a:solidFill>
                  </a:tcPr>
                </a:tc>
                <a:tc>
                  <a:txBody>
                    <a:bodyPr/>
                    <a:lstStyle/>
                    <a:p>
                      <a:r>
                        <a:rPr sz="1100" b="1">
                          <a:solidFill>
                            <a:srgbClr val="C3C2B7"/>
                          </a:solidFill>
                          <a:latin typeface="Segoe UI"/>
                        </a:rPr>
                        <a:t>r leave-one-out</a:t>
                      </a:r>
                    </a:p>
                  </a:txBody>
                  <a:tcPr marL="109728" marR="73152" marT="36576" marB="36576" anchor="ctr">
                    <a:solidFill>
                      <a:srgbClr val="1E2128"/>
                    </a:solidFill>
                  </a:tcPr>
                </a:tc>
                <a:tc>
                  <a:txBody>
                    <a:bodyPr/>
                    <a:lstStyle/>
                    <a:p>
                      <a:r>
                        <a:rPr sz="1100" b="1">
                          <a:solidFill>
                            <a:srgbClr val="C3C2B7"/>
                          </a:solidFill>
                          <a:latin typeface="Segoe UI"/>
                        </a:rPr>
                        <a:t>Verdict</a:t>
                      </a:r>
                    </a:p>
                  </a:txBody>
                  <a:tcPr marL="109728" marR="73152" marT="36576" marB="36576" anchor="ctr">
                    <a:solidFill>
                      <a:srgbClr val="1E2128"/>
                    </a:solidFill>
                  </a:tcPr>
                </a:tc>
              </a:tr>
              <a:tr h="384048">
                <a:tc>
                  <a:txBody>
                    <a:bodyPr/>
                    <a:lstStyle/>
                    <a:p>
                      <a:r>
                        <a:rPr sz="1150" b="1">
                          <a:solidFill>
                            <a:srgbClr val="FFFFFF"/>
                          </a:solidFill>
                          <a:latin typeface="Segoe UI"/>
                        </a:rPr>
                        <a:t>BAR</a:t>
                      </a:r>
                    </a:p>
                  </a:txBody>
                  <a:tcPr marL="109728" marR="73152" marT="36576" marB="36576" anchor="ctr">
                    <a:solidFill>
                      <a:srgbClr val="14161B"/>
                    </a:solidFill>
                  </a:tcPr>
                </a:tc>
                <a:tc>
                  <a:txBody>
                    <a:bodyPr/>
                    <a:lstStyle/>
                    <a:p>
                      <a:r>
                        <a:rPr sz="1150" b="1">
                          <a:solidFill>
                            <a:srgbClr val="FFFFFF"/>
                          </a:solidFill>
                          <a:latin typeface="Segoe UI"/>
                        </a:rPr>
                        <a:t>0.500</a:t>
                      </a:r>
                    </a:p>
                  </a:txBody>
                  <a:tcPr marL="109728" marR="73152" marT="36576" marB="36576" anchor="ctr">
                    <a:solidFill>
                      <a:srgbClr val="14161B"/>
                    </a:solidFill>
                  </a:tcPr>
                </a:tc>
                <a:tc>
                  <a:txBody>
                    <a:bodyPr/>
                    <a:lstStyle/>
                    <a:p>
                      <a:r>
                        <a:rPr sz="1150" b="0">
                          <a:solidFill>
                            <a:srgbClr val="C3C2B7"/>
                          </a:solidFill>
                          <a:latin typeface="Segoe UI"/>
                        </a:rPr>
                        <a:t>+1.000 (anchor)</a:t>
                      </a:r>
                    </a:p>
                  </a:txBody>
                  <a:tcPr marL="109728" marR="73152" marT="36576" marB="36576" anchor="ctr">
                    <a:solidFill>
                      <a:srgbClr val="14161B"/>
                    </a:solidFill>
                  </a:tcPr>
                </a:tc>
                <a:tc>
                  <a:txBody>
                    <a:bodyPr/>
                    <a:lstStyle/>
                    <a:p>
                      <a:r>
                        <a:rPr sz="1150" b="0">
                          <a:solidFill>
                            <a:srgbClr val="C3C2B7"/>
                          </a:solidFill>
                          <a:latin typeface="Segoe UI"/>
                        </a:rPr>
                        <a:t>+1.000</a:t>
                      </a:r>
                    </a:p>
                  </a:txBody>
                  <a:tcPr marL="109728" marR="73152" marT="36576" marB="36576" anchor="ctr">
                    <a:solidFill>
                      <a:srgbClr val="14161B"/>
                    </a:solidFill>
                  </a:tcPr>
                </a:tc>
                <a:tc>
                  <a:txBody>
                    <a:bodyPr/>
                    <a:lstStyle/>
                    <a:p>
                      <a:r>
                        <a:rPr sz="1150" b="1">
                          <a:solidFill>
                            <a:srgbClr val="0CA30C"/>
                          </a:solidFill>
                          <a:latin typeface="Segoe UI"/>
                        </a:rPr>
                        <a:t>keep — physical anchor</a:t>
                      </a:r>
                    </a:p>
                  </a:txBody>
                  <a:tcPr marL="109728" marR="73152" marT="36576" marB="36576" anchor="ctr">
                    <a:solidFill>
                      <a:srgbClr val="14161B"/>
                    </a:solidFill>
                  </a:tcPr>
                </a:tc>
              </a:tr>
              <a:tr h="384048">
                <a:tc>
                  <a:txBody>
                    <a:bodyPr/>
                    <a:lstStyle/>
                    <a:p>
                      <a:r>
                        <a:rPr sz="1150" b="0">
                          <a:solidFill>
                            <a:srgbClr val="C3C2B7"/>
                          </a:solidFill>
                          <a:latin typeface="Segoe UI"/>
                        </a:rPr>
                        <a:t>Variogram slope (TBS-like)</a:t>
                      </a:r>
                    </a:p>
                  </a:txBody>
                  <a:tcPr marL="109728" marR="73152" marT="36576" marB="36576" anchor="ctr">
                    <a:solidFill>
                      <a:srgbClr val="14161B"/>
                    </a:solidFill>
                  </a:tcPr>
                </a:tc>
                <a:tc>
                  <a:txBody>
                    <a:bodyPr/>
                    <a:lstStyle/>
                    <a:p>
                      <a:r>
                        <a:rPr sz="1150" b="0">
                          <a:solidFill>
                            <a:srgbClr val="C3C2B7"/>
                          </a:solidFill>
                          <a:latin typeface="Segoe UI"/>
                        </a:rPr>
                        <a:t>0.200</a:t>
                      </a:r>
                    </a:p>
                  </a:txBody>
                  <a:tcPr marL="109728" marR="73152" marT="36576" marB="36576" anchor="ctr">
                    <a:solidFill>
                      <a:srgbClr val="14161B"/>
                    </a:solidFill>
                  </a:tcPr>
                </a:tc>
                <a:tc>
                  <a:txBody>
                    <a:bodyPr/>
                    <a:lstStyle/>
                    <a:p>
                      <a:r>
                        <a:rPr sz="1150" b="0">
                          <a:solidFill>
                            <a:srgbClr val="C3C2B7"/>
                          </a:solidFill>
                          <a:latin typeface="Segoe UI"/>
                        </a:rPr>
                        <a:t>+0.673</a:t>
                      </a:r>
                    </a:p>
                  </a:txBody>
                  <a:tcPr marL="109728" marR="73152" marT="36576" marB="36576" anchor="ctr">
                    <a:solidFill>
                      <a:srgbClr val="14161B"/>
                    </a:solidFill>
                  </a:tcPr>
                </a:tc>
                <a:tc>
                  <a:txBody>
                    <a:bodyPr/>
                    <a:lstStyle/>
                    <a:p>
                      <a:r>
                        <a:rPr sz="1150" b="1">
                          <a:solidFill>
                            <a:srgbClr val="FAB219"/>
                          </a:solidFill>
                          <a:latin typeface="Segoe UI"/>
                        </a:rPr>
                        <a:t>+0.096</a:t>
                      </a:r>
                    </a:p>
                  </a:txBody>
                  <a:tcPr marL="109728" marR="73152" marT="36576" marB="36576" anchor="ctr">
                    <a:solidFill>
                      <a:srgbClr val="14161B"/>
                    </a:solidFill>
                  </a:tcPr>
                </a:tc>
                <a:tc>
                  <a:txBody>
                    <a:bodyPr/>
                    <a:lstStyle/>
                    <a:p>
                      <a:r>
                        <a:rPr sz="1150" b="1">
                          <a:solidFill>
                            <a:srgbClr val="FAB219"/>
                          </a:solidFill>
                          <a:latin typeface="Segoe UI"/>
                        </a:rPr>
                        <a:t>weight → 0</a:t>
                      </a:r>
                    </a:p>
                  </a:txBody>
                  <a:tcPr marL="109728" marR="73152" marT="36576" marB="36576" anchor="ctr">
                    <a:solidFill>
                      <a:srgbClr val="14161B"/>
                    </a:solidFill>
                  </a:tcPr>
                </a:tc>
              </a:tr>
              <a:tr h="384048">
                <a:tc>
                  <a:txBody>
                    <a:bodyPr/>
                    <a:lstStyle/>
                    <a:p>
                      <a:r>
                        <a:rPr sz="1150" b="0">
                          <a:solidFill>
                            <a:srgbClr val="C3C2B7"/>
                          </a:solidFill>
                          <a:latin typeface="Segoe UI"/>
                        </a:rPr>
                        <a:t>Fractal dimension</a:t>
                      </a:r>
                    </a:p>
                  </a:txBody>
                  <a:tcPr marL="109728" marR="73152" marT="36576" marB="36576" anchor="ctr">
                    <a:solidFill>
                      <a:srgbClr val="14161B"/>
                    </a:solidFill>
                  </a:tcPr>
                </a:tc>
                <a:tc>
                  <a:txBody>
                    <a:bodyPr/>
                    <a:lstStyle/>
                    <a:p>
                      <a:r>
                        <a:rPr sz="1150" b="0">
                          <a:solidFill>
                            <a:srgbClr val="C3C2B7"/>
                          </a:solidFill>
                          <a:latin typeface="Segoe UI"/>
                        </a:rPr>
                        <a:t>0.150</a:t>
                      </a:r>
                    </a:p>
                  </a:txBody>
                  <a:tcPr marL="109728" marR="73152" marT="36576" marB="36576" anchor="ctr">
                    <a:solidFill>
                      <a:srgbClr val="14161B"/>
                    </a:solidFill>
                  </a:tcPr>
                </a:tc>
                <a:tc>
                  <a:txBody>
                    <a:bodyPr/>
                    <a:lstStyle/>
                    <a:p>
                      <a:r>
                        <a:rPr sz="1150" b="0">
                          <a:solidFill>
                            <a:srgbClr val="C3C2B7"/>
                          </a:solidFill>
                          <a:latin typeface="Segoe UI"/>
                        </a:rPr>
                        <a:t>+0.845</a:t>
                      </a:r>
                    </a:p>
                  </a:txBody>
                  <a:tcPr marL="109728" marR="73152" marT="36576" marB="36576" anchor="ctr">
                    <a:solidFill>
                      <a:srgbClr val="14161B"/>
                    </a:solidFill>
                  </a:tcPr>
                </a:tc>
                <a:tc>
                  <a:txBody>
                    <a:bodyPr/>
                    <a:lstStyle/>
                    <a:p>
                      <a:r>
                        <a:rPr sz="1150" b="1">
                          <a:solidFill>
                            <a:srgbClr val="D03B3B"/>
                          </a:solidFill>
                          <a:latin typeface="Segoe UI"/>
                        </a:rPr>
                        <a:t>−0.275  sign flips</a:t>
                      </a:r>
                    </a:p>
                  </a:txBody>
                  <a:tcPr marL="109728" marR="73152" marT="36576" marB="36576" anchor="ctr">
                    <a:solidFill>
                      <a:srgbClr val="14161B"/>
                    </a:solidFill>
                  </a:tcPr>
                </a:tc>
                <a:tc>
                  <a:txBody>
                    <a:bodyPr/>
                    <a:lstStyle/>
                    <a:p>
                      <a:r>
                        <a:rPr sz="1150" b="1">
                          <a:solidFill>
                            <a:srgbClr val="D03B3B"/>
                          </a:solidFill>
                          <a:latin typeface="Segoe UI"/>
                        </a:rPr>
                        <a:t>drop — 71% missing</a:t>
                      </a:r>
                    </a:p>
                  </a:txBody>
                  <a:tcPr marL="109728" marR="73152" marT="36576" marB="36576" anchor="ctr">
                    <a:solidFill>
                      <a:srgbClr val="14161B"/>
                    </a:solidFill>
                  </a:tcPr>
                </a:tc>
              </a:tr>
              <a:tr h="384048">
                <a:tc>
                  <a:txBody>
                    <a:bodyPr/>
                    <a:lstStyle/>
                    <a:p>
                      <a:r>
                        <a:rPr sz="1150" b="0">
                          <a:solidFill>
                            <a:srgbClr val="C3C2B7"/>
                          </a:solidFill>
                          <a:latin typeface="Segoe UI"/>
                        </a:rPr>
                        <a:t>GLCM homogeneity</a:t>
                      </a:r>
                    </a:p>
                  </a:txBody>
                  <a:tcPr marL="109728" marR="73152" marT="36576" marB="36576" anchor="ctr">
                    <a:solidFill>
                      <a:srgbClr val="14161B"/>
                    </a:solidFill>
                  </a:tcPr>
                </a:tc>
                <a:tc>
                  <a:txBody>
                    <a:bodyPr/>
                    <a:lstStyle/>
                    <a:p>
                      <a:r>
                        <a:rPr sz="1150" b="0">
                          <a:solidFill>
                            <a:srgbClr val="C3C2B7"/>
                          </a:solidFill>
                          <a:latin typeface="Segoe UI"/>
                        </a:rPr>
                        <a:t>0.075</a:t>
                      </a:r>
                    </a:p>
                  </a:txBody>
                  <a:tcPr marL="109728" marR="73152" marT="36576" marB="36576" anchor="ctr">
                    <a:solidFill>
                      <a:srgbClr val="14161B"/>
                    </a:solidFill>
                  </a:tcPr>
                </a:tc>
                <a:tc>
                  <a:txBody>
                    <a:bodyPr/>
                    <a:lstStyle/>
                    <a:p>
                      <a:r>
                        <a:rPr sz="1150" b="0">
                          <a:solidFill>
                            <a:srgbClr val="C3C2B7"/>
                          </a:solidFill>
                          <a:latin typeface="Segoe UI"/>
                        </a:rPr>
                        <a:t>−0.053</a:t>
                      </a:r>
                    </a:p>
                  </a:txBody>
                  <a:tcPr marL="109728" marR="73152" marT="36576" marB="36576" anchor="ctr">
                    <a:solidFill>
                      <a:srgbClr val="14161B"/>
                    </a:solidFill>
                  </a:tcPr>
                </a:tc>
                <a:tc>
                  <a:txBody>
                    <a:bodyPr/>
                    <a:lstStyle/>
                    <a:p>
                      <a:r>
                        <a:rPr sz="1150" b="0">
                          <a:solidFill>
                            <a:srgbClr val="C3C2B7"/>
                          </a:solidFill>
                          <a:latin typeface="Segoe UI"/>
                        </a:rPr>
                        <a:t>−0.013</a:t>
                      </a:r>
                    </a:p>
                  </a:txBody>
                  <a:tcPr marL="109728" marR="73152" marT="36576" marB="36576" anchor="ctr">
                    <a:solidFill>
                      <a:srgbClr val="14161B"/>
                    </a:solidFill>
                  </a:tcPr>
                </a:tc>
                <a:tc>
                  <a:txBody>
                    <a:bodyPr/>
                    <a:lstStyle/>
                    <a:p>
                      <a:r>
                        <a:rPr sz="1150" b="1">
                          <a:solidFill>
                            <a:srgbClr val="D03B3B"/>
                          </a:solidFill>
                          <a:latin typeface="Segoe UI"/>
                        </a:rPr>
                        <a:t>drop — |r| ≈ 0</a:t>
                      </a:r>
                    </a:p>
                  </a:txBody>
                  <a:tcPr marL="109728" marR="73152" marT="36576" marB="36576" anchor="ctr">
                    <a:solidFill>
                      <a:srgbClr val="14161B"/>
                    </a:solidFill>
                  </a:tcPr>
                </a:tc>
              </a:tr>
              <a:tr h="384048">
                <a:tc>
                  <a:txBody>
                    <a:bodyPr/>
                    <a:lstStyle/>
                    <a:p>
                      <a:r>
                        <a:rPr sz="1150" b="0">
                          <a:solidFill>
                            <a:srgbClr val="C3C2B7"/>
                          </a:solidFill>
                          <a:latin typeface="Segoe UI"/>
                        </a:rPr>
                        <a:t>GLCM entropy</a:t>
                      </a:r>
                    </a:p>
                  </a:txBody>
                  <a:tcPr marL="109728" marR="73152" marT="36576" marB="36576" anchor="ctr">
                    <a:solidFill>
                      <a:srgbClr val="14161B"/>
                    </a:solidFill>
                  </a:tcPr>
                </a:tc>
                <a:tc>
                  <a:txBody>
                    <a:bodyPr/>
                    <a:lstStyle/>
                    <a:p>
                      <a:r>
                        <a:rPr sz="1150" b="0">
                          <a:solidFill>
                            <a:srgbClr val="C3C2B7"/>
                          </a:solidFill>
                          <a:latin typeface="Segoe UI"/>
                        </a:rPr>
                        <a:t>0.075</a:t>
                      </a:r>
                    </a:p>
                  </a:txBody>
                  <a:tcPr marL="109728" marR="73152" marT="36576" marB="36576" anchor="ctr">
                    <a:solidFill>
                      <a:srgbClr val="14161B"/>
                    </a:solidFill>
                  </a:tcPr>
                </a:tc>
                <a:tc>
                  <a:txBody>
                    <a:bodyPr/>
                    <a:lstStyle/>
                    <a:p>
                      <a:r>
                        <a:rPr sz="1150" b="0">
                          <a:solidFill>
                            <a:srgbClr val="C3C2B7"/>
                          </a:solidFill>
                          <a:latin typeface="Segoe UI"/>
                        </a:rPr>
                        <a:t>+0.007</a:t>
                      </a:r>
                    </a:p>
                  </a:txBody>
                  <a:tcPr marL="109728" marR="73152" marT="36576" marB="36576" anchor="ctr">
                    <a:solidFill>
                      <a:srgbClr val="14161B"/>
                    </a:solidFill>
                  </a:tcPr>
                </a:tc>
                <a:tc>
                  <a:txBody>
                    <a:bodyPr/>
                    <a:lstStyle/>
                    <a:p>
                      <a:r>
                        <a:rPr sz="1150" b="0">
                          <a:solidFill>
                            <a:srgbClr val="C3C2B7"/>
                          </a:solidFill>
                          <a:latin typeface="Segoe UI"/>
                        </a:rPr>
                        <a:t>+0.044</a:t>
                      </a:r>
                    </a:p>
                  </a:txBody>
                  <a:tcPr marL="109728" marR="73152" marT="36576" marB="36576" anchor="ctr">
                    <a:solidFill>
                      <a:srgbClr val="14161B"/>
                    </a:solidFill>
                  </a:tcPr>
                </a:tc>
                <a:tc>
                  <a:txBody>
                    <a:bodyPr/>
                    <a:lstStyle/>
                    <a:p>
                      <a:r>
                        <a:rPr sz="1150" b="1">
                          <a:solidFill>
                            <a:srgbClr val="D03B3B"/>
                          </a:solidFill>
                          <a:latin typeface="Segoe UI"/>
                        </a:rPr>
                        <a:t>drop — |r| ≈ 0</a:t>
                      </a:r>
                    </a:p>
                  </a:txBody>
                  <a:tcPr marL="109728" marR="73152" marT="36576" marB="36576" anchor="ctr">
                    <a:solidFill>
                      <a:srgbClr val="14161B"/>
                    </a:solidFill>
                  </a:tcPr>
                </a:tc>
              </a:tr>
            </a:tbl>
          </a:graphicData>
        </a:graphic>
      </p:graphicFrame>
      <p:sp>
        <p:nvSpPr>
          <p:cNvPr id="5" name="Rounded Rectangle 4"/>
          <p:cNvSpPr/>
          <p:nvPr/>
        </p:nvSpPr>
        <p:spPr>
          <a:xfrm>
            <a:off x="566928" y="4480560"/>
            <a:ext cx="11064240" cy="1481328"/>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645152"/>
            <a:ext cx="10515600" cy="1280160"/>
          </a:xfrm>
          <a:prstGeom prst="rect">
            <a:avLst/>
          </a:prstGeom>
          <a:noFill/>
        </p:spPr>
        <p:txBody>
          <a:bodyPr wrap="square" anchor="t">
            <a:spAutoFit/>
          </a:bodyPr>
          <a:lstStyle/>
          <a:p>
            <a:pPr>
              <a:spcBef>
                <a:spcPts val="0"/>
              </a:spcBef>
              <a:spcAft>
                <a:spcPts val="900"/>
              </a:spcAft>
            </a:pPr>
            <a:r>
              <a:rPr sz="1350" b="1">
                <a:solidFill>
                  <a:srgbClr val="FFFFFF"/>
                </a:solidFill>
                <a:latin typeface="Segoe UI"/>
              </a:rPr>
              <a:t>50% of the BHI weight rests on features whose polarity is either undetermined or wrong. </a:t>
            </a:r>
          </a:p>
          <a:p>
            <a:pPr algn="l">
              <a:lnSpc>
                <a:spcPct val="112000"/>
              </a:lnSpc>
              <a:spcBef>
                <a:spcPts val="0"/>
              </a:spcBef>
              <a:spcAft>
                <a:spcPts val="0"/>
              </a:spcAft>
            </a:pPr>
            <a:r>
              <a:rPr sz="1200" b="0" i="0">
                <a:solidFill>
                  <a:srgbClr val="C3C2B7"/>
                </a:solidFill>
                <a:latin typeface="Segoe UI"/>
              </a:rPr>
              <a:t>The notebook already flagged homogeneity and entropy as weakly determined and kept them anyway. Once the leverage point is removed, the variogram slope joins them and fractal dimension inverts. Until DXA labels arrive, the BHI is a noisy monotone transform of BAR — and should simply be reported as BAR.</a:t>
            </a:r>
          </a:p>
        </p:txBody>
      </p:sp>
      <p:sp>
        <p:nvSpPr>
          <p:cNvPr id="7" name="TextBox 6"/>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The 0.5/0.2/0.15/0.075/0.075 weights are hard-coded placeholders, not fitted — the notebook is explicit about this.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FAB219"/>
                </a:solidFill>
                <a:latin typeface="Segoe UI"/>
              </a:rPr>
              <a:t>FINDING 5</a:t>
            </a:r>
          </a:p>
          <a:p>
            <a:pPr algn="l">
              <a:lnSpc>
                <a:spcPct val="95000"/>
              </a:lnSpc>
              <a:spcBef>
                <a:spcPts val="0"/>
              </a:spcBef>
              <a:spcAft>
                <a:spcPts val="0"/>
              </a:spcAft>
            </a:pPr>
            <a:r>
              <a:rPr sz="2800" b="1" i="0">
                <a:solidFill>
                  <a:srgbClr val="FFFFFF"/>
                </a:solidFill>
                <a:latin typeface="Segoe UI"/>
              </a:rPr>
              <a:t>The only problem the outlier does not explain</a:t>
            </a:r>
          </a:p>
        </p:txBody>
      </p:sp>
      <p:sp>
        <p:nvSpPr>
          <p:cNvPr id="3" name="Rectangle 2"/>
          <p:cNvSpPr/>
          <p:nvPr/>
        </p:nvSpPr>
        <p:spPr>
          <a:xfrm>
            <a:off x="566928" y="566928"/>
            <a:ext cx="658368" cy="5080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x_lsc.png"/>
          <p:cNvPicPr>
            <a:picLocks noChangeAspect="1"/>
          </p:cNvPicPr>
          <p:nvPr/>
        </p:nvPicPr>
        <p:blipFill>
          <a:blip r:embed="rId2"/>
          <a:stretch>
            <a:fillRect/>
          </a:stretch>
        </p:blipFill>
        <p:spPr>
          <a:xfrm>
            <a:off x="1155582" y="1627632"/>
            <a:ext cx="9880530" cy="2651760"/>
          </a:xfrm>
          <a:prstGeom prst="rect">
            <a:avLst/>
          </a:prstGeom>
        </p:spPr>
      </p:pic>
      <p:sp>
        <p:nvSpPr>
          <p:cNvPr id="5" name="TextBox 4"/>
          <p:cNvSpPr txBox="1"/>
          <p:nvPr/>
        </p:nvSpPr>
        <p:spPr>
          <a:xfrm>
            <a:off x="566928" y="4434840"/>
            <a:ext cx="11064240" cy="1737360"/>
          </a:xfrm>
          <a:prstGeom prst="rect">
            <a:avLst/>
          </a:prstGeom>
          <a:noFill/>
        </p:spPr>
        <p:txBody>
          <a:bodyPr wrap="square" anchor="t">
            <a:spAutoFit/>
          </a:bodyPr>
          <a:lstStyle/>
          <a:p>
            <a:pPr>
              <a:lnSpc>
                <a:spcPct val="112000"/>
              </a:lnSpc>
              <a:spcBef>
                <a:spcPts val="0"/>
              </a:spcBef>
              <a:spcAft>
                <a:spcPts val="900"/>
              </a:spcAft>
            </a:pPr>
            <a:r>
              <a:rPr sz="1250" b="0">
                <a:solidFill>
                  <a:srgbClr val="C3C2B7"/>
                </a:solidFill>
                <a:latin typeface="Segoe UI"/>
              </a:rPr>
              <a:t>The reported RMS-CV is dominated by the same failed study — its repeats read </a:t>
            </a:r>
            <a:r>
              <a:rPr sz="1250" b="1">
                <a:solidFill>
                  <a:srgbClr val="D03B3B"/>
                </a:solidFill>
                <a:latin typeface="Segoe UI"/>
              </a:rPr>
              <a:t>BAR = 5.53 ± 6.06  (CV = 110%)</a:t>
            </a:r>
            <a:r>
              <a:rPr sz="1250" b="0">
                <a:solidFill>
                  <a:srgbClr val="C3C2B7"/>
                </a:solidFill>
                <a:latin typeface="Segoe UI"/>
              </a:rPr>
              <a:t>. Excluding QC-WARN studies, as ISCD would, brings LSC down to </a:t>
            </a:r>
            <a:r>
              <a:rPr sz="1250" b="1">
                <a:solidFill>
                  <a:srgbClr val="FAB219"/>
                </a:solidFill>
                <a:latin typeface="Segoe UI"/>
              </a:rPr>
              <a:t>36.8%</a:t>
            </a:r>
            <a:r>
              <a:rPr sz="1250" b="0">
                <a:solidFill>
                  <a:srgbClr val="C3C2B7"/>
                </a:solidFill>
                <a:latin typeface="Segoe UI"/>
              </a:rPr>
              <a:t>. But two studies that </a:t>
            </a:r>
            <a:r>
              <a:rPr sz="1250" b="1">
                <a:solidFill>
                  <a:srgbClr val="FFFFFF"/>
                </a:solidFill>
                <a:latin typeface="Segoe UI"/>
              </a:rPr>
              <a:t>passed QC</a:t>
            </a:r>
            <a:r>
              <a:rPr sz="1250" b="0">
                <a:solidFill>
                  <a:srgbClr val="C3C2B7"/>
                </a:solidFill>
                <a:latin typeface="Segoe UI"/>
              </a:rPr>
              <a:t> still show CV = 32.6% and 14.7%. Repositioning alone moves BAR by a third.</a:t>
            </a:r>
          </a:p>
          <a:p>
            <a:pPr>
              <a:lnSpc>
                <a:spcPct val="112000"/>
              </a:lnSpc>
              <a:spcBef>
                <a:spcPts val="0"/>
              </a:spcBef>
              <a:spcAft>
                <a:spcPts val="0"/>
              </a:spcAft>
            </a:pPr>
            <a:r>
              <a:rPr sz="1200" b="1">
                <a:solidFill>
                  <a:srgbClr val="FFFFFF"/>
                </a:solidFill>
                <a:latin typeface="Segoe UI"/>
              </a:rPr>
              <a:t>This is the one finding a data fix cannot rescue. </a:t>
            </a:r>
            <a:r>
              <a:rPr sz="1200" b="0">
                <a:solidFill>
                  <a:srgbClr val="C3C2B7"/>
                </a:solidFill>
                <a:latin typeface="Segoe UI"/>
              </a:rPr>
              <a:t>And it is a lower bound: the perturbations model repositioning, not a true test–retest with re-exposure. Until the ROI is stable under small geometric changes, BAR cannot support longitudinal follow-up — which is the whole clinical premise of measuring bone after hip surgery.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FAB219"/>
                </a:solidFill>
                <a:latin typeface="Segoe UI"/>
              </a:rPr>
              <a:t>FINDING 6</a:t>
            </a:r>
          </a:p>
          <a:p>
            <a:pPr algn="l">
              <a:lnSpc>
                <a:spcPct val="95000"/>
              </a:lnSpc>
              <a:spcBef>
                <a:spcPts val="0"/>
              </a:spcBef>
              <a:spcAft>
                <a:spcPts val="0"/>
              </a:spcAft>
            </a:pPr>
            <a:r>
              <a:rPr sz="2800" b="1" i="0">
                <a:solidFill>
                  <a:srgbClr val="FFFFFF"/>
                </a:solidFill>
                <a:latin typeface="Segoe UI"/>
              </a:rPr>
              <a:t>A Gaussian z-score is the wrong model for a positive ratio</a:t>
            </a:r>
          </a:p>
        </p:txBody>
      </p:sp>
      <p:sp>
        <p:nvSpPr>
          <p:cNvPr id="3" name="Rectangle 2"/>
          <p:cNvSpPr/>
          <p:nvPr/>
        </p:nvSpPr>
        <p:spPr>
          <a:xfrm>
            <a:off x="566928" y="566928"/>
            <a:ext cx="658368" cy="5080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45920"/>
            <a:ext cx="11064240" cy="548640"/>
          </a:xfrm>
          <a:prstGeom prst="rect">
            <a:avLst/>
          </a:prstGeom>
          <a:noFill/>
        </p:spPr>
        <p:txBody>
          <a:bodyPr wrap="square" anchor="t">
            <a:spAutoFit/>
          </a:bodyPr>
          <a:lstStyle/>
          <a:p>
            <a:pPr algn="l">
              <a:lnSpc>
                <a:spcPct val="110000"/>
              </a:lnSpc>
              <a:spcBef>
                <a:spcPts val="0"/>
              </a:spcBef>
              <a:spcAft>
                <a:spcPts val="600"/>
              </a:spcAft>
            </a:pPr>
            <a:r>
              <a:rPr sz="1400" b="0" i="0">
                <a:solidFill>
                  <a:srgbClr val="C3C2B7"/>
                </a:solidFill>
                <a:latin typeface="Segoe UI"/>
              </a:rPr>
              <a:t>BAR is a ratio bounded below by zero and heavily right-skewed. fit_reference() assumes normality.</a:t>
            </a:r>
          </a:p>
        </p:txBody>
      </p:sp>
      <p:graphicFrame>
        <p:nvGraphicFramePr>
          <p:cNvPr id="5" name="Table 4"/>
          <p:cNvGraphicFramePr>
            <a:graphicFrameLocks noGrp="1"/>
          </p:cNvGraphicFramePr>
          <p:nvPr/>
        </p:nvGraphicFramePr>
        <p:xfrm>
          <a:off x="566928" y="2377440"/>
          <a:ext cx="11064240" cy="1956816"/>
        </p:xfrm>
        <a:graphic>
          <a:graphicData uri="http://schemas.openxmlformats.org/drawingml/2006/table">
            <a:tbl>
              <a:tblPr firstRow="1" bandRow="1">
                <a:tableStyleId>{5C22544A-7EE6-4342-B048-85BDC9FD1C3A}</a:tableStyleId>
              </a:tblPr>
              <a:tblGrid>
                <a:gridCol w="4206240"/>
                <a:gridCol w="2194560"/>
                <a:gridCol w="4663440"/>
              </a:tblGrid>
              <a:tr h="420624">
                <a:tc>
                  <a:txBody>
                    <a:bodyPr/>
                    <a:lstStyle/>
                    <a:p>
                      <a:r>
                        <a:rPr sz="1100" b="1">
                          <a:solidFill>
                            <a:srgbClr val="C3C2B7"/>
                          </a:solidFill>
                          <a:latin typeface="Segoe UI"/>
                        </a:rPr>
                        <a:t>Distribution of BAR</a:t>
                      </a:r>
                    </a:p>
                  </a:txBody>
                  <a:tcPr marL="109728" marR="73152" marT="36576" marB="36576" anchor="ctr">
                    <a:solidFill>
                      <a:srgbClr val="1E2128"/>
                    </a:solidFill>
                  </a:tcPr>
                </a:tc>
                <a:tc>
                  <a:txBody>
                    <a:bodyPr/>
                    <a:lstStyle/>
                    <a:p>
                      <a:r>
                        <a:rPr sz="1100" b="1">
                          <a:solidFill>
                            <a:srgbClr val="C3C2B7"/>
                          </a:solidFill>
                          <a:latin typeface="Segoe UI"/>
                        </a:rPr>
                        <a:t>Skewness</a:t>
                      </a:r>
                    </a:p>
                  </a:txBody>
                  <a:tcPr marL="109728" marR="73152" marT="36576" marB="36576" anchor="ctr">
                    <a:solidFill>
                      <a:srgbClr val="1E2128"/>
                    </a:solidFill>
                  </a:tcPr>
                </a:tc>
                <a:tc>
                  <a:txBody>
                    <a:bodyPr/>
                    <a:lstStyle/>
                    <a:p>
                      <a:r>
                        <a:rPr sz="1100" b="1">
                          <a:solidFill>
                            <a:srgbClr val="C3C2B7"/>
                          </a:solidFill>
                          <a:latin typeface="Segoe UI"/>
                        </a:rPr>
                        <a:t>Reading</a:t>
                      </a:r>
                    </a:p>
                  </a:txBody>
                  <a:tcPr marL="109728" marR="73152" marT="36576" marB="36576" anchor="ctr">
                    <a:solidFill>
                      <a:srgbClr val="1E2128"/>
                    </a:solidFill>
                  </a:tcPr>
                </a:tc>
              </a:tr>
              <a:tr h="384048">
                <a:tc>
                  <a:txBody>
                    <a:bodyPr/>
                    <a:lstStyle/>
                    <a:p>
                      <a:r>
                        <a:rPr sz="1200" b="0">
                          <a:solidFill>
                            <a:srgbClr val="C3C2B7"/>
                          </a:solidFill>
                          <a:latin typeface="Segoe UI"/>
                        </a:rPr>
                        <a:t>raw BAR, all 38 studies</a:t>
                      </a:r>
                    </a:p>
                  </a:txBody>
                  <a:tcPr marL="109728" marR="73152" marT="36576" marB="36576" anchor="ctr">
                    <a:solidFill>
                      <a:srgbClr val="14161B"/>
                    </a:solidFill>
                  </a:tcPr>
                </a:tc>
                <a:tc>
                  <a:txBody>
                    <a:bodyPr/>
                    <a:lstStyle/>
                    <a:p>
                      <a:r>
                        <a:rPr sz="1200" b="1">
                          <a:solidFill>
                            <a:srgbClr val="D03B3B"/>
                          </a:solidFill>
                          <a:latin typeface="Segoe UI"/>
                        </a:rPr>
                        <a:t>+5.80</a:t>
                      </a:r>
                    </a:p>
                  </a:txBody>
                  <a:tcPr marL="109728" marR="73152" marT="36576" marB="36576" anchor="ctr">
                    <a:solidFill>
                      <a:srgbClr val="14161B"/>
                    </a:solidFill>
                  </a:tcPr>
                </a:tc>
                <a:tc>
                  <a:txBody>
                    <a:bodyPr/>
                    <a:lstStyle/>
                    <a:p>
                      <a:r>
                        <a:rPr sz="1200" b="0">
                          <a:solidFill>
                            <a:srgbClr val="C3C2B7"/>
                          </a:solidFill>
                          <a:latin typeface="Segoe UI"/>
                        </a:rPr>
                        <a:t>dominated by the outlier</a:t>
                      </a:r>
                    </a:p>
                  </a:txBody>
                  <a:tcPr marL="109728" marR="73152" marT="36576" marB="36576" anchor="ctr">
                    <a:solidFill>
                      <a:srgbClr val="14161B"/>
                    </a:solidFill>
                  </a:tcPr>
                </a:tc>
              </a:tr>
              <a:tr h="384048">
                <a:tc>
                  <a:txBody>
                    <a:bodyPr/>
                    <a:lstStyle/>
                    <a:p>
                      <a:r>
                        <a:rPr sz="1200" b="0">
                          <a:solidFill>
                            <a:srgbClr val="C3C2B7"/>
                          </a:solidFill>
                          <a:latin typeface="Segoe UI"/>
                        </a:rPr>
                        <a:t>raw BAR, excluding the outlier</a:t>
                      </a:r>
                    </a:p>
                  </a:txBody>
                  <a:tcPr marL="109728" marR="73152" marT="36576" marB="36576" anchor="ctr">
                    <a:solidFill>
                      <a:srgbClr val="14161B"/>
                    </a:solidFill>
                  </a:tcPr>
                </a:tc>
                <a:tc>
                  <a:txBody>
                    <a:bodyPr/>
                    <a:lstStyle/>
                    <a:p>
                      <a:r>
                        <a:rPr sz="1200" b="1">
                          <a:solidFill>
                            <a:srgbClr val="FAB219"/>
                          </a:solidFill>
                          <a:latin typeface="Segoe UI"/>
                        </a:rPr>
                        <a:t>+2.04</a:t>
                      </a:r>
                    </a:p>
                  </a:txBody>
                  <a:tcPr marL="109728" marR="73152" marT="36576" marB="36576" anchor="ctr">
                    <a:solidFill>
                      <a:srgbClr val="14161B"/>
                    </a:solidFill>
                  </a:tcPr>
                </a:tc>
                <a:tc>
                  <a:txBody>
                    <a:bodyPr/>
                    <a:lstStyle/>
                    <a:p>
                      <a:r>
                        <a:rPr sz="1200" b="0">
                          <a:solidFill>
                            <a:srgbClr val="C3C2B7"/>
                          </a:solidFill>
                          <a:latin typeface="Segoe UI"/>
                        </a:rPr>
                        <a:t>still strongly right-skewed</a:t>
                      </a:r>
                    </a:p>
                  </a:txBody>
                  <a:tcPr marL="109728" marR="73152" marT="36576" marB="36576" anchor="ctr">
                    <a:solidFill>
                      <a:srgbClr val="14161B"/>
                    </a:solidFill>
                  </a:tcPr>
                </a:tc>
              </a:tr>
              <a:tr h="384048">
                <a:tc>
                  <a:txBody>
                    <a:bodyPr/>
                    <a:lstStyle/>
                    <a:p>
                      <a:r>
                        <a:rPr sz="1200" b="0">
                          <a:solidFill>
                            <a:srgbClr val="C3C2B7"/>
                          </a:solidFill>
                          <a:latin typeface="Segoe UI"/>
                        </a:rPr>
                        <a:t>log(BAR), all 38 studies</a:t>
                      </a:r>
                    </a:p>
                  </a:txBody>
                  <a:tcPr marL="109728" marR="73152" marT="36576" marB="36576" anchor="ctr">
                    <a:solidFill>
                      <a:srgbClr val="14161B"/>
                    </a:solidFill>
                  </a:tcPr>
                </a:tc>
                <a:tc>
                  <a:txBody>
                    <a:bodyPr/>
                    <a:lstStyle/>
                    <a:p>
                      <a:r>
                        <a:rPr sz="1200" b="1">
                          <a:solidFill>
                            <a:srgbClr val="FAB219"/>
                          </a:solidFill>
                          <a:latin typeface="Segoe UI"/>
                        </a:rPr>
                        <a:t>+2.05</a:t>
                      </a:r>
                    </a:p>
                  </a:txBody>
                  <a:tcPr marL="109728" marR="73152" marT="36576" marB="36576" anchor="ctr">
                    <a:solidFill>
                      <a:srgbClr val="14161B"/>
                    </a:solidFill>
                  </a:tcPr>
                </a:tc>
                <a:tc>
                  <a:txBody>
                    <a:bodyPr/>
                    <a:lstStyle/>
                    <a:p>
                      <a:r>
                        <a:rPr sz="1200" b="0">
                          <a:solidFill>
                            <a:srgbClr val="C3C2B7"/>
                          </a:solidFill>
                          <a:latin typeface="Segoe UI"/>
                        </a:rPr>
                        <a:t>outlier still visible</a:t>
                      </a:r>
                    </a:p>
                  </a:txBody>
                  <a:tcPr marL="109728" marR="73152" marT="36576" marB="36576" anchor="ctr">
                    <a:solidFill>
                      <a:srgbClr val="14161B"/>
                    </a:solidFill>
                  </a:tcPr>
                </a:tc>
              </a:tr>
              <a:tr h="384048">
                <a:tc>
                  <a:txBody>
                    <a:bodyPr/>
                    <a:lstStyle/>
                    <a:p>
                      <a:r>
                        <a:rPr sz="1200" b="0">
                          <a:solidFill>
                            <a:srgbClr val="C3C2B7"/>
                          </a:solidFill>
                          <a:latin typeface="Segoe UI"/>
                        </a:rPr>
                        <a:t>log(BAR), excluding the outlier</a:t>
                      </a:r>
                    </a:p>
                  </a:txBody>
                  <a:tcPr marL="109728" marR="73152" marT="36576" marB="36576" anchor="ctr">
                    <a:solidFill>
                      <a:srgbClr val="14161B"/>
                    </a:solidFill>
                  </a:tcPr>
                </a:tc>
                <a:tc>
                  <a:txBody>
                    <a:bodyPr/>
                    <a:lstStyle/>
                    <a:p>
                      <a:r>
                        <a:rPr sz="1200" b="1">
                          <a:solidFill>
                            <a:srgbClr val="0CA30C"/>
                          </a:solidFill>
                          <a:latin typeface="Segoe UI"/>
                        </a:rPr>
                        <a:t>+0.33</a:t>
                      </a:r>
                    </a:p>
                  </a:txBody>
                  <a:tcPr marL="109728" marR="73152" marT="36576" marB="36576" anchor="ctr">
                    <a:solidFill>
                      <a:srgbClr val="14161B"/>
                    </a:solidFill>
                  </a:tcPr>
                </a:tc>
                <a:tc>
                  <a:txBody>
                    <a:bodyPr/>
                    <a:lstStyle/>
                    <a:p>
                      <a:r>
                        <a:rPr sz="1200" b="0">
                          <a:solidFill>
                            <a:srgbClr val="C3C2B7"/>
                          </a:solidFill>
                          <a:latin typeface="Segoe UI"/>
                        </a:rPr>
                        <a:t>near-symmetric — fit here</a:t>
                      </a:r>
                    </a:p>
                  </a:txBody>
                  <a:tcPr marL="109728" marR="73152" marT="36576" marB="36576" anchor="ctr">
                    <a:solidFill>
                      <a:srgbClr val="14161B"/>
                    </a:solidFill>
                  </a:tcPr>
                </a:tc>
              </a:tr>
            </a:tbl>
          </a:graphicData>
        </a:graphic>
      </p:graphicFrame>
      <p:sp>
        <p:nvSpPr>
          <p:cNvPr id="6" name="Rounded Rectangle 5"/>
          <p:cNvSpPr/>
          <p:nvPr/>
        </p:nvSpPr>
        <p:spPr>
          <a:xfrm>
            <a:off x="566928" y="4526280"/>
            <a:ext cx="11064240" cy="1481328"/>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690872"/>
            <a:ext cx="10515600" cy="1280160"/>
          </a:xfrm>
          <a:prstGeom prst="rect">
            <a:avLst/>
          </a:prstGeom>
          <a:noFill/>
        </p:spPr>
        <p:txBody>
          <a:bodyPr wrap="square" anchor="t">
            <a:spAutoFit/>
          </a:bodyPr>
          <a:lstStyle/>
          <a:p>
            <a:pPr algn="l">
              <a:spcBef>
                <a:spcPts val="0"/>
              </a:spcBef>
              <a:spcAft>
                <a:spcPts val="800"/>
              </a:spcAft>
            </a:pPr>
            <a:r>
              <a:rPr sz="1300" b="1" i="0">
                <a:solidFill>
                  <a:srgbClr val="FAB219"/>
                </a:solidFill>
                <a:latin typeface="Segoe UI"/>
              </a:rPr>
              <a:t>Two consequences</a:t>
            </a:r>
          </a:p>
          <a:p>
            <a:pPr>
              <a:lnSpc>
                <a:spcPct val="110000"/>
              </a:lnSpc>
              <a:spcBef>
                <a:spcPts val="0"/>
              </a:spcBef>
              <a:spcAft>
                <a:spcPts val="600"/>
              </a:spcAft>
            </a:pPr>
            <a:r>
              <a:rPr sz="1200" b="1">
                <a:solidFill>
                  <a:srgbClr val="FAB219"/>
                </a:solidFill>
                <a:latin typeface="Segoe UI"/>
              </a:rPr>
              <a:t>1. </a:t>
            </a:r>
            <a:r>
              <a:rPr sz="1200" b="0">
                <a:solidFill>
                  <a:srgbClr val="C3C2B7"/>
                </a:solidFill>
                <a:latin typeface="Segoe UI"/>
              </a:rPr>
              <a:t>A symmetric ±1σ band on a skewed variable mislabels both tails — which is where osteoporosis lives.  </a:t>
            </a:r>
          </a:p>
          <a:p>
            <a:pPr>
              <a:lnSpc>
                <a:spcPct val="110000"/>
              </a:lnSpc>
              <a:spcBef>
                <a:spcPts val="0"/>
              </a:spcBef>
              <a:spcAft>
                <a:spcPts val="0"/>
              </a:spcAft>
            </a:pPr>
            <a:r>
              <a:rPr sz="1200" b="1">
                <a:solidFill>
                  <a:srgbClr val="FAB219"/>
                </a:solidFill>
                <a:latin typeface="Segoe UI"/>
              </a:rPr>
              <a:t>2. </a:t>
            </a:r>
            <a:r>
              <a:rPr sz="1200" b="0">
                <a:solidFill>
                  <a:srgbClr val="C3C2B7"/>
                </a:solidFill>
                <a:latin typeface="Segoe UI"/>
              </a:rPr>
              <a:t>Even after removing the outlier the minimum observed z is −0.985, so a robust refit alone still flags nobody. Fitting in log space, with median/MAD rather than mean/σ, is the minimum viable change — and a real normative cohort is the actual fix.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FAB219"/>
                </a:solidFill>
                <a:latin typeface="Segoe UI"/>
              </a:rPr>
              <a:t>DOWNSTREAM COST</a:t>
            </a:r>
          </a:p>
          <a:p>
            <a:pPr algn="l">
              <a:lnSpc>
                <a:spcPct val="95000"/>
              </a:lnSpc>
              <a:spcBef>
                <a:spcPts val="0"/>
              </a:spcBef>
              <a:spcAft>
                <a:spcPts val="0"/>
              </a:spcAft>
            </a:pPr>
            <a:r>
              <a:rPr sz="2800" b="1" i="0">
                <a:solidFill>
                  <a:srgbClr val="FFFFFF"/>
                </a:solidFill>
                <a:latin typeface="Segoe UI"/>
              </a:rPr>
              <a:t>An imperfect mask moves BAR further than the signal itself</a:t>
            </a:r>
          </a:p>
        </p:txBody>
      </p:sp>
      <p:sp>
        <p:nvSpPr>
          <p:cNvPr id="3" name="Rectangle 2"/>
          <p:cNvSpPr/>
          <p:nvPr/>
        </p:nvSpPr>
        <p:spPr>
          <a:xfrm>
            <a:off x="566928" y="566928"/>
            <a:ext cx="658368" cy="50800"/>
          </a:xfrm>
          <a:prstGeom prst="rect">
            <a:avLst/>
          </a:prstGeom>
          <a:solidFill>
            <a:srgbClr val="FAB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26_0.png"/>
          <p:cNvPicPr>
            <a:picLocks noChangeAspect="1"/>
          </p:cNvPicPr>
          <p:nvPr/>
        </p:nvPicPr>
        <p:blipFill>
          <a:blip r:embed="rId2"/>
          <a:stretch>
            <a:fillRect/>
          </a:stretch>
        </p:blipFill>
        <p:spPr>
          <a:xfrm>
            <a:off x="1919716" y="1627632"/>
            <a:ext cx="8352263" cy="3200400"/>
          </a:xfrm>
          <a:prstGeom prst="rect">
            <a:avLst/>
          </a:prstGeom>
        </p:spPr>
      </p:pic>
      <p:sp>
        <p:nvSpPr>
          <p:cNvPr id="5" name="TextBox 4"/>
          <p:cNvSpPr txBox="1"/>
          <p:nvPr/>
        </p:nvSpPr>
        <p:spPr>
          <a:xfrm>
            <a:off x="566928" y="5029200"/>
            <a:ext cx="11064240" cy="1097280"/>
          </a:xfrm>
          <a:prstGeom prst="rect">
            <a:avLst/>
          </a:prstGeom>
          <a:noFill/>
        </p:spPr>
        <p:txBody>
          <a:bodyPr wrap="square" anchor="t">
            <a:spAutoFit/>
          </a:bodyPr>
          <a:lstStyle/>
          <a:p>
            <a:pPr>
              <a:lnSpc>
                <a:spcPct val="112000"/>
              </a:lnSpc>
              <a:spcBef>
                <a:spcPts val="0"/>
              </a:spcBef>
              <a:spcAft>
                <a:spcPts val="600"/>
              </a:spcAft>
            </a:pPr>
            <a:r>
              <a:rPr sz="1250" b="1">
                <a:solidFill>
                  <a:srgbClr val="FFFFFF"/>
                </a:solidFill>
                <a:latin typeface="Segoe UI"/>
              </a:rPr>
              <a:t>Segmentation-induced BAR bias = +0.272, with 95% limits of agreement [−3.48, +4.03]. </a:t>
            </a:r>
            <a:r>
              <a:rPr sz="1250" b="0">
                <a:solidFill>
                  <a:srgbClr val="C3C2B7"/>
                </a:solidFill>
                <a:latin typeface="Segoe UI"/>
              </a:rPr>
              <a:t>Against a cohort median BAR of 0.242, the limits of agreement span roughly 30× the typical value. Part of this is the same outlier; part is real. Until Finding 1 is fixed, the mask error and the biological signal are the same order of magnitude.</a:t>
            </a:r>
          </a:p>
        </p:txBody>
      </p:sp>
      <p:sp>
        <p:nvSpPr>
          <p:cNvPr id="6" name="TextBox 5"/>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Bland–Altman, predicted mask vs ground-truth mask, on the primary index. Step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0CA30C"/>
                </a:solidFill>
                <a:latin typeface="Segoe UI"/>
              </a:rPr>
              <a:t>WHAT IS SOLID</a:t>
            </a:r>
          </a:p>
          <a:p>
            <a:pPr algn="l">
              <a:lnSpc>
                <a:spcPct val="95000"/>
              </a:lnSpc>
              <a:spcBef>
                <a:spcPts val="0"/>
              </a:spcBef>
              <a:spcAft>
                <a:spcPts val="0"/>
              </a:spcAft>
            </a:pPr>
            <a:r>
              <a:rPr sz="2800" b="1" i="0">
                <a:solidFill>
                  <a:srgbClr val="FFFFFF"/>
                </a:solidFill>
                <a:latin typeface="Segoe UI"/>
              </a:rPr>
              <a:t>The engineering is ahead of the statistics</a:t>
            </a:r>
          </a:p>
        </p:txBody>
      </p:sp>
      <p:sp>
        <p:nvSpPr>
          <p:cNvPr id="3" name="Rectangle 2"/>
          <p:cNvSpPr/>
          <p:nvPr/>
        </p:nvSpPr>
        <p:spPr>
          <a:xfrm>
            <a:off x="566928" y="566928"/>
            <a:ext cx="658368" cy="50800"/>
          </a:xfrm>
          <a:prstGeom prst="rect">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47_0.png"/>
          <p:cNvPicPr>
            <a:picLocks noChangeAspect="1"/>
          </p:cNvPicPr>
          <p:nvPr/>
        </p:nvPicPr>
        <p:blipFill>
          <a:blip r:embed="rId2"/>
          <a:stretch>
            <a:fillRect/>
          </a:stretch>
        </p:blipFill>
        <p:spPr>
          <a:xfrm>
            <a:off x="3476174" y="1554480"/>
            <a:ext cx="5239346" cy="2542032"/>
          </a:xfrm>
          <a:prstGeom prst="rect">
            <a:avLst/>
          </a:prstGeom>
        </p:spPr>
      </p:pic>
      <p:sp>
        <p:nvSpPr>
          <p:cNvPr id="5" name="Rounded Rectangle 4"/>
          <p:cNvSpPr/>
          <p:nvPr/>
        </p:nvSpPr>
        <p:spPr>
          <a:xfrm>
            <a:off x="566928" y="4224528"/>
            <a:ext cx="2670048" cy="17373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4370832"/>
            <a:ext cx="2286000" cy="1463040"/>
          </a:xfrm>
          <a:prstGeom prst="rect">
            <a:avLst/>
          </a:prstGeom>
          <a:noFill/>
        </p:spPr>
        <p:txBody>
          <a:bodyPr wrap="square" anchor="t">
            <a:spAutoFit/>
          </a:bodyPr>
          <a:lstStyle/>
          <a:p>
            <a:pPr algn="l">
              <a:spcBef>
                <a:spcPts val="0"/>
              </a:spcBef>
              <a:spcAft>
                <a:spcPts val="700"/>
              </a:spcAft>
            </a:pPr>
            <a:r>
              <a:rPr sz="1250" b="1" i="0">
                <a:solidFill>
                  <a:srgbClr val="0CA30C"/>
                </a:solidFill>
                <a:latin typeface="Segoe UI"/>
              </a:rPr>
              <a:t>Physics</a:t>
            </a:r>
          </a:p>
          <a:p>
            <a:pPr algn="l">
              <a:lnSpc>
                <a:spcPct val="110000"/>
              </a:lnSpc>
              <a:spcBef>
                <a:spcPts val="0"/>
              </a:spcBef>
              <a:spcAft>
                <a:spcPts val="0"/>
              </a:spcAft>
            </a:pPr>
            <a:r>
              <a:rPr sz="1019" b="0" i="0">
                <a:solidFill>
                  <a:srgbClr val="C3C2B7"/>
                </a:solidFill>
                <a:latin typeface="Segoe UI"/>
              </a:rPr>
              <a:t>BAR's affine invariance is proved and numerically verified. The attenuation domain is chosen from the DICOM tag rather than assumed.</a:t>
            </a:r>
          </a:p>
        </p:txBody>
      </p:sp>
      <p:sp>
        <p:nvSpPr>
          <p:cNvPr id="7" name="Rounded Rectangle 6"/>
          <p:cNvSpPr/>
          <p:nvPr/>
        </p:nvSpPr>
        <p:spPr>
          <a:xfrm>
            <a:off x="3364992" y="4224528"/>
            <a:ext cx="2670048" cy="17373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4370832"/>
            <a:ext cx="2286000" cy="1463040"/>
          </a:xfrm>
          <a:prstGeom prst="rect">
            <a:avLst/>
          </a:prstGeom>
          <a:noFill/>
        </p:spPr>
        <p:txBody>
          <a:bodyPr wrap="square" anchor="t">
            <a:spAutoFit/>
          </a:bodyPr>
          <a:lstStyle/>
          <a:p>
            <a:pPr algn="l">
              <a:spcBef>
                <a:spcPts val="0"/>
              </a:spcBef>
              <a:spcAft>
                <a:spcPts val="700"/>
              </a:spcAft>
            </a:pPr>
            <a:r>
              <a:rPr sz="1250" b="1" i="0">
                <a:solidFill>
                  <a:srgbClr val="0CA30C"/>
                </a:solidFill>
                <a:latin typeface="Segoe UI"/>
              </a:rPr>
              <a:t>Traceability</a:t>
            </a:r>
          </a:p>
          <a:p>
            <a:pPr algn="l">
              <a:lnSpc>
                <a:spcPct val="110000"/>
              </a:lnSpc>
              <a:spcBef>
                <a:spcPts val="0"/>
              </a:spcBef>
              <a:spcAft>
                <a:spcPts val="0"/>
              </a:spcAft>
            </a:pPr>
            <a:r>
              <a:rPr sz="1019" b="0" i="0">
                <a:solidFill>
                  <a:srgbClr val="C3C2B7"/>
                </a:solidFill>
                <a:latin typeface="Segoe UI"/>
              </a:rPr>
              <a:t>One entry point, measure_l4(), feeds the CSV, the report card, the web JSON and the precision experiment. A figure cannot disagree with a number.</a:t>
            </a:r>
          </a:p>
        </p:txBody>
      </p:sp>
      <p:sp>
        <p:nvSpPr>
          <p:cNvPr id="9" name="Rounded Rectangle 8"/>
          <p:cNvSpPr/>
          <p:nvPr/>
        </p:nvSpPr>
        <p:spPr>
          <a:xfrm>
            <a:off x="6163056" y="4224528"/>
            <a:ext cx="2670048" cy="17373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4370832"/>
            <a:ext cx="2286000" cy="1463040"/>
          </a:xfrm>
          <a:prstGeom prst="rect">
            <a:avLst/>
          </a:prstGeom>
          <a:noFill/>
        </p:spPr>
        <p:txBody>
          <a:bodyPr wrap="square" anchor="t">
            <a:spAutoFit/>
          </a:bodyPr>
          <a:lstStyle/>
          <a:p>
            <a:pPr algn="l">
              <a:spcBef>
                <a:spcPts val="0"/>
              </a:spcBef>
              <a:spcAft>
                <a:spcPts val="700"/>
              </a:spcAft>
            </a:pPr>
            <a:r>
              <a:rPr sz="1250" b="1" i="0">
                <a:solidFill>
                  <a:srgbClr val="0CA30C"/>
                </a:solidFill>
                <a:latin typeface="Segoe UI"/>
              </a:rPr>
              <a:t>Honesty</a:t>
            </a:r>
          </a:p>
          <a:p>
            <a:pPr algn="l">
              <a:lnSpc>
                <a:spcPct val="110000"/>
              </a:lnSpc>
              <a:spcBef>
                <a:spcPts val="0"/>
              </a:spcBef>
              <a:spcAft>
                <a:spcPts val="0"/>
              </a:spcAft>
            </a:pPr>
            <a:r>
              <a:rPr sz="1019" b="0" i="0">
                <a:solidFill>
                  <a:srgbClr val="C3C2B7"/>
                </a:solidFill>
                <a:latin typeface="Segoe UI"/>
              </a:rPr>
              <a:t>The QC gate, the “not a T-score” caveats and the limitations section are all correct. The notebook diagnoses most of what this review confirms.</a:t>
            </a:r>
          </a:p>
        </p:txBody>
      </p:sp>
      <p:sp>
        <p:nvSpPr>
          <p:cNvPr id="11" name="Rounded Rectangle 10"/>
          <p:cNvSpPr/>
          <p:nvPr/>
        </p:nvSpPr>
        <p:spPr>
          <a:xfrm>
            <a:off x="8961120" y="4224528"/>
            <a:ext cx="2670048" cy="173736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288" y="4370832"/>
            <a:ext cx="2286000" cy="1463040"/>
          </a:xfrm>
          <a:prstGeom prst="rect">
            <a:avLst/>
          </a:prstGeom>
          <a:noFill/>
        </p:spPr>
        <p:txBody>
          <a:bodyPr wrap="square" anchor="t">
            <a:spAutoFit/>
          </a:bodyPr>
          <a:lstStyle/>
          <a:p>
            <a:pPr algn="l">
              <a:spcBef>
                <a:spcPts val="0"/>
              </a:spcBef>
              <a:spcAft>
                <a:spcPts val="700"/>
              </a:spcAft>
            </a:pPr>
            <a:r>
              <a:rPr sz="1250" b="1" i="0">
                <a:solidFill>
                  <a:srgbClr val="0CA30C"/>
                </a:solidFill>
                <a:latin typeface="Segoe UI"/>
              </a:rPr>
              <a:t>Deployment</a:t>
            </a:r>
          </a:p>
          <a:p>
            <a:pPr algn="l">
              <a:lnSpc>
                <a:spcPct val="110000"/>
              </a:lnSpc>
              <a:spcBef>
                <a:spcPts val="0"/>
              </a:spcBef>
              <a:spcAft>
                <a:spcPts val="0"/>
              </a:spcAft>
            </a:pPr>
            <a:r>
              <a:rPr sz="1019" b="0" i="0">
                <a:solidFill>
                  <a:srgbClr val="C3C2B7"/>
                </a:solidFill>
                <a:latin typeface="Segoe UI"/>
              </a:rPr>
              <a:t>best.pt → ONNX opset 12, with a PyTorch-vs-ONNX parity check and a versioned report schema.</a:t>
            </a:r>
          </a:p>
        </p:txBody>
      </p:sp>
      <p:sp>
        <p:nvSpPr>
          <p:cNvPr id="13" name="TextBox 12"/>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XAI 2b: the measurement pipeline, stage by stage. Seg-Grad-CAM over L1–L5 puts &gt;90% of its evidence on the spine.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3987E5"/>
                </a:solidFill>
                <a:latin typeface="Segoe UI"/>
              </a:rPr>
              <a:t>RECOMMENDATIONS</a:t>
            </a:r>
          </a:p>
          <a:p>
            <a:pPr algn="l">
              <a:lnSpc>
                <a:spcPct val="95000"/>
              </a:lnSpc>
              <a:spcBef>
                <a:spcPts val="0"/>
              </a:spcBef>
              <a:spcAft>
                <a:spcPts val="0"/>
              </a:spcAft>
            </a:pPr>
            <a:r>
              <a:rPr sz="2800" b="1" i="0">
                <a:solidFill>
                  <a:srgbClr val="FFFFFF"/>
                </a:solidFill>
                <a:latin typeface="Segoe UI"/>
              </a:rPr>
              <a:t>Ordered by how much they change the reported numbers</a:t>
            </a:r>
          </a:p>
        </p:txBody>
      </p:sp>
      <p:sp>
        <p:nvSpPr>
          <p:cNvPr id="3" name="Rectangle 2"/>
          <p:cNvSpPr/>
          <p:nvPr/>
        </p:nvSpPr>
        <p:spPr>
          <a:xfrm>
            <a:off x="566928" y="566928"/>
            <a:ext cx="658368" cy="50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627632"/>
          <a:ext cx="11064240" cy="3858768"/>
        </p:xfrm>
        <a:graphic>
          <a:graphicData uri="http://schemas.openxmlformats.org/drawingml/2006/table">
            <a:tbl>
              <a:tblPr firstRow="1" bandRow="1">
                <a:tableStyleId>{5C22544A-7EE6-4342-B048-85BDC9FD1C3A}</a:tableStyleId>
              </a:tblPr>
              <a:tblGrid>
                <a:gridCol w="502920"/>
                <a:gridCol w="4709160"/>
                <a:gridCol w="2011680"/>
                <a:gridCol w="3840480"/>
              </a:tblGrid>
              <a:tr h="420624">
                <a:tc>
                  <a:txBody>
                    <a:bodyPr/>
                    <a:lstStyle/>
                    <a:p>
                      <a:r>
                        <a:rPr sz="1050" b="1">
                          <a:solidFill>
                            <a:srgbClr val="C3C2B7"/>
                          </a:solidFill>
                          <a:latin typeface="Segoe UI"/>
                        </a:rPr>
                        <a:t>#</a:t>
                      </a:r>
                    </a:p>
                  </a:txBody>
                  <a:tcPr marL="109728" marR="73152" marT="36576" marB="36576" anchor="ctr">
                    <a:solidFill>
                      <a:srgbClr val="1E2128"/>
                    </a:solidFill>
                  </a:tcPr>
                </a:tc>
                <a:tc>
                  <a:txBody>
                    <a:bodyPr/>
                    <a:lstStyle/>
                    <a:p>
                      <a:r>
                        <a:rPr sz="1050" b="1">
                          <a:solidFill>
                            <a:srgbClr val="C3C2B7"/>
                          </a:solidFill>
                          <a:latin typeface="Segoe UI"/>
                        </a:rPr>
                        <a:t>Action</a:t>
                      </a:r>
                    </a:p>
                  </a:txBody>
                  <a:tcPr marL="109728" marR="73152" marT="36576" marB="36576" anchor="ctr">
                    <a:solidFill>
                      <a:srgbClr val="1E2128"/>
                    </a:solidFill>
                  </a:tcPr>
                </a:tc>
                <a:tc>
                  <a:txBody>
                    <a:bodyPr/>
                    <a:lstStyle/>
                    <a:p>
                      <a:r>
                        <a:rPr sz="1050" b="1">
                          <a:solidFill>
                            <a:srgbClr val="C3C2B7"/>
                          </a:solidFill>
                          <a:latin typeface="Segoe UI"/>
                        </a:rPr>
                        <a:t>Where</a:t>
                      </a:r>
                    </a:p>
                  </a:txBody>
                  <a:tcPr marL="109728" marR="73152" marT="36576" marB="36576" anchor="ctr">
                    <a:solidFill>
                      <a:srgbClr val="1E2128"/>
                    </a:solidFill>
                  </a:tcPr>
                </a:tc>
                <a:tc>
                  <a:txBody>
                    <a:bodyPr/>
                    <a:lstStyle/>
                    <a:p>
                      <a:r>
                        <a:rPr sz="1050" b="1">
                          <a:solidFill>
                            <a:srgbClr val="C3C2B7"/>
                          </a:solidFill>
                          <a:latin typeface="Segoe UI"/>
                        </a:rPr>
                        <a:t>Expected effect</a:t>
                      </a:r>
                    </a:p>
                  </a:txBody>
                  <a:tcPr marL="109728" marR="73152" marT="36576" marB="36576" anchor="ctr">
                    <a:solidFill>
                      <a:srgbClr val="1E2128"/>
                    </a:solidFill>
                  </a:tcPr>
                </a:tc>
              </a:tr>
              <a:tr h="429768">
                <a:tc>
                  <a:txBody>
                    <a:bodyPr/>
                    <a:lstStyle/>
                    <a:p>
                      <a:r>
                        <a:rPr sz="1100" b="1">
                          <a:solidFill>
                            <a:srgbClr val="D03B3B"/>
                          </a:solidFill>
                          <a:latin typeface="Segoe UI"/>
                        </a:rPr>
                        <a:t>1</a:t>
                      </a:r>
                    </a:p>
                  </a:txBody>
                  <a:tcPr marL="109728" marR="73152" marT="36576" marB="36576" anchor="ctr">
                    <a:solidFill>
                      <a:srgbClr val="14161B"/>
                    </a:solidFill>
                  </a:tcPr>
                </a:tc>
                <a:tc>
                  <a:txBody>
                    <a:bodyPr/>
                    <a:lstStyle/>
                    <a:p>
                      <a:r>
                        <a:rPr sz="1100" b="0">
                          <a:solidFill>
                            <a:srgbClr val="C3C2B7"/>
                          </a:solidFill>
                          <a:latin typeface="Segoe UI"/>
                        </a:rPr>
                        <a:t>Anchor vertebra ordering on the sacrum/L5, not “4th from top”</a:t>
                      </a:r>
                    </a:p>
                  </a:txBody>
                  <a:tcPr marL="109728" marR="73152" marT="36576" marB="36576" anchor="ctr">
                    <a:solidFill>
                      <a:srgbClr val="14161B"/>
                    </a:solidFill>
                  </a:tcPr>
                </a:tc>
                <a:tc>
                  <a:txBody>
                    <a:bodyPr/>
                    <a:lstStyle/>
                    <a:p>
                      <a:r>
                        <a:rPr sz="1100" b="0">
                          <a:solidFill>
                            <a:srgbClr val="C3C2B7"/>
                          </a:solidFill>
                          <a:latin typeface="Segoe UI"/>
                        </a:rPr>
                        <a:t>yolo_l4()</a:t>
                      </a:r>
                    </a:p>
                  </a:txBody>
                  <a:tcPr marL="109728" marR="73152" marT="36576" marB="36576" anchor="ctr">
                    <a:solidFill>
                      <a:srgbClr val="14161B"/>
                    </a:solidFill>
                  </a:tcPr>
                </a:tc>
                <a:tc>
                  <a:txBody>
                    <a:bodyPr/>
                    <a:lstStyle/>
                    <a:p>
                      <a:r>
                        <a:rPr sz="1100" b="1">
                          <a:solidFill>
                            <a:srgbClr val="0CA30C"/>
                          </a:solidFill>
                          <a:latin typeface="Segoe UI"/>
                        </a:rPr>
                        <a:t>deployed Dice 0.30 → ~0.76</a:t>
                      </a:r>
                    </a:p>
                  </a:txBody>
                  <a:tcPr marL="109728" marR="73152" marT="36576" marB="36576" anchor="ctr">
                    <a:solidFill>
                      <a:srgbClr val="14161B"/>
                    </a:solidFill>
                  </a:tcPr>
                </a:tc>
              </a:tr>
              <a:tr h="429768">
                <a:tc>
                  <a:txBody>
                    <a:bodyPr/>
                    <a:lstStyle/>
                    <a:p>
                      <a:r>
                        <a:rPr sz="1100" b="1">
                          <a:solidFill>
                            <a:srgbClr val="D03B3B"/>
                          </a:solidFill>
                          <a:latin typeface="Segoe UI"/>
                        </a:rPr>
                        <a:t>2</a:t>
                      </a:r>
                    </a:p>
                  </a:txBody>
                  <a:tcPr marL="109728" marR="73152" marT="36576" marB="36576" anchor="ctr">
                    <a:solidFill>
                      <a:srgbClr val="14161B"/>
                    </a:solidFill>
                  </a:tcPr>
                </a:tc>
                <a:tc>
                  <a:txBody>
                    <a:bodyPr/>
                    <a:lstStyle/>
                    <a:p>
                      <a:r>
                        <a:rPr sz="1100" b="0">
                          <a:solidFill>
                            <a:srgbClr val="C3C2B7"/>
                          </a:solidFill>
                          <a:latin typeface="Segoe UI"/>
                        </a:rPr>
                        <a:t>Fit the reference on QC-PASS studies only (n = 27)</a:t>
                      </a:r>
                    </a:p>
                  </a:txBody>
                  <a:tcPr marL="109728" marR="73152" marT="36576" marB="36576" anchor="ctr">
                    <a:solidFill>
                      <a:srgbClr val="14161B"/>
                    </a:solidFill>
                  </a:tcPr>
                </a:tc>
                <a:tc>
                  <a:txBody>
                    <a:bodyPr/>
                    <a:lstStyle/>
                    <a:p>
                      <a:r>
                        <a:rPr sz="1100" b="0">
                          <a:solidFill>
                            <a:srgbClr val="C3C2B7"/>
                          </a:solidFill>
                          <a:latin typeface="Segoe UI"/>
                        </a:rPr>
                        <a:t>fit_reference()</a:t>
                      </a:r>
                    </a:p>
                  </a:txBody>
                  <a:tcPr marL="109728" marR="73152" marT="36576" marB="36576" anchor="ctr">
                    <a:solidFill>
                      <a:srgbClr val="14161B"/>
                    </a:solidFill>
                  </a:tcPr>
                </a:tc>
                <a:tc>
                  <a:txBody>
                    <a:bodyPr/>
                    <a:lstStyle/>
                    <a:p>
                      <a:r>
                        <a:rPr sz="1100" b="1">
                          <a:solidFill>
                            <a:srgbClr val="0CA30C"/>
                          </a:solidFill>
                          <a:latin typeface="Segoe UI"/>
                        </a:rPr>
                        <a:t>removes the leverage point</a:t>
                      </a:r>
                    </a:p>
                  </a:txBody>
                  <a:tcPr marL="109728" marR="73152" marT="36576" marB="36576" anchor="ctr">
                    <a:solidFill>
                      <a:srgbClr val="14161B"/>
                    </a:solidFill>
                  </a:tcPr>
                </a:tc>
              </a:tr>
              <a:tr h="429768">
                <a:tc>
                  <a:txBody>
                    <a:bodyPr/>
                    <a:lstStyle/>
                    <a:p>
                      <a:r>
                        <a:rPr sz="1100" b="1">
                          <a:solidFill>
                            <a:srgbClr val="D03B3B"/>
                          </a:solidFill>
                          <a:latin typeface="Segoe UI"/>
                        </a:rPr>
                        <a:t>3</a:t>
                      </a:r>
                    </a:p>
                  </a:txBody>
                  <a:tcPr marL="109728" marR="73152" marT="36576" marB="36576" anchor="ctr">
                    <a:solidFill>
                      <a:srgbClr val="14161B"/>
                    </a:solidFill>
                  </a:tcPr>
                </a:tc>
                <a:tc>
                  <a:txBody>
                    <a:bodyPr/>
                    <a:lstStyle/>
                    <a:p>
                      <a:r>
                        <a:rPr sz="1100" b="0">
                          <a:solidFill>
                            <a:srgbClr val="C3C2B7"/>
                          </a:solidFill>
                          <a:latin typeface="Segoe UI"/>
                        </a:rPr>
                        <a:t>Fit in log space, with median/MAD instead of mean/σ</a:t>
                      </a:r>
                    </a:p>
                  </a:txBody>
                  <a:tcPr marL="109728" marR="73152" marT="36576" marB="36576" anchor="ctr">
                    <a:solidFill>
                      <a:srgbClr val="14161B"/>
                    </a:solidFill>
                  </a:tcPr>
                </a:tc>
                <a:tc>
                  <a:txBody>
                    <a:bodyPr/>
                    <a:lstStyle/>
                    <a:p>
                      <a:r>
                        <a:rPr sz="1100" b="0">
                          <a:solidFill>
                            <a:srgbClr val="C3C2B7"/>
                          </a:solidFill>
                          <a:latin typeface="Segoe UI"/>
                        </a:rPr>
                        <a:t>fit_reference()</a:t>
                      </a:r>
                    </a:p>
                  </a:txBody>
                  <a:tcPr marL="109728" marR="73152" marT="36576" marB="36576" anchor="ctr">
                    <a:solidFill>
                      <a:srgbClr val="14161B"/>
                    </a:solidFill>
                  </a:tcPr>
                </a:tc>
                <a:tc>
                  <a:txBody>
                    <a:bodyPr/>
                    <a:lstStyle/>
                    <a:p>
                      <a:r>
                        <a:rPr sz="1100" b="1">
                          <a:solidFill>
                            <a:srgbClr val="0CA30C"/>
                          </a:solidFill>
                          <a:latin typeface="Segoe UI"/>
                        </a:rPr>
                        <a:t>z-score becomes well-posed</a:t>
                      </a:r>
                    </a:p>
                  </a:txBody>
                  <a:tcPr marL="109728" marR="73152" marT="36576" marB="36576" anchor="ctr">
                    <a:solidFill>
                      <a:srgbClr val="14161B"/>
                    </a:solidFill>
                  </a:tcPr>
                </a:tc>
              </a:tr>
              <a:tr h="429768">
                <a:tc>
                  <a:txBody>
                    <a:bodyPr/>
                    <a:lstStyle/>
                    <a:p>
                      <a:r>
                        <a:rPr sz="1100" b="1">
                          <a:solidFill>
                            <a:srgbClr val="D03B3B"/>
                          </a:solidFill>
                          <a:latin typeface="Segoe UI"/>
                        </a:rPr>
                        <a:t>4</a:t>
                      </a:r>
                    </a:p>
                  </a:txBody>
                  <a:tcPr marL="109728" marR="73152" marT="36576" marB="36576" anchor="ctr">
                    <a:solidFill>
                      <a:srgbClr val="14161B"/>
                    </a:solidFill>
                  </a:tcPr>
                </a:tc>
                <a:tc>
                  <a:txBody>
                    <a:bodyPr/>
                    <a:lstStyle/>
                    <a:p>
                      <a:r>
                        <a:rPr sz="1100" b="0">
                          <a:solidFill>
                            <a:srgbClr val="C3C2B7"/>
                          </a:solidFill>
                          <a:latin typeface="Segoe UI"/>
                        </a:rPr>
                        <a:t>Re-derive polarity under leave-one-out; drop any feature whose sign flips</a:t>
                      </a:r>
                    </a:p>
                  </a:txBody>
                  <a:tcPr marL="109728" marR="73152" marT="36576" marB="36576" anchor="ctr">
                    <a:solidFill>
                      <a:srgbClr val="14161B"/>
                    </a:solidFill>
                  </a:tcPr>
                </a:tc>
                <a:tc>
                  <a:txBody>
                    <a:bodyPr/>
                    <a:lstStyle/>
                    <a:p>
                      <a:r>
                        <a:rPr sz="1100" b="0">
                          <a:solidFill>
                            <a:srgbClr val="C3C2B7"/>
                          </a:solidFill>
                          <a:latin typeface="Segoe UI"/>
                        </a:rPr>
                        <a:t>fit_reference()</a:t>
                      </a:r>
                    </a:p>
                  </a:txBody>
                  <a:tcPr marL="109728" marR="73152" marT="36576" marB="36576" anchor="ctr">
                    <a:solidFill>
                      <a:srgbClr val="14161B"/>
                    </a:solidFill>
                  </a:tcPr>
                </a:tc>
                <a:tc>
                  <a:txBody>
                    <a:bodyPr/>
                    <a:lstStyle/>
                    <a:p>
                      <a:r>
                        <a:rPr sz="1100" b="1">
                          <a:solidFill>
                            <a:srgbClr val="0CA30C"/>
                          </a:solidFill>
                          <a:latin typeface="Segoe UI"/>
                        </a:rPr>
                        <a:t>kills fractal_dim, vario_slope</a:t>
                      </a:r>
                    </a:p>
                  </a:txBody>
                  <a:tcPr marL="109728" marR="73152" marT="36576" marB="36576" anchor="ctr">
                    <a:solidFill>
                      <a:srgbClr val="14161B"/>
                    </a:solidFill>
                  </a:tcPr>
                </a:tc>
              </a:tr>
              <a:tr h="429768">
                <a:tc>
                  <a:txBody>
                    <a:bodyPr/>
                    <a:lstStyle/>
                    <a:p>
                      <a:r>
                        <a:rPr sz="1100" b="1">
                          <a:solidFill>
                            <a:srgbClr val="FAB219"/>
                          </a:solidFill>
                          <a:latin typeface="Segoe UI"/>
                        </a:rPr>
                        <a:t>5</a:t>
                      </a:r>
                    </a:p>
                  </a:txBody>
                  <a:tcPr marL="109728" marR="73152" marT="36576" marB="36576" anchor="ctr">
                    <a:solidFill>
                      <a:srgbClr val="14161B"/>
                    </a:solidFill>
                  </a:tcPr>
                </a:tc>
                <a:tc>
                  <a:txBody>
                    <a:bodyPr/>
                    <a:lstStyle/>
                    <a:p>
                      <a:r>
                        <a:rPr sz="1100" b="0">
                          <a:solidFill>
                            <a:srgbClr val="C3C2B7"/>
                          </a:solidFill>
                          <a:latin typeface="Segoe UI"/>
                        </a:rPr>
                        <a:t>Set BHI weights to zero for all unstable features → BHI = BAR</a:t>
                      </a:r>
                    </a:p>
                  </a:txBody>
                  <a:tcPr marL="109728" marR="73152" marT="36576" marB="36576" anchor="ctr">
                    <a:solidFill>
                      <a:srgbClr val="14161B"/>
                    </a:solidFill>
                  </a:tcPr>
                </a:tc>
                <a:tc>
                  <a:txBody>
                    <a:bodyPr/>
                    <a:lstStyle/>
                    <a:p>
                      <a:r>
                        <a:rPr sz="1100" b="0">
                          <a:solidFill>
                            <a:srgbClr val="C3C2B7"/>
                          </a:solidFill>
                          <a:latin typeface="Segoe UI"/>
                        </a:rPr>
                        <a:t>BHI_WEIGHTS</a:t>
                      </a:r>
                    </a:p>
                  </a:txBody>
                  <a:tcPr marL="109728" marR="73152" marT="36576" marB="36576" anchor="ctr">
                    <a:solidFill>
                      <a:srgbClr val="14161B"/>
                    </a:solidFill>
                  </a:tcPr>
                </a:tc>
                <a:tc>
                  <a:txBody>
                    <a:bodyPr/>
                    <a:lstStyle/>
                    <a:p>
                      <a:r>
                        <a:rPr sz="1100" b="1">
                          <a:solidFill>
                            <a:srgbClr val="0CA30C"/>
                          </a:solidFill>
                          <a:latin typeface="Segoe UI"/>
                        </a:rPr>
                        <a:t>removes a false composite</a:t>
                      </a:r>
                    </a:p>
                  </a:txBody>
                  <a:tcPr marL="109728" marR="73152" marT="36576" marB="36576" anchor="ctr">
                    <a:solidFill>
                      <a:srgbClr val="14161B"/>
                    </a:solidFill>
                  </a:tcPr>
                </a:tc>
              </a:tr>
              <a:tr h="429768">
                <a:tc>
                  <a:txBody>
                    <a:bodyPr/>
                    <a:lstStyle/>
                    <a:p>
                      <a:r>
                        <a:rPr sz="1100" b="1">
                          <a:solidFill>
                            <a:srgbClr val="FAB219"/>
                          </a:solidFill>
                          <a:latin typeface="Segoe UI"/>
                        </a:rPr>
                        <a:t>6</a:t>
                      </a:r>
                    </a:p>
                  </a:txBody>
                  <a:tcPr marL="109728" marR="73152" marT="36576" marB="36576" anchor="ctr">
                    <a:solidFill>
                      <a:srgbClr val="14161B"/>
                    </a:solidFill>
                  </a:tcPr>
                </a:tc>
                <a:tc>
                  <a:txBody>
                    <a:bodyPr/>
                    <a:lstStyle/>
                    <a:p>
                      <a:r>
                        <a:rPr sz="1100" b="0">
                          <a:solidFill>
                            <a:srgbClr val="C3C2B7"/>
                          </a:solidFill>
                          <a:latin typeface="Segoe UI"/>
                        </a:rPr>
                        <a:t>Re-estimate LSC on QC-PASS studies; state it as a lower bound</a:t>
                      </a:r>
                    </a:p>
                  </a:txBody>
                  <a:tcPr marL="109728" marR="73152" marT="36576" marB="36576" anchor="ctr">
                    <a:solidFill>
                      <a:srgbClr val="14161B"/>
                    </a:solidFill>
                  </a:tcPr>
                </a:tc>
                <a:tc>
                  <a:txBody>
                    <a:bodyPr/>
                    <a:lstStyle/>
                    <a:p>
                      <a:r>
                        <a:rPr sz="1100" b="0">
                          <a:solidFill>
                            <a:srgbClr val="C3C2B7"/>
                          </a:solidFill>
                          <a:latin typeface="Segoe UI"/>
                        </a:rPr>
                        <a:t>precision_lsc()</a:t>
                      </a:r>
                    </a:p>
                  </a:txBody>
                  <a:tcPr marL="109728" marR="73152" marT="36576" marB="36576" anchor="ctr">
                    <a:solidFill>
                      <a:srgbClr val="14161B"/>
                    </a:solidFill>
                  </a:tcPr>
                </a:tc>
                <a:tc>
                  <a:txBody>
                    <a:bodyPr/>
                    <a:lstStyle/>
                    <a:p>
                      <a:r>
                        <a:rPr sz="1100" b="1">
                          <a:solidFill>
                            <a:srgbClr val="FAB219"/>
                          </a:solidFill>
                          <a:latin typeface="Segoe UI"/>
                        </a:rPr>
                        <a:t>96.8% → 36.8%, still unusable</a:t>
                      </a:r>
                    </a:p>
                  </a:txBody>
                  <a:tcPr marL="109728" marR="73152" marT="36576" marB="36576" anchor="ctr">
                    <a:solidFill>
                      <a:srgbClr val="14161B"/>
                    </a:solidFill>
                  </a:tcPr>
                </a:tc>
              </a:tr>
              <a:tr h="429768">
                <a:tc>
                  <a:txBody>
                    <a:bodyPr/>
                    <a:lstStyle/>
                    <a:p>
                      <a:r>
                        <a:rPr sz="1100" b="1">
                          <a:solidFill>
                            <a:srgbClr val="FAB219"/>
                          </a:solidFill>
                          <a:latin typeface="Segoe UI"/>
                        </a:rPr>
                        <a:t>7</a:t>
                      </a:r>
                    </a:p>
                  </a:txBody>
                  <a:tcPr marL="109728" marR="73152" marT="36576" marB="36576" anchor="ctr">
                    <a:solidFill>
                      <a:srgbClr val="14161B"/>
                    </a:solidFill>
                  </a:tcPr>
                </a:tc>
                <a:tc>
                  <a:txBody>
                    <a:bodyPr/>
                    <a:lstStyle/>
                    <a:p>
                      <a:r>
                        <a:rPr sz="1100" b="0">
                          <a:solidFill>
                            <a:srgbClr val="C3C2B7"/>
                          </a:solidFill>
                          <a:latin typeface="Segoe UI"/>
                        </a:rPr>
                        <a:t>Stabilise the ROI under small rotations — the real precision fix</a:t>
                      </a:r>
                    </a:p>
                  </a:txBody>
                  <a:tcPr marL="109728" marR="73152" marT="36576" marB="36576" anchor="ctr">
                    <a:solidFill>
                      <a:srgbClr val="14161B"/>
                    </a:solidFill>
                  </a:tcPr>
                </a:tc>
                <a:tc>
                  <a:txBody>
                    <a:bodyPr/>
                    <a:lstStyle/>
                    <a:p>
                      <a:r>
                        <a:rPr sz="1100" b="0">
                          <a:solidFill>
                            <a:srgbClr val="C3C2B7"/>
                          </a:solidFill>
                          <a:latin typeface="Segoe UI"/>
                        </a:rPr>
                        <a:t>trabecular_roi()</a:t>
                      </a:r>
                    </a:p>
                  </a:txBody>
                  <a:tcPr marL="109728" marR="73152" marT="36576" marB="36576" anchor="ctr">
                    <a:solidFill>
                      <a:srgbClr val="14161B"/>
                    </a:solidFill>
                  </a:tcPr>
                </a:tc>
                <a:tc>
                  <a:txBody>
                    <a:bodyPr/>
                    <a:lstStyle/>
                    <a:p>
                      <a:r>
                        <a:rPr sz="1100" b="1">
                          <a:solidFill>
                            <a:srgbClr val="FAB219"/>
                          </a:solidFill>
                          <a:latin typeface="Segoe UI"/>
                        </a:rPr>
                        <a:t>the only non-data problem</a:t>
                      </a:r>
                    </a:p>
                  </a:txBody>
                  <a:tcPr marL="109728" marR="73152" marT="36576" marB="36576" anchor="ctr">
                    <a:solidFill>
                      <a:srgbClr val="14161B"/>
                    </a:solidFill>
                  </a:tcPr>
                </a:tc>
              </a:tr>
              <a:tr h="429768">
                <a:tc>
                  <a:txBody>
                    <a:bodyPr/>
                    <a:lstStyle/>
                    <a:p>
                      <a:r>
                        <a:rPr sz="1100" b="1">
                          <a:solidFill>
                            <a:srgbClr val="C3C2B7"/>
                          </a:solidFill>
                          <a:latin typeface="Segoe UI"/>
                        </a:rPr>
                        <a:t>8</a:t>
                      </a:r>
                    </a:p>
                  </a:txBody>
                  <a:tcPr marL="109728" marR="73152" marT="36576" marB="36576" anchor="ctr">
                    <a:solidFill>
                      <a:srgbClr val="14161B"/>
                    </a:solidFill>
                  </a:tcPr>
                </a:tc>
                <a:tc>
                  <a:txBody>
                    <a:bodyPr/>
                    <a:lstStyle/>
                    <a:p>
                      <a:r>
                        <a:rPr sz="1100" b="0">
                          <a:solidFill>
                            <a:srgbClr val="C3C2B7"/>
                          </a:solidFill>
                          <a:latin typeface="Segoe UI"/>
                        </a:rPr>
                        <a:t>Rebuild the BUU val split so Step 2b reports in-domain metrics</a:t>
                      </a:r>
                    </a:p>
                  </a:txBody>
                  <a:tcPr marL="109728" marR="73152" marT="36576" marB="36576" anchor="ctr">
                    <a:solidFill>
                      <a:srgbClr val="14161B"/>
                    </a:solidFill>
                  </a:tcPr>
                </a:tc>
                <a:tc>
                  <a:txBody>
                    <a:bodyPr/>
                    <a:lstStyle/>
                    <a:p>
                      <a:r>
                        <a:rPr sz="1100" b="0">
                          <a:solidFill>
                            <a:srgbClr val="C3C2B7"/>
                          </a:solidFill>
                          <a:latin typeface="Segoe UI"/>
                        </a:rPr>
                        <a:t>Step 2b</a:t>
                      </a:r>
                    </a:p>
                  </a:txBody>
                  <a:tcPr marL="109728" marR="73152" marT="36576" marB="36576" anchor="ctr">
                    <a:solidFill>
                      <a:srgbClr val="14161B"/>
                    </a:solidFill>
                  </a:tcPr>
                </a:tc>
                <a:tc>
                  <a:txBody>
                    <a:bodyPr/>
                    <a:lstStyle/>
                    <a:p>
                      <a:r>
                        <a:rPr sz="1100" b="0">
                          <a:solidFill>
                            <a:srgbClr val="898781"/>
                          </a:solidFill>
                          <a:latin typeface="Segoe UI"/>
                        </a:rPr>
                        <a:t>currently silently skipped</a:t>
                      </a:r>
                    </a:p>
                  </a:txBody>
                  <a:tcPr marL="109728" marR="73152" marT="36576" marB="36576" anchor="ctr">
                    <a:solidFill>
                      <a:srgbClr val="14161B"/>
                    </a:solidFill>
                  </a:tcPr>
                </a:tc>
              </a:tr>
            </a:tbl>
          </a:graphicData>
        </a:graphic>
      </p:graphicFrame>
      <p:sp>
        <p:nvSpPr>
          <p:cNvPr id="5" name="TextBox 4"/>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Items 2–6 are edits to a single function and its weights; item 1 is a labelling rule. None require retraining. Item 7 is the only one that needs new engineering.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61B"/>
        </a:solidFill>
        <a:effectLst/>
      </p:bgPr>
    </p:bg>
    <p:spTree>
      <p:nvGrpSpPr>
        <p:cNvPr id="1" name=""/>
        <p:cNvGrpSpPr/>
        <p:nvPr/>
      </p:nvGrpSpPr>
      <p:grpSpPr/>
      <p:sp>
        <p:nvSpPr>
          <p:cNvPr id="2" name="TextBox 1"/>
          <p:cNvSpPr txBox="1"/>
          <p:nvPr/>
        </p:nvSpPr>
        <p:spPr>
          <a:xfrm>
            <a:off x="566928" y="310896"/>
            <a:ext cx="11064240" cy="1051560"/>
          </a:xfrm>
          <a:prstGeom prst="rect">
            <a:avLst/>
          </a:prstGeom>
          <a:noFill/>
        </p:spPr>
        <p:txBody>
          <a:bodyPr wrap="square" anchor="t">
            <a:spAutoFit/>
          </a:bodyPr>
          <a:lstStyle/>
          <a:p>
            <a:pPr algn="l">
              <a:spcBef>
                <a:spcPts val="0"/>
              </a:spcBef>
              <a:spcAft>
                <a:spcPts val="400"/>
              </a:spcAft>
            </a:pPr>
            <a:r>
              <a:rPr sz="1150" b="1" i="0">
                <a:solidFill>
                  <a:srgbClr val="3987E5"/>
                </a:solidFill>
                <a:latin typeface="Segoe UI"/>
              </a:rPr>
              <a:t>THE ONE EXPERIMENT THAT MATTERS</a:t>
            </a:r>
          </a:p>
          <a:p>
            <a:pPr algn="l">
              <a:lnSpc>
                <a:spcPct val="95000"/>
              </a:lnSpc>
              <a:spcBef>
                <a:spcPts val="0"/>
              </a:spcBef>
              <a:spcAft>
                <a:spcPts val="0"/>
              </a:spcAft>
            </a:pPr>
            <a:r>
              <a:rPr sz="2800" b="1" i="0">
                <a:solidFill>
                  <a:srgbClr val="FFFFFF"/>
                </a:solidFill>
                <a:latin typeface="Segoe UI"/>
              </a:rPr>
              <a:t>Everything above is a proxy until DXA labels exist</a:t>
            </a:r>
          </a:p>
        </p:txBody>
      </p:sp>
      <p:sp>
        <p:nvSpPr>
          <p:cNvPr id="3" name="Rectangle 2"/>
          <p:cNvSpPr/>
          <p:nvPr/>
        </p:nvSpPr>
        <p:spPr>
          <a:xfrm>
            <a:off x="566928" y="566928"/>
            <a:ext cx="658368" cy="50800"/>
          </a:xfrm>
          <a:prstGeom prst="rect">
            <a:avLst/>
          </a:prstGeom>
          <a:solidFill>
            <a:srgbClr val="398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691640"/>
            <a:ext cx="5394960" cy="301752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4846320" cy="2743200"/>
          </a:xfrm>
          <a:prstGeom prst="rect">
            <a:avLst/>
          </a:prstGeom>
          <a:noFill/>
        </p:spPr>
        <p:txBody>
          <a:bodyPr wrap="square" anchor="t">
            <a:spAutoFit/>
          </a:bodyPr>
          <a:lstStyle/>
          <a:p>
            <a:pPr algn="l">
              <a:spcBef>
                <a:spcPts val="0"/>
              </a:spcBef>
              <a:spcAft>
                <a:spcPts val="1200"/>
              </a:spcAft>
            </a:pPr>
            <a:r>
              <a:rPr sz="1300" b="1" i="0">
                <a:solidFill>
                  <a:srgbClr val="3987E5"/>
                </a:solidFill>
                <a:latin typeface="Segoe UI"/>
              </a:rPr>
              <a:t>What we need</a:t>
            </a:r>
          </a:p>
          <a:p>
            <a:pPr algn="l">
              <a:lnSpc>
                <a:spcPct val="95000"/>
              </a:lnSpc>
              <a:spcBef>
                <a:spcPts val="0"/>
              </a:spcBef>
              <a:spcAft>
                <a:spcPts val="200"/>
              </a:spcAft>
            </a:pPr>
            <a:r>
              <a:rPr sz="2600" b="1" i="0">
                <a:solidFill>
                  <a:srgbClr val="FFFFFF"/>
                </a:solidFill>
                <a:latin typeface="Segoe UI"/>
              </a:rPr>
              <a:t>≥ 50 studies</a:t>
            </a:r>
          </a:p>
          <a:p>
            <a:pPr algn="l">
              <a:spcBef>
                <a:spcPts val="0"/>
              </a:spcBef>
              <a:spcAft>
                <a:spcPts val="1600"/>
              </a:spcAft>
            </a:pPr>
            <a:r>
              <a:rPr sz="1200" b="0" i="0">
                <a:solidFill>
                  <a:srgbClr val="C3C2B7"/>
                </a:solidFill>
                <a:latin typeface="Segoe UI"/>
              </a:rPr>
              <a:t>with paired DXA T-scores or continuous BMD</a:t>
            </a:r>
          </a:p>
          <a:p>
            <a:pPr algn="l">
              <a:lnSpc>
                <a:spcPct val="112000"/>
              </a:lnSpc>
              <a:spcBef>
                <a:spcPts val="0"/>
              </a:spcBef>
              <a:spcAft>
                <a:spcPts val="0"/>
              </a:spcAft>
            </a:pPr>
            <a:r>
              <a:rPr sz="1150" b="0" i="0">
                <a:solidFill>
                  <a:srgbClr val="C3C2B7"/>
                </a:solidFill>
                <a:latin typeface="Segoe UI"/>
              </a:rPr>
              <a:t>The CSVs are already shaped for it. L4_clinical_scores.csv carries bar, bhi and every texture feature per study; attaching a label column is the whole data task.</a:t>
            </a:r>
          </a:p>
        </p:txBody>
      </p:sp>
      <p:sp>
        <p:nvSpPr>
          <p:cNvPr id="6" name="Rounded Rectangle 5"/>
          <p:cNvSpPr/>
          <p:nvPr/>
        </p:nvSpPr>
        <p:spPr>
          <a:xfrm>
            <a:off x="6236208" y="1691640"/>
            <a:ext cx="5394960" cy="3017520"/>
          </a:xfrm>
          <a:prstGeom prst="roundRect">
            <a:avLst>
              <a:gd name="adj" fmla="val 6000"/>
            </a:avLst>
          </a:prstGeom>
          <a:solidFill>
            <a:srgbClr val="1E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874519"/>
            <a:ext cx="4846320" cy="2743200"/>
          </a:xfrm>
          <a:prstGeom prst="rect">
            <a:avLst/>
          </a:prstGeom>
          <a:noFill/>
        </p:spPr>
        <p:txBody>
          <a:bodyPr wrap="square" anchor="t">
            <a:spAutoFit/>
          </a:bodyPr>
          <a:lstStyle/>
          <a:p>
            <a:pPr algn="l">
              <a:spcBef>
                <a:spcPts val="0"/>
              </a:spcBef>
              <a:spcAft>
                <a:spcPts val="1200"/>
              </a:spcAft>
            </a:pPr>
            <a:r>
              <a:rPr sz="1300" b="1" i="0">
                <a:solidFill>
                  <a:srgbClr val="3987E5"/>
                </a:solidFill>
                <a:latin typeface="Segoe UI"/>
              </a:rPr>
              <a:t>What it settles</a:t>
            </a:r>
          </a:p>
          <a:p>
            <a:pPr>
              <a:lnSpc>
                <a:spcPct val="110000"/>
              </a:lnSpc>
              <a:spcBef>
                <a:spcPts val="0"/>
              </a:spcBef>
              <a:spcAft>
                <a:spcPts val="1000"/>
              </a:spcAft>
            </a:pPr>
            <a:r>
              <a:rPr sz="1150" b="1">
                <a:solidFill>
                  <a:srgbClr val="FFFFFF"/>
                </a:solidFill>
                <a:latin typeface="Segoe UI"/>
              </a:rPr>
              <a:t>corr(BAR, T-score) — </a:t>
            </a:r>
            <a:r>
              <a:rPr sz="1150" b="0">
                <a:solidFill>
                  <a:srgbClr val="C3C2B7"/>
                </a:solidFill>
                <a:latin typeface="Segoe UI"/>
              </a:rPr>
              <a:t>does the physics survive contact with the reference standard?</a:t>
            </a:r>
          </a:p>
          <a:p>
            <a:pPr>
              <a:lnSpc>
                <a:spcPct val="110000"/>
              </a:lnSpc>
              <a:spcBef>
                <a:spcPts val="0"/>
              </a:spcBef>
              <a:spcAft>
                <a:spcPts val="1000"/>
              </a:spcAft>
            </a:pPr>
            <a:r>
              <a:rPr sz="1150" b="1">
                <a:solidFill>
                  <a:srgbClr val="FFFFFF"/>
                </a:solidFill>
                <a:latin typeface="Segoe UI"/>
              </a:rPr>
              <a:t>ROC(BHI → osteoporosis) — </a:t>
            </a:r>
            <a:r>
              <a:rPr sz="1150" b="0">
                <a:solidFill>
                  <a:srgbClr val="C3C2B7"/>
                </a:solidFill>
                <a:latin typeface="Segoe UI"/>
              </a:rPr>
              <a:t>does texture add anything over density alone?</a:t>
            </a:r>
          </a:p>
          <a:p>
            <a:pPr>
              <a:lnSpc>
                <a:spcPct val="110000"/>
              </a:lnSpc>
              <a:spcBef>
                <a:spcPts val="0"/>
              </a:spcBef>
              <a:spcAft>
                <a:spcPts val="1000"/>
              </a:spcAft>
            </a:pPr>
            <a:r>
              <a:rPr sz="1150" b="1">
                <a:solidFill>
                  <a:srgbClr val="FFFFFF"/>
                </a:solidFill>
                <a:latin typeface="Segoe UI"/>
              </a:rPr>
              <a:t>If BAR alone reaches adequate AUC — </a:t>
            </a:r>
            <a:r>
              <a:rPr sz="1150" b="0">
                <a:solidFill>
                  <a:srgbClr val="C3C2B7"/>
                </a:solidFill>
                <a:latin typeface="Segoe UI"/>
              </a:rPr>
              <a:t>drop the texture terms entirely.</a:t>
            </a:r>
          </a:p>
          <a:p>
            <a:pPr>
              <a:lnSpc>
                <a:spcPct val="110000"/>
              </a:lnSpc>
              <a:spcBef>
                <a:spcPts val="0"/>
              </a:spcBef>
              <a:spcAft>
                <a:spcPts val="1000"/>
              </a:spcAft>
            </a:pPr>
            <a:r>
              <a:rPr sz="1150" b="1">
                <a:solidFill>
                  <a:srgbClr val="FFFFFF"/>
                </a:solidFill>
                <a:latin typeface="Segoe UI"/>
              </a:rPr>
              <a:t>If it does not — </a:t>
            </a:r>
            <a:r>
              <a:rPr sz="1150" b="0">
                <a:solidFill>
                  <a:srgbClr val="C3C2B7"/>
                </a:solidFill>
                <a:latin typeface="Segoe UI"/>
              </a:rPr>
              <a:t>re-fit BHI_WEIGHTS by logistic regression on the labels.</a:t>
            </a:r>
          </a:p>
        </p:txBody>
      </p:sp>
      <p:sp>
        <p:nvSpPr>
          <p:cNvPr id="8" name="Rounded Rectangle 7"/>
          <p:cNvSpPr/>
          <p:nvPr/>
        </p:nvSpPr>
        <p:spPr>
          <a:xfrm>
            <a:off x="566928" y="4956048"/>
            <a:ext cx="11064240" cy="1051560"/>
          </a:xfrm>
          <a:prstGeom prst="roundRect">
            <a:avLst>
              <a:gd name="adj" fmla="val 6000"/>
            </a:avLst>
          </a:prstGeom>
          <a:solidFill>
            <a:srgbClr val="1B2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084064"/>
            <a:ext cx="10515600" cy="868680"/>
          </a:xfrm>
          <a:prstGeom prst="rect">
            <a:avLst/>
          </a:prstGeom>
          <a:noFill/>
        </p:spPr>
        <p:txBody>
          <a:bodyPr wrap="square" anchor="t">
            <a:spAutoFit/>
          </a:bodyPr>
          <a:lstStyle/>
          <a:p>
            <a:pPr>
              <a:spcBef>
                <a:spcPts val="0"/>
              </a:spcBef>
              <a:spcAft>
                <a:spcPts val="600"/>
              </a:spcAft>
            </a:pPr>
            <a:r>
              <a:rPr sz="1350" b="1">
                <a:solidFill>
                  <a:srgbClr val="FFFFFF"/>
                </a:solidFill>
                <a:latin typeface="Segoe UI"/>
              </a:rPr>
              <a:t>That single experiment converts every “-like” in this notebook into a defensible clinical claim. </a:t>
            </a:r>
          </a:p>
          <a:p>
            <a:pPr algn="l">
              <a:spcBef>
                <a:spcPts val="0"/>
              </a:spcBef>
              <a:spcAft>
                <a:spcPts val="0"/>
              </a:spcAft>
            </a:pPr>
            <a:r>
              <a:rPr sz="1200" b="0" i="0">
                <a:solidFill>
                  <a:srgbClr val="C3C2B7"/>
                </a:solidFill>
                <a:latin typeface="Segoe UI"/>
              </a:rPr>
              <a:t>Until then: report BAR with its QC verdict, and say nothing about osteopenia.</a:t>
            </a:r>
          </a:p>
        </p:txBody>
      </p:sp>
      <p:sp>
        <p:nvSpPr>
          <p:cNvPr id="10" name="TextBox 9"/>
          <p:cNvSpPr txBox="1"/>
          <p:nvPr/>
        </p:nvSpPr>
        <p:spPr>
          <a:xfrm>
            <a:off x="566928" y="6236208"/>
            <a:ext cx="11064240" cy="457200"/>
          </a:xfrm>
          <a:prstGeom prst="rect">
            <a:avLst/>
          </a:prstGeom>
          <a:noFill/>
        </p:spPr>
        <p:txBody>
          <a:bodyPr wrap="square" anchor="t">
            <a:spAutoFit/>
          </a:bodyPr>
          <a:lstStyle/>
          <a:p>
            <a:pPr algn="l">
              <a:spcBef>
                <a:spcPts val="0"/>
              </a:spcBef>
              <a:spcAft>
                <a:spcPts val="600"/>
              </a:spcAft>
            </a:pPr>
            <a:r>
              <a:rPr sz="1050" b="0" i="1">
                <a:solidFill>
                  <a:srgbClr val="898781"/>
                </a:solidFill>
                <a:latin typeface="Segoe UI"/>
              </a:rPr>
              <a:t>Recommendations 1–4 should land before the labels arrive, so the correlation is computed on the right vertebra.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