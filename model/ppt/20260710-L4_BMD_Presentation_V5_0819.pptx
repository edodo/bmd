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3"/>
    <p:sldId id="258" r:id="rId4"/>
    <p:sldId id="257" r:id="rId5"/>
    <p:sldId id="271" r:id="rId6"/>
    <p:sldId id="272" r:id="rId7"/>
    <p:sldId id="259" r:id="rId8"/>
    <p:sldId id="260" r:id="rId9"/>
    <p:sldId id="264" r:id="rId10"/>
    <p:sldId id="261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1" autoAdjust="0"/>
    <p:restoredTop sz="54790" autoAdjust="0"/>
  </p:normalViewPr>
  <p:slideViewPr>
    <p:cSldViewPr snapToGrid="0" snapToObjects="1">
      <p:cViewPr varScale="1">
        <p:scale>
          <a:sx n="73" d="100"/>
          <a:sy n="73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68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I built an automatic tool that measures bone quality from the L4 vertebra on a regular X-ray.</a:t>
            </a:r>
          </a:p>
          <a:p>
            <a:r>
              <a:rPr lang="en-CA" dirty="0"/>
              <a:t>It doesn’t need an extra scan or extra radiation.</a:t>
            </a:r>
          </a:p>
          <a:p>
            <a:r>
              <a:rPr lang="en-CA" dirty="0"/>
              <a:t>Today, I'll show you how it works, how accurate it is, and what still needs to be improved before clinical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5173-8867-B76E-E850-3FD3EC08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78B059-C1D9-7E67-67BA-06CFA674A0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65301-8696-9AAA-A8BF-862ADE887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This is </a:t>
            </a:r>
            <a:r>
              <a:rPr dirty="0"/>
              <a:t>not replacing DXA. </a:t>
            </a:r>
            <a:endParaRPr lang="en-CA" dirty="0"/>
          </a:p>
          <a:p>
            <a:r>
              <a:rPr lang="en-US" dirty="0"/>
              <a:t>It uses X-ray images you already have and automatically analyzes the bone.</a:t>
            </a:r>
            <a:endParaRPr lang="en-CA" dirty="0"/>
          </a:p>
          <a:p>
            <a:r>
              <a:rPr lang="en-US" dirty="0"/>
              <a:t>It measures two things: </a:t>
            </a:r>
          </a:p>
          <a:p>
            <a:r>
              <a:rPr lang="en-US" dirty="0"/>
              <a:t>density, which is how bright the bone looks, </a:t>
            </a:r>
          </a:p>
          <a:p>
            <a:r>
              <a:rPr lang="en-US" dirty="0"/>
              <a:t>and texture, which is the pattern inside the bone.</a:t>
            </a:r>
          </a:p>
          <a:p>
            <a:endParaRPr lang="en-US" dirty="0"/>
          </a:p>
          <a:p>
            <a:r>
              <a:rPr lang="en-CA" dirty="0"/>
              <a:t>But this is only an estimate. It is not converted to real bone density units.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82BB7-C6BF-ECF5-73AC-A4F95FB1E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4814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1B2A38"/>
                </a:solidFill>
              </a:rPr>
              <a:t>Here is the whole system in four steps.</a:t>
            </a:r>
            <a:br>
              <a:rPr lang="en-US" dirty="0">
                <a:solidFill>
                  <a:srgbClr val="1B2A38"/>
                </a:solidFill>
              </a:rPr>
            </a:br>
            <a:r>
              <a:rPr lang="en-US" dirty="0">
                <a:solidFill>
                  <a:srgbClr val="1B2A38"/>
                </a:solidFill>
              </a:rPr>
              <a:t>&gt;</a:t>
            </a: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1B2A38"/>
                </a:solidFill>
              </a:rPr>
              <a:t>First, we take an X-ray, either a front view or a side view.</a:t>
            </a:r>
            <a:br>
              <a:rPr lang="en-US" dirty="0">
                <a:solidFill>
                  <a:srgbClr val="1B2A38"/>
                </a:solidFill>
              </a:rPr>
            </a:br>
            <a:r>
              <a:rPr lang="en-US" dirty="0">
                <a:solidFill>
                  <a:srgbClr val="1B2A38"/>
                </a:solidFill>
              </a:rPr>
              <a:t>&gt;</a:t>
            </a:r>
            <a:br>
              <a:rPr lang="en-US" dirty="0">
                <a:solidFill>
                  <a:srgbClr val="1B2A38"/>
                </a:solidFill>
              </a:rPr>
            </a:br>
            <a:r>
              <a:rPr lang="en-US" dirty="0">
                <a:solidFill>
                  <a:srgbClr val="1B2A38"/>
                </a:solidFill>
              </a:rPr>
              <a:t>Next, a deep-learning model finds five vertebrae.</a:t>
            </a:r>
            <a:br>
              <a:rPr lang="en-US" dirty="0">
                <a:solidFill>
                  <a:srgbClr val="1B2A38"/>
                </a:solidFill>
              </a:rPr>
            </a:br>
            <a:r>
              <a:rPr lang="en-US" dirty="0">
                <a:solidFill>
                  <a:srgbClr val="1B2A38"/>
                </a:solidFill>
              </a:rPr>
              <a:t>&gt;</a:t>
            </a:r>
            <a:br>
              <a:rPr lang="en-US" dirty="0">
                <a:solidFill>
                  <a:srgbClr val="1B2A38"/>
                </a:solidFill>
              </a:rPr>
            </a:br>
            <a:r>
              <a:rPr lang="en-US" dirty="0">
                <a:solidFill>
                  <a:srgbClr val="1B2A38"/>
                </a:solidFill>
              </a:rPr>
              <a:t>Then, we clean the image to keep only the inner bone.</a:t>
            </a:r>
            <a:br>
              <a:rPr lang="en-US" dirty="0">
                <a:solidFill>
                  <a:srgbClr val="1B2A38"/>
                </a:solidFill>
              </a:rPr>
            </a:br>
            <a:r>
              <a:rPr lang="en-US" dirty="0">
                <a:solidFill>
                  <a:srgbClr val="1B2A38"/>
                </a:solidFill>
              </a:rPr>
              <a:t>After that, we calculate our bone-density score, called BAR.</a:t>
            </a:r>
            <a:endParaRPr lang="en-US" dirty="0"/>
          </a:p>
          <a:p>
            <a:pPr>
              <a:defRPr/>
            </a:pPr>
            <a:r>
              <a:rPr lang="en-US" dirty="0"/>
              <a:t>&gt;</a:t>
            </a:r>
            <a:br>
              <a:rPr lang="en-US" dirty="0"/>
            </a:br>
            <a:r>
              <a:rPr lang="en-US" dirty="0">
                <a:solidFill>
                  <a:srgbClr val="1B2A38"/>
                </a:solidFill>
              </a:rPr>
              <a:t>Finally, we perform a quality check to make sure the result is reliable.</a:t>
            </a:r>
            <a:endParaRPr lang="en-US" dirty="0"/>
          </a:p>
          <a:p>
            <a:pPr>
              <a:defRPr/>
            </a:pPr>
            <a:endParaRPr lang="en-US" dirty="0">
              <a:cs typeface="+mn-lt"/>
            </a:endParaRPr>
          </a:p>
          <a:p>
            <a:pPr>
              <a:defRPr/>
            </a:pPr>
            <a:r>
              <a:rPr lang="en-US" dirty="0">
                <a:solidFill>
                  <a:srgbClr val="1B2A38"/>
                </a:solidFill>
              </a:rPr>
              <a:t>For segmentation, I used the YOLO-26-segmentation model.</a:t>
            </a: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1B2A38"/>
                </a:solidFill>
              </a:rPr>
              <a:t>Getting the dataset was one of the biggest challenges </a:t>
            </a:r>
            <a:endParaRPr lang="en-US" dirty="0"/>
          </a:p>
          <a:p>
            <a:pPr>
              <a:defRPr/>
            </a:pPr>
            <a:r>
              <a:rPr lang="en-US" dirty="0">
                <a:solidFill>
                  <a:srgbClr val="1B2A38"/>
                </a:solidFill>
              </a:rPr>
              <a:t>because X-rays contain personal information.</a:t>
            </a:r>
            <a:endParaRPr lang="en-US" dirty="0">
              <a:cs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look at the imaging options.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choices — DXA, CT, and MRI.</a:t>
            </a:r>
            <a:endParaRPr lang="en-CA" b="0" dirty="0">
              <a:effectLst/>
            </a:endParaRPr>
          </a:p>
          <a:p>
            <a:r>
              <a:rPr lang="en-CA" dirty="0"/>
              <a:t>Among these, we focused on reusing X-rays that have already been taken.</a:t>
            </a:r>
          </a:p>
          <a:p>
            <a:endParaRPr lang="en-CA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many clinical tasks we can do with X-rays.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focused on bone density measurement to identify the risk of osteoporosis early.</a:t>
            </a:r>
            <a:endParaRPr lang="en-CA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B9C5-1C6D-77D7-6C6E-D2A146E3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002791-22A5-7346-807D-46BB5E823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B14C01-5BDC-97B4-92BD-782EB991E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used three AI techniques.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texture analysis, using GLCM.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deep-learning segmentation, using YOLO.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explainable AI, using Seg-Grad-CAM.</a:t>
            </a:r>
            <a:endParaRPr lang="en-CA" b="0" dirty="0">
              <a:effectLst/>
            </a:endParaRPr>
          </a:p>
          <a:p>
            <a:r>
              <a:rPr lang="en-CA" dirty="0"/>
              <a:t>This is still experimental.</a:t>
            </a:r>
          </a:p>
          <a:p>
            <a:r>
              <a:rPr lang="en-CA" dirty="0"/>
              <a:t>We are building an Autoencoder model to validate the BMD values.</a:t>
            </a:r>
            <a:br>
              <a:rPr lang="en-CA" dirty="0"/>
            </a:b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EBD2A-6CA8-ABA3-39F2-675D2A614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44495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EBFE5-45F4-FCE8-133D-5072DDA0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36547-E51A-CB6D-2C51-BA9CC35C1D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9BC4B-90BF-4854-FA5E-11107DB45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1B2A38"/>
                </a:solidFill>
              </a:rPr>
              <a:t>We used </a:t>
            </a:r>
            <a:r>
              <a:rPr lang="en-US" b="1" dirty="0">
                <a:solidFill>
                  <a:srgbClr val="1B2A38"/>
                </a:solidFill>
              </a:rPr>
              <a:t>4,000 X-ray images from </a:t>
            </a:r>
            <a:r>
              <a:rPr lang="en-US" b="1" dirty="0" err="1">
                <a:solidFill>
                  <a:srgbClr val="1B2A38"/>
                </a:solidFill>
              </a:rPr>
              <a:t>Burapha</a:t>
            </a:r>
            <a:r>
              <a:rPr lang="en-US" b="1" dirty="0">
                <a:solidFill>
                  <a:srgbClr val="1B2A38"/>
                </a:solidFill>
              </a:rPr>
              <a:t> University</a:t>
            </a:r>
            <a:r>
              <a:rPr lang="en-US" dirty="0">
                <a:solidFill>
                  <a:srgbClr val="1B2A38"/>
                </a:solidFill>
              </a:rPr>
              <a:t> for training and validation.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The dataset includes both front and side views.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For testing, we used a separate Kaggle dataset.</a:t>
            </a:r>
            <a:endParaRPr lang="en-US" dirty="0"/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0AF89-A0E0-864A-0292-71F27ACF2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29634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is AI segmentation </a:t>
            </a:r>
          </a:p>
          <a:p>
            <a:r>
              <a:rPr lang="en-US" dirty="0">
                <a:solidFill>
                  <a:srgbClr val="1B2A38"/>
                </a:solidFill>
              </a:rPr>
              <a:t>We used the YOLO-26 segmentation model.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It detects five labels, from L1 to L5.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We can count the vertebrae from top to bottom, or from bottom to top.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So, the model identifies each vertebra as a separate shape.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Using this approach, the model automatically selects L4.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mAP-50 score is 97 percent.</a:t>
            </a:r>
          </a:p>
          <a:p>
            <a:r>
              <a:rPr lang="en-US" dirty="0"/>
              <a:t>Therefore, the detector itself is strong.</a:t>
            </a:r>
          </a:p>
          <a:p>
            <a:r>
              <a:rPr lang="en-US" dirty="0"/>
              <a:t>Precision is 95 percent, and recall is 96 percent.</a:t>
            </a:r>
          </a:p>
          <a:p>
            <a:r>
              <a:rPr lang="en-US" dirty="0"/>
              <a:t>So, the model finds and outlines the vertebrae very reliably.</a:t>
            </a:r>
          </a:p>
          <a:p>
            <a:r>
              <a:rPr lang="en-US" dirty="0"/>
              <a:t>&gt; Click</a:t>
            </a:r>
          </a:p>
          <a:p>
            <a:r>
              <a:rPr lang="en-US" dirty="0"/>
              <a:t>This is the confusion matrix.</a:t>
            </a:r>
          </a:p>
          <a:p>
            <a:r>
              <a:rPr lang="en-US" dirty="0"/>
              <a:t>Most predictions are on the diagonal,</a:t>
            </a:r>
          </a:p>
          <a:p>
            <a:r>
              <a:rPr lang="en-US" dirty="0"/>
              <a:t>which means the model correctly identifies each vertebra.</a:t>
            </a:r>
          </a:p>
          <a:p>
            <a:r>
              <a:rPr lang="en-US" dirty="0"/>
              <a:t>&gt; Click</a:t>
            </a:r>
          </a:p>
          <a:p>
            <a:r>
              <a:rPr lang="en-US" dirty="0"/>
              <a:t>These are the loss and performance graphs.</a:t>
            </a:r>
          </a:p>
          <a:p>
            <a:r>
              <a:rPr lang="en-US" dirty="0"/>
              <a:t>The top row shows the training results.</a:t>
            </a:r>
          </a:p>
          <a:p>
            <a:r>
              <a:rPr lang="en-US" dirty="0"/>
              <a:t>The bottom row shows the validation results.</a:t>
            </a:r>
          </a:p>
          <a:p>
            <a:br>
              <a:rPr lang="en-US" dirty="0"/>
            </a:br>
            <a:r>
              <a:rPr lang="en-US" dirty="0"/>
              <a:t>On the left, we have the loss.</a:t>
            </a:r>
          </a:p>
          <a:p>
            <a:r>
              <a:rPr lang="en-US" dirty="0"/>
              <a:t>On the right, we have the performance metrics.</a:t>
            </a:r>
          </a:p>
          <a:p>
            <a:endParaRPr lang="en-US" dirty="0"/>
          </a:p>
          <a:p>
            <a:r>
              <a:rPr lang="en-US" dirty="0"/>
              <a:t>We trained the model for 100 epochs. </a:t>
            </a:r>
          </a:p>
          <a:p>
            <a:r>
              <a:rPr lang="en-US" dirty="0"/>
              <a:t>The training took about two days.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heatmap shows which pixels the AI focused on.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focuses on the L4 bone and its inner pattern.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similar to the area a radiologist looks at.</a:t>
            </a:r>
            <a:endParaRPr lang="en-CA" b="0" dirty="0">
              <a:effectLst/>
            </a:endParaRPr>
          </a:p>
          <a:p>
            <a:pPr rtl="0"/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So, we can see what the AI is looking at.</a:t>
            </a:r>
            <a:endParaRPr lang="en-CA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1B2A38"/>
                </a:solidFill>
              </a:rPr>
              <a:t>I’ll explain the process in three simple steps.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&gt; Click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First, we normalized the x-ray </a:t>
            </a:r>
            <a:r>
              <a:rPr lang="en-CA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en-US" dirty="0">
                <a:solidFill>
                  <a:srgbClr val="1B2A38"/>
                </a:solidFill>
              </a:rPr>
              <a:t>.</a:t>
            </a:r>
          </a:p>
          <a:p>
            <a:r>
              <a:rPr lang="en-US" dirty="0">
                <a:solidFill>
                  <a:srgbClr val="1B2A38"/>
                </a:solidFill>
              </a:rPr>
              <a:t>&gt; Click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Second, 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We remove the cortical(</a:t>
            </a:r>
            <a:r>
              <a:rPr lang="ko-KR" altLang="en-US" dirty="0">
                <a:solidFill>
                  <a:srgbClr val="1B2A38"/>
                </a:solidFill>
              </a:rPr>
              <a:t>피질</a:t>
            </a:r>
            <a:r>
              <a:rPr lang="en-US" dirty="0">
                <a:solidFill>
                  <a:srgbClr val="1B2A38"/>
                </a:solidFill>
              </a:rPr>
              <a:t>) bone and the endplates,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so we keep only the cancellous bone(</a:t>
            </a:r>
            <a:r>
              <a:rPr lang="ko-KR" altLang="en-US" dirty="0">
                <a:solidFill>
                  <a:srgbClr val="1B2A38"/>
                </a:solidFill>
              </a:rPr>
              <a:t>해면골</a:t>
            </a:r>
            <a:r>
              <a:rPr lang="en-US" dirty="0">
                <a:solidFill>
                  <a:srgbClr val="1B2A38"/>
                </a:solidFill>
              </a:rPr>
              <a:t>).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&gt; C</a:t>
            </a:r>
            <a:r>
              <a:rPr lang="en-US" dirty="0">
                <a:solidFill>
                  <a:srgbClr val="1B2A38"/>
                </a:solidFill>
              </a:rPr>
              <a:t>lick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dirty="0">
                <a:solidFill>
                  <a:srgbClr val="1B2A38"/>
                </a:solidFill>
              </a:rPr>
              <a:t>Third, we calculate the BAR value.</a:t>
            </a:r>
            <a:endParaRPr lang="en-US" dirty="0"/>
          </a:p>
          <a:p>
            <a:r>
              <a:rPr lang="en-CA" dirty="0"/>
              <a:t>We use a normalized brightness histogram to measure the bone signal against the surrounding tissue.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1B2A38"/>
                </a:solidFill>
              </a:rPr>
              <a:t>&gt; Click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BAR stands for Bone Attenuation Ratio.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It compares the attenuation of the trabecular bone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rgbClr val="1B2A38"/>
                </a:solidFill>
              </a:rPr>
              <a:t>with the patient’s own soft tissue.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After this calculation,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we get the BAR value for L4.</a:t>
            </a:r>
            <a:endParaRPr lang="en-US" dirty="0"/>
          </a:p>
          <a:p>
            <a:r>
              <a:rPr lang="en-US" dirty="0">
                <a:solidFill>
                  <a:srgbClr val="1B2A38"/>
                </a:solidFill>
              </a:rPr>
              <a:t>This value is used for bone density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31D23-EDC4-BB68-95BC-9C67C1AB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D2F9F-5D79-6520-60E1-52019E0EB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9DB2AA-BDCB-D8D1-79C7-02D14CA6B9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6BD8-CEDA-1AD0-D263-F3F42B0ADA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35551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64008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0838F"/>
                </a:solidFill>
                <a:latin typeface="Calibri"/>
              </a:rPr>
              <a:t>AUTOMATED IMAGING  ·  BONE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607040" cy="151836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Measuring Spinal Bone </a:t>
            </a:r>
            <a:r>
              <a:rPr lang="en-CA" sz="4600" b="1" i="0" dirty="0">
                <a:solidFill>
                  <a:srgbClr val="FFFFFF"/>
                </a:solidFill>
                <a:latin typeface="Calibri"/>
              </a:rPr>
              <a:t>Density</a:t>
            </a:r>
            <a:endParaRPr sz="4600" b="1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600" b="1" i="0" dirty="0">
                <a:solidFill>
                  <a:srgbClr val="FFFFFF"/>
                </a:solidFill>
                <a:latin typeface="Calibri"/>
              </a:rPr>
              <a:t>from Routine Hip / Spine X-rays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0584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1" dirty="0">
                <a:solidFill>
                  <a:srgbClr val="C9D6E2"/>
                </a:solidFill>
                <a:latin typeface="Calibri"/>
              </a:rPr>
              <a:t>An automatic, explainable pipeline that finds the L4 vertebra and measures its bone density and texture.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5334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FFFF"/>
                </a:solidFill>
                <a:latin typeface="Calibri"/>
              </a:rPr>
              <a:t>Presented by:  </a:t>
            </a:r>
            <a:r>
              <a:rPr lang="en-CA" sz="1500" b="1" i="0" dirty="0">
                <a:solidFill>
                  <a:srgbClr val="FFFFFF"/>
                </a:solidFill>
                <a:latin typeface="Calibri"/>
              </a:rPr>
              <a:t>Edward</a:t>
            </a:r>
            <a:r>
              <a:rPr lang="en-CA" sz="1500" b="1" dirty="0">
                <a:solidFill>
                  <a:srgbClr val="FFFFFF"/>
                </a:solidFill>
                <a:latin typeface="Calibri"/>
              </a:rPr>
              <a:t> Choi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  ·  Data Analyst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300" b="0" i="0" dirty="0">
                <a:solidFill>
                  <a:srgbClr val="AEB9C6"/>
                </a:solidFill>
                <a:latin typeface="Calibri"/>
              </a:rPr>
              <a:t>Aug 19, </a:t>
            </a:r>
            <a:r>
              <a:rPr sz="1300" b="0" i="0" dirty="0">
                <a:solidFill>
                  <a:srgbClr val="AEB9C6"/>
                </a:solidFill>
                <a:latin typeface="Calibri"/>
              </a:rPr>
              <a:t>2026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D32CC9-14A3-CCC0-8A27-43F27AD2EFBD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chemeClr val="bg1"/>
                </a:solidFill>
                <a:latin typeface="Calibri"/>
              </a:rPr>
              <a:t>1</a:t>
            </a:r>
            <a:r>
              <a:rPr lang="en-CA" sz="900" dirty="0">
                <a:solidFill>
                  <a:schemeClr val="bg1"/>
                </a:solidFill>
              </a:rPr>
              <a:t>/15</a:t>
            </a:r>
            <a:endParaRPr sz="900" b="0" i="0" dirty="0">
              <a:solidFill>
                <a:schemeClr val="bg1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03E9-108D-53AF-BAFC-D120E33D8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A58F1-613A-4A59-0A8A-EB37A1B8118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E84028-ED07-EDD6-D555-81DB1286C0F0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09225-42C6-7232-30FD-346D0C5F2D97}"/>
              </a:ext>
            </a:extLst>
          </p:cNvPr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Why measure L4 bone from an X-ray?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F7AD60-9CF5-24AE-7B89-CE0DF9ABB217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E7DDB7-E9FE-3B96-AD7A-52F19E6085C0}"/>
              </a:ext>
            </a:extLst>
          </p:cNvPr>
          <p:cNvSpPr txBox="1"/>
          <p:nvPr/>
        </p:nvSpPr>
        <p:spPr>
          <a:xfrm>
            <a:off x="548640" y="2097405"/>
            <a:ext cx="6583680" cy="3474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Bone quality of the lumbar spine matters for surgical planning and follow-up.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AP hip / spine X-rays are already taken in routine care.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Goal: a fast, repeatable bone-quality number for the L4 vertebra — fully automatic.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 dirty="0">
                <a:solidFill>
                  <a:srgbClr val="222A33"/>
                </a:solidFill>
                <a:latin typeface="Calibri"/>
              </a:rPr>
              <a:t>L4 is the standard lumbar reference level for bone assessment (as in DXA).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74C8F84-92DF-984A-EE5E-F2F24D9AE61A}"/>
              </a:ext>
            </a:extLst>
          </p:cNvPr>
          <p:cNvSpPr/>
          <p:nvPr/>
        </p:nvSpPr>
        <p:spPr>
          <a:xfrm>
            <a:off x="7406640" y="1645920"/>
            <a:ext cx="4206240" cy="22860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A3CA9-5E4C-400B-F045-0D829D48D980}"/>
              </a:ext>
            </a:extLst>
          </p:cNvPr>
          <p:cNvSpPr txBox="1"/>
          <p:nvPr/>
        </p:nvSpPr>
        <p:spPr>
          <a:xfrm>
            <a:off x="7635240" y="1828800"/>
            <a:ext cx="3749039" cy="20116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B26A00"/>
                </a:solidFill>
                <a:latin typeface="Calibri"/>
              </a:rPr>
              <a:t>IMPORTANT CAVEAT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1" dirty="0">
                <a:solidFill>
                  <a:srgbClr val="222A33"/>
                </a:solidFill>
                <a:latin typeface="Calibri"/>
              </a:rPr>
              <a:t>This is a relative, X-ray-based proxy of bone density — not a calibrated DXA result (g/cm²).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1" dirty="0">
                <a:solidFill>
                  <a:srgbClr val="5A646E"/>
                </a:solidFill>
                <a:latin typeface="Calibri"/>
              </a:rPr>
              <a:t>It is for method demonstration. True BMD needs DXA / QCT or an in-image calibration phantom.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29F5A7-979D-1401-54A3-6BC694F59EC3}"/>
              </a:ext>
            </a:extLst>
          </p:cNvPr>
          <p:cNvSpPr/>
          <p:nvPr/>
        </p:nvSpPr>
        <p:spPr>
          <a:xfrm>
            <a:off x="7406640" y="4114800"/>
            <a:ext cx="4206240" cy="1463040"/>
          </a:xfrm>
          <a:prstGeom prst="roundRect">
            <a:avLst>
              <a:gd name="adj" fmla="val 4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16163-177B-3871-E03E-C7D1CEBF0794}"/>
              </a:ext>
            </a:extLst>
          </p:cNvPr>
          <p:cNvSpPr txBox="1"/>
          <p:nvPr/>
        </p:nvSpPr>
        <p:spPr>
          <a:xfrm>
            <a:off x="7635240" y="4251960"/>
            <a:ext cx="3749039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WHAT WE MEASURE ON L4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1)  Bone density proxy  (image brightness)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2)  Bone texture  (trabecular pattern, GLCM)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E546BB-9AE4-D2C7-EB95-156F03834708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A2694-3E0C-B490-E9E8-F62540CB4E38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2/15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6346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The pipeline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669280"/>
            <a:ext cx="109728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1" dirty="0">
                <a:solidFill>
                  <a:srgbClr val="5A646E"/>
                </a:solidFill>
                <a:latin typeface="Calibri"/>
              </a:rPr>
              <a:t>Built on a</a:t>
            </a:r>
            <a:r>
              <a:rPr lang="en-CA" sz="1400" b="0" i="1" dirty="0">
                <a:solidFill>
                  <a:srgbClr val="5A646E"/>
                </a:solidFill>
                <a:latin typeface="Calibri"/>
              </a:rPr>
              <a:t>n</a:t>
            </a:r>
            <a:r>
              <a:rPr sz="1400" b="0" i="1" dirty="0">
                <a:solidFill>
                  <a:srgbClr val="5A646E"/>
                </a:solidFill>
                <a:latin typeface="Calibri"/>
              </a:rPr>
              <a:t> AI detector (</a:t>
            </a:r>
            <a:r>
              <a:rPr sz="1400" b="1" i="1" dirty="0" err="1">
                <a:solidFill>
                  <a:schemeClr val="accent1"/>
                </a:solidFill>
                <a:latin typeface="Calibri"/>
              </a:rPr>
              <a:t>YOLOv</a:t>
            </a:r>
            <a:r>
              <a:rPr lang="en-CA" sz="1400" b="1" i="1" dirty="0">
                <a:solidFill>
                  <a:schemeClr val="accent1"/>
                </a:solidFill>
                <a:latin typeface="Calibri"/>
              </a:rPr>
              <a:t>26-seg</a:t>
            </a:r>
            <a:r>
              <a:rPr sz="1400" b="0" i="1" dirty="0">
                <a:solidFill>
                  <a:srgbClr val="5A646E"/>
                </a:solidFill>
                <a:latin typeface="Calibri"/>
              </a:rPr>
              <a:t>) trained on </a:t>
            </a:r>
            <a:r>
              <a:rPr lang="en-CA" sz="1400" b="0" i="1" dirty="0">
                <a:solidFill>
                  <a:srgbClr val="5A646E"/>
                </a:solidFill>
                <a:latin typeface="Calibri"/>
              </a:rPr>
              <a:t>4</a:t>
            </a:r>
            <a:r>
              <a:rPr sz="1400" b="0" i="1" dirty="0">
                <a:solidFill>
                  <a:srgbClr val="5A646E"/>
                </a:solidFill>
                <a:latin typeface="Calibri"/>
              </a:rPr>
              <a:t>,000 public spine X-rays; the measurement and explanation code is independent of the detector.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3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CE0704DF-27C5-314B-4F7B-5DB28E441AB6}"/>
              </a:ext>
            </a:extLst>
          </p:cNvPr>
          <p:cNvSpPr/>
          <p:nvPr/>
        </p:nvSpPr>
        <p:spPr>
          <a:xfrm>
            <a:off x="229313" y="1725637"/>
            <a:ext cx="2453011" cy="3634823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2A05E5-0396-9E8B-887B-8573119A7A47}"/>
              </a:ext>
            </a:extLst>
          </p:cNvPr>
          <p:cNvSpPr/>
          <p:nvPr/>
        </p:nvSpPr>
        <p:spPr>
          <a:xfrm>
            <a:off x="1158638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B3530-8AD3-1245-15C1-5B7365A595CF}"/>
              </a:ext>
            </a:extLst>
          </p:cNvPr>
          <p:cNvSpPr txBox="1"/>
          <p:nvPr/>
        </p:nvSpPr>
        <p:spPr>
          <a:xfrm>
            <a:off x="335678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Input X-ray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F9E5C3-6C0A-E805-5E9F-506563E024CF}"/>
              </a:ext>
            </a:extLst>
          </p:cNvPr>
          <p:cNvSpPr txBox="1"/>
          <p:nvPr/>
        </p:nvSpPr>
        <p:spPr>
          <a:xfrm>
            <a:off x="335678" y="3566160"/>
            <a:ext cx="2240280" cy="48731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Routine spine /
hip radiograph</a:t>
            </a:r>
          </a:p>
        </p:txBody>
      </p:sp>
      <p:sp>
        <p:nvSpPr>
          <p:cNvPr id="32" name="Right Arrow 9">
            <a:extLst>
              <a:ext uri="{FF2B5EF4-FFF2-40B4-BE49-F238E27FC236}">
                <a16:creationId xmlns:a16="http://schemas.microsoft.com/office/drawing/2014/main" id="{A84BF071-668C-4BBC-69BB-73B1291D3D82}"/>
              </a:ext>
            </a:extLst>
          </p:cNvPr>
          <p:cNvSpPr/>
          <p:nvPr/>
        </p:nvSpPr>
        <p:spPr>
          <a:xfrm>
            <a:off x="2746374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0">
            <a:extLst>
              <a:ext uri="{FF2B5EF4-FFF2-40B4-BE49-F238E27FC236}">
                <a16:creationId xmlns:a16="http://schemas.microsoft.com/office/drawing/2014/main" id="{E6665697-9629-02A6-0448-C3D0F5C16860}"/>
              </a:ext>
            </a:extLst>
          </p:cNvPr>
          <p:cNvSpPr/>
          <p:nvPr/>
        </p:nvSpPr>
        <p:spPr>
          <a:xfrm>
            <a:off x="3098723" y="1725637"/>
            <a:ext cx="2371175" cy="3634823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6BE1245-B37A-0121-3BD1-6F82BB0364F7}"/>
              </a:ext>
            </a:extLst>
          </p:cNvPr>
          <p:cNvSpPr/>
          <p:nvPr/>
        </p:nvSpPr>
        <p:spPr>
          <a:xfrm>
            <a:off x="3987130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46C034-5021-C2D4-39D7-1B898D06F372}"/>
              </a:ext>
            </a:extLst>
          </p:cNvPr>
          <p:cNvSpPr txBox="1"/>
          <p:nvPr/>
        </p:nvSpPr>
        <p:spPr>
          <a:xfrm>
            <a:off x="3164170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Find L4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D0D24D9-7DE3-3FF6-E7ED-DFC0C3B0D08C}"/>
              </a:ext>
            </a:extLst>
          </p:cNvPr>
          <p:cNvSpPr txBox="1"/>
          <p:nvPr/>
        </p:nvSpPr>
        <p:spPr>
          <a:xfrm>
            <a:off x="3164170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AI outlines vertebrae
L1-L5 and selects L4</a:t>
            </a:r>
          </a:p>
        </p:txBody>
      </p:sp>
      <p:sp>
        <p:nvSpPr>
          <p:cNvPr id="37" name="Right Arrow 14">
            <a:extLst>
              <a:ext uri="{FF2B5EF4-FFF2-40B4-BE49-F238E27FC236}">
                <a16:creationId xmlns:a16="http://schemas.microsoft.com/office/drawing/2014/main" id="{21B98E95-5AEF-C6DE-8C16-F8703DAE6958}"/>
              </a:ext>
            </a:extLst>
          </p:cNvPr>
          <p:cNvSpPr/>
          <p:nvPr/>
        </p:nvSpPr>
        <p:spPr>
          <a:xfrm>
            <a:off x="5535101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65D5CC6B-51F6-D124-7E20-E9284DAAFBF0}"/>
              </a:ext>
            </a:extLst>
          </p:cNvPr>
          <p:cNvSpPr/>
          <p:nvPr/>
        </p:nvSpPr>
        <p:spPr>
          <a:xfrm>
            <a:off x="5850558" y="1725637"/>
            <a:ext cx="3255833" cy="3634823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FD8F2C6-EFFF-702D-2550-73C7C470CF23}"/>
              </a:ext>
            </a:extLst>
          </p:cNvPr>
          <p:cNvSpPr/>
          <p:nvPr/>
        </p:nvSpPr>
        <p:spPr>
          <a:xfrm>
            <a:off x="7181294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0B6EA6-6CF9-B478-E1BD-ACAA91E41C8E}"/>
              </a:ext>
            </a:extLst>
          </p:cNvPr>
          <p:cNvSpPr txBox="1"/>
          <p:nvPr/>
        </p:nvSpPr>
        <p:spPr>
          <a:xfrm>
            <a:off x="6358334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Measure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3A38F7-F28E-4D14-0BAB-40E2C50C7DFC}"/>
              </a:ext>
            </a:extLst>
          </p:cNvPr>
          <p:cNvSpPr txBox="1"/>
          <p:nvPr/>
        </p:nvSpPr>
        <p:spPr>
          <a:xfrm>
            <a:off x="6358334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Density proxy +
bone texture on L4</a:t>
            </a:r>
          </a:p>
        </p:txBody>
      </p:sp>
      <p:sp>
        <p:nvSpPr>
          <p:cNvPr id="42" name="Right Arrow 19">
            <a:extLst>
              <a:ext uri="{FF2B5EF4-FFF2-40B4-BE49-F238E27FC236}">
                <a16:creationId xmlns:a16="http://schemas.microsoft.com/office/drawing/2014/main" id="{BE0900E5-91B9-59A7-0556-7CF4CAA2C5D0}"/>
              </a:ext>
            </a:extLst>
          </p:cNvPr>
          <p:cNvSpPr/>
          <p:nvPr/>
        </p:nvSpPr>
        <p:spPr>
          <a:xfrm>
            <a:off x="9160877" y="3063240"/>
            <a:ext cx="292608" cy="457200"/>
          </a:xfrm>
          <a:prstGeom prst="rightArrow">
            <a:avLst/>
          </a:prstGeom>
          <a:solidFill>
            <a:srgbClr val="B8C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20">
            <a:extLst>
              <a:ext uri="{FF2B5EF4-FFF2-40B4-BE49-F238E27FC236}">
                <a16:creationId xmlns:a16="http://schemas.microsoft.com/office/drawing/2014/main" id="{08DDC2A2-BBC3-DD7B-0FF7-83DA788609FD}"/>
              </a:ext>
            </a:extLst>
          </p:cNvPr>
          <p:cNvSpPr/>
          <p:nvPr/>
        </p:nvSpPr>
        <p:spPr>
          <a:xfrm>
            <a:off x="9479397" y="1725637"/>
            <a:ext cx="2528165" cy="3634823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8B2A060-7742-0383-6B53-0D30F7C55C78}"/>
              </a:ext>
            </a:extLst>
          </p:cNvPr>
          <p:cNvSpPr/>
          <p:nvPr/>
        </p:nvSpPr>
        <p:spPr>
          <a:xfrm>
            <a:off x="10446299" y="2423160"/>
            <a:ext cx="594360" cy="594360"/>
          </a:xfrm>
          <a:prstGeom prst="ellipse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0E9BDF-CA26-08FD-3EDA-D28DA88E90B0}"/>
              </a:ext>
            </a:extLst>
          </p:cNvPr>
          <p:cNvSpPr txBox="1"/>
          <p:nvPr/>
        </p:nvSpPr>
        <p:spPr>
          <a:xfrm>
            <a:off x="9623339" y="3154680"/>
            <a:ext cx="22402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B324F"/>
                </a:solidFill>
                <a:latin typeface="Calibri"/>
              </a:rPr>
              <a:t>Report + Explain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E5130C-F9F4-193F-A717-BDE99B516C5C}"/>
              </a:ext>
            </a:extLst>
          </p:cNvPr>
          <p:cNvSpPr txBox="1"/>
          <p:nvPr/>
        </p:nvSpPr>
        <p:spPr>
          <a:xfrm>
            <a:off x="9623339" y="3566160"/>
            <a:ext cx="224028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5A646E"/>
                </a:solidFill>
                <a:latin typeface="Calibri"/>
              </a:rPr>
              <a:t>Numbers + heatmaps
showing the 'why'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D1D15A2-5738-659F-0AEE-8055C696A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42" y="1721565"/>
            <a:ext cx="2446352" cy="364095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6677394-9573-F89D-9012-7E3E9FCB0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396" y="1725388"/>
            <a:ext cx="2407828" cy="3641689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0DB94B89-682C-5E77-D0B2-5FE0D9233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897" y="1725388"/>
            <a:ext cx="3261155" cy="364725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0A5FD37-D4E2-ACD6-8F02-C7CF8C47A0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6735" y="1719122"/>
            <a:ext cx="2533488" cy="36325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2700" b="1" i="0" dirty="0">
                <a:solidFill>
                  <a:srgbClr val="1B324F"/>
                </a:solidFill>
                <a:latin typeface="Calibri"/>
              </a:rPr>
              <a:t>Imaging modalities – why X-ray</a:t>
            </a:r>
            <a:endParaRPr sz="2700" b="1" i="0" dirty="0">
              <a:solidFill>
                <a:srgbClr val="1B324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4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4" name="Rounded Rectangle 5">
            <a:extLst>
              <a:ext uri="{FF2B5EF4-FFF2-40B4-BE49-F238E27FC236}">
                <a16:creationId xmlns:a16="http://schemas.microsoft.com/office/drawing/2014/main" id="{250F5F2C-0B80-3789-164D-CEBC4AD492E6}"/>
              </a:ext>
            </a:extLst>
          </p:cNvPr>
          <p:cNvSpPr/>
          <p:nvPr/>
        </p:nvSpPr>
        <p:spPr>
          <a:xfrm>
            <a:off x="2124737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Imaging modalities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590A005A-4F72-CD2E-BB75-E0CF30354052}"/>
              </a:ext>
            </a:extLst>
          </p:cNvPr>
          <p:cNvSpPr/>
          <p:nvPr/>
        </p:nvSpPr>
        <p:spPr>
          <a:xfrm>
            <a:off x="8592994" y="1724953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Clinical tasks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F3374B13-F9B9-1B53-C7BC-2172F726600B}"/>
              </a:ext>
            </a:extLst>
          </p:cNvPr>
          <p:cNvSpPr/>
          <p:nvPr/>
        </p:nvSpPr>
        <p:spPr>
          <a:xfrm>
            <a:off x="8081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DXA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2" name="Rounded Rectangle 8">
            <a:extLst>
              <a:ext uri="{FF2B5EF4-FFF2-40B4-BE49-F238E27FC236}">
                <a16:creationId xmlns:a16="http://schemas.microsoft.com/office/drawing/2014/main" id="{D54383C5-7E98-4219-6A95-06BB87D4AFB5}"/>
              </a:ext>
            </a:extLst>
          </p:cNvPr>
          <p:cNvSpPr/>
          <p:nvPr/>
        </p:nvSpPr>
        <p:spPr>
          <a:xfrm>
            <a:off x="2617870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X-ray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498B3BE5-C27B-38CA-CABA-E36BD176C8B5}"/>
              </a:ext>
            </a:extLst>
          </p:cNvPr>
          <p:cNvSpPr/>
          <p:nvPr/>
        </p:nvSpPr>
        <p:spPr>
          <a:xfrm>
            <a:off x="4414826" y="2982336"/>
            <a:ext cx="86572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CT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865E5187-7748-B822-106B-6861D896BBD9}"/>
              </a:ext>
            </a:extLst>
          </p:cNvPr>
          <p:cNvSpPr/>
          <p:nvPr/>
        </p:nvSpPr>
        <p:spPr>
          <a:xfrm>
            <a:off x="5489439" y="2982336"/>
            <a:ext cx="722343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MRI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194B75B5-E924-1593-08D5-7B536B35909E}"/>
              </a:ext>
            </a:extLst>
          </p:cNvPr>
          <p:cNvSpPr/>
          <p:nvPr/>
        </p:nvSpPr>
        <p:spPr>
          <a:xfrm>
            <a:off x="21931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Opportunistic</a:t>
            </a:r>
          </a:p>
          <a:p>
            <a:pPr algn="ctr"/>
            <a:r>
              <a:rPr lang="en-CA" dirty="0" err="1">
                <a:solidFill>
                  <a:schemeClr val="tx1"/>
                </a:solidFill>
              </a:rPr>
              <a:t>screnning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0460311E-04BB-9CB7-6F65-B1F66B281BE1}"/>
              </a:ext>
            </a:extLst>
          </p:cNvPr>
          <p:cNvSpPr/>
          <p:nvPr/>
        </p:nvSpPr>
        <p:spPr>
          <a:xfrm>
            <a:off x="383494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T-score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classification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D2C5E7E7-281E-483E-FB20-3BA66AC2DFCC}"/>
              </a:ext>
            </a:extLst>
          </p:cNvPr>
          <p:cNvSpPr/>
          <p:nvPr/>
        </p:nvSpPr>
        <p:spPr>
          <a:xfrm>
            <a:off x="3990150" y="5112515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 structure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analysis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0" name="Rounded Rectangle 8">
            <a:extLst>
              <a:ext uri="{FF2B5EF4-FFF2-40B4-BE49-F238E27FC236}">
                <a16:creationId xmlns:a16="http://schemas.microsoft.com/office/drawing/2014/main" id="{C107BE20-0B46-03E4-050A-B41A9FDB9AE0}"/>
              </a:ext>
            </a:extLst>
          </p:cNvPr>
          <p:cNvSpPr/>
          <p:nvPr/>
        </p:nvSpPr>
        <p:spPr>
          <a:xfrm>
            <a:off x="6672177" y="2982336"/>
            <a:ext cx="2003470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classification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6" name="Rounded Rectangle 8">
            <a:extLst>
              <a:ext uri="{FF2B5EF4-FFF2-40B4-BE49-F238E27FC236}">
                <a16:creationId xmlns:a16="http://schemas.microsoft.com/office/drawing/2014/main" id="{0E280DD2-FC78-FA83-63DE-98BBC098E5F6}"/>
              </a:ext>
            </a:extLst>
          </p:cNvPr>
          <p:cNvSpPr/>
          <p:nvPr/>
        </p:nvSpPr>
        <p:spPr>
          <a:xfrm>
            <a:off x="6911584" y="564906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Osteoporosis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6" name="Rounded Rectangle 8">
            <a:extLst>
              <a:ext uri="{FF2B5EF4-FFF2-40B4-BE49-F238E27FC236}">
                <a16:creationId xmlns:a16="http://schemas.microsoft.com/office/drawing/2014/main" id="{11A1AEB7-0E99-0688-06F9-BEAC8A14FD0A}"/>
              </a:ext>
            </a:extLst>
          </p:cNvPr>
          <p:cNvSpPr/>
          <p:nvPr/>
        </p:nvSpPr>
        <p:spPr>
          <a:xfrm>
            <a:off x="8934709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Fracture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1FACA410-5254-A582-4997-E84FAEAE484A}"/>
              </a:ext>
            </a:extLst>
          </p:cNvPr>
          <p:cNvSpPr/>
          <p:nvPr/>
        </p:nvSpPr>
        <p:spPr>
          <a:xfrm>
            <a:off x="10579254" y="2982336"/>
            <a:ext cx="136253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Risk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detection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6567B6A7-9F65-AEA5-5C4F-1515F1A219E3}"/>
              </a:ext>
            </a:extLst>
          </p:cNvPr>
          <p:cNvCxnSpPr>
            <a:stCxn id="14" idx="2"/>
            <a:endCxn id="20" idx="0"/>
          </p:cNvCxnSpPr>
          <p:nvPr/>
        </p:nvCxnSpPr>
        <p:spPr>
          <a:xfrm rot="5400000">
            <a:off x="1899957" y="1626156"/>
            <a:ext cx="697256" cy="2015105"/>
          </a:xfrm>
          <a:prstGeom prst="bentConnector3">
            <a:avLst/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0A68219-B033-5100-329F-B29F7AA44B8D}"/>
              </a:ext>
            </a:extLst>
          </p:cNvPr>
          <p:cNvCxnSpPr>
            <a:cxnSpLocks/>
            <a:stCxn id="14" idx="2"/>
            <a:endCxn id="22" idx="0"/>
          </p:cNvCxnSpPr>
          <p:nvPr/>
        </p:nvCxnSpPr>
        <p:spPr>
          <a:xfrm rot="5400000">
            <a:off x="2804807" y="2531006"/>
            <a:ext cx="697256" cy="2054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EACCB9E4-EC7B-E0D7-AF99-82FC77AB12E5}"/>
              </a:ext>
            </a:extLst>
          </p:cNvPr>
          <p:cNvCxnSpPr>
            <a:cxnSpLocks/>
            <a:stCxn id="14" idx="2"/>
            <a:endCxn id="24" idx="0"/>
          </p:cNvCxnSpPr>
          <p:nvPr/>
        </p:nvCxnSpPr>
        <p:spPr>
          <a:xfrm rot="16200000" flipH="1">
            <a:off x="3703284" y="1837932"/>
            <a:ext cx="697256" cy="1591551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B997795-6012-908B-CE4E-B1CE656A7750}"/>
              </a:ext>
            </a:extLst>
          </p:cNvPr>
          <p:cNvCxnSpPr>
            <a:cxnSpLocks/>
            <a:stCxn id="14" idx="2"/>
            <a:endCxn id="26" idx="0"/>
          </p:cNvCxnSpPr>
          <p:nvPr/>
        </p:nvCxnSpPr>
        <p:spPr>
          <a:xfrm rot="16200000" flipH="1">
            <a:off x="4204746" y="1336471"/>
            <a:ext cx="697256" cy="2594474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1C8D836-C6D6-5EEA-F5DA-13739B2DF521}"/>
              </a:ext>
            </a:extLst>
          </p:cNvPr>
          <p:cNvCxnSpPr>
            <a:stCxn id="20" idx="2"/>
            <a:endCxn id="34" idx="0"/>
          </p:cNvCxnSpPr>
          <p:nvPr/>
        </p:nvCxnSpPr>
        <p:spPr>
          <a:xfrm flipH="1">
            <a:off x="1241031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1FFF32-61E7-8CF0-D9E8-446952E432FF}"/>
              </a:ext>
            </a:extLst>
          </p:cNvPr>
          <p:cNvCxnSpPr>
            <a:cxnSpLocks/>
            <a:stCxn id="22" idx="2"/>
            <a:endCxn id="30" idx="0"/>
          </p:cNvCxnSpPr>
          <p:nvPr/>
        </p:nvCxnSpPr>
        <p:spPr>
          <a:xfrm flipH="1">
            <a:off x="3050731" y="3542463"/>
            <a:ext cx="1" cy="15700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2FD346C-9ADF-FEE8-AA40-2B4AB3EAC4EC}"/>
              </a:ext>
            </a:extLst>
          </p:cNvPr>
          <p:cNvCxnSpPr>
            <a:cxnSpLocks/>
            <a:stCxn id="24" idx="2"/>
            <a:endCxn id="38" idx="0"/>
          </p:cNvCxnSpPr>
          <p:nvPr/>
        </p:nvCxnSpPr>
        <p:spPr>
          <a:xfrm flipH="1">
            <a:off x="4847687" y="3542463"/>
            <a:ext cx="1" cy="1570052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ounded Rectangle 8">
            <a:extLst>
              <a:ext uri="{FF2B5EF4-FFF2-40B4-BE49-F238E27FC236}">
                <a16:creationId xmlns:a16="http://schemas.microsoft.com/office/drawing/2014/main" id="{A73CE25B-3184-F088-77B1-F02D99682183}"/>
              </a:ext>
            </a:extLst>
          </p:cNvPr>
          <p:cNvSpPr/>
          <p:nvPr/>
        </p:nvSpPr>
        <p:spPr>
          <a:xfrm>
            <a:off x="21931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detection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1" name="Rounded Rectangle 8">
            <a:extLst>
              <a:ext uri="{FF2B5EF4-FFF2-40B4-BE49-F238E27FC236}">
                <a16:creationId xmlns:a16="http://schemas.microsoft.com/office/drawing/2014/main" id="{477AECF4-0D67-EBFE-9FB4-4334BA6070B3}"/>
              </a:ext>
            </a:extLst>
          </p:cNvPr>
          <p:cNvSpPr/>
          <p:nvPr/>
        </p:nvSpPr>
        <p:spPr>
          <a:xfrm>
            <a:off x="383494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BMD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estimation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3" name="Rounded Rectangle 8">
            <a:extLst>
              <a:ext uri="{FF2B5EF4-FFF2-40B4-BE49-F238E27FC236}">
                <a16:creationId xmlns:a16="http://schemas.microsoft.com/office/drawing/2014/main" id="{5D950148-CCD6-CEB9-6805-8FC5A4C6D77F}"/>
              </a:ext>
            </a:extLst>
          </p:cNvPr>
          <p:cNvSpPr/>
          <p:nvPr/>
        </p:nvSpPr>
        <p:spPr>
          <a:xfrm>
            <a:off x="3990150" y="4110290"/>
            <a:ext cx="1715074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Bone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density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FBF890C3-2EC6-CD57-AD16-0C3E7BE99D5F}"/>
              </a:ext>
            </a:extLst>
          </p:cNvPr>
          <p:cNvCxnSpPr>
            <a:cxnSpLocks/>
            <a:stCxn id="16" idx="2"/>
            <a:endCxn id="40" idx="0"/>
          </p:cNvCxnSpPr>
          <p:nvPr/>
        </p:nvCxnSpPr>
        <p:spPr>
          <a:xfrm rot="5400000">
            <a:off x="8350525" y="1608467"/>
            <a:ext cx="697256" cy="20504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E9D0F67E-A93B-1B64-4AEF-33A7CE02FA7F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7673912" y="3542463"/>
            <a:ext cx="1" cy="2106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ounded Rectangle 8">
            <a:extLst>
              <a:ext uri="{FF2B5EF4-FFF2-40B4-BE49-F238E27FC236}">
                <a16:creationId xmlns:a16="http://schemas.microsoft.com/office/drawing/2014/main" id="{F7BE255E-E6A8-3931-2040-A3EEB0B7FBF9}"/>
              </a:ext>
            </a:extLst>
          </p:cNvPr>
          <p:cNvSpPr/>
          <p:nvPr/>
        </p:nvSpPr>
        <p:spPr>
          <a:xfrm>
            <a:off x="6911584" y="3947435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Normal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977DF287-BBCA-5148-741D-8FB337F3803A}"/>
              </a:ext>
            </a:extLst>
          </p:cNvPr>
          <p:cNvSpPr/>
          <p:nvPr/>
        </p:nvSpPr>
        <p:spPr>
          <a:xfrm>
            <a:off x="6911584" y="4798249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Osteopenia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353D0D5-E55E-F669-FD57-3667A4C67765}"/>
              </a:ext>
            </a:extLst>
          </p:cNvPr>
          <p:cNvCxnSpPr>
            <a:cxnSpLocks/>
            <a:stCxn id="16" idx="2"/>
            <a:endCxn id="56" idx="0"/>
          </p:cNvCxnSpPr>
          <p:nvPr/>
        </p:nvCxnSpPr>
        <p:spPr>
          <a:xfrm rot="5400000">
            <a:off x="9321557" y="2579499"/>
            <a:ext cx="697256" cy="108419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1D358EC8-B3CC-34D5-40D6-14BB4711D868}"/>
              </a:ext>
            </a:extLst>
          </p:cNvPr>
          <p:cNvCxnSpPr>
            <a:cxnSpLocks/>
            <a:stCxn id="16" idx="2"/>
            <a:endCxn id="58" idx="0"/>
          </p:cNvCxnSpPr>
          <p:nvPr/>
        </p:nvCxnSpPr>
        <p:spPr>
          <a:xfrm rot="16200000" flipH="1">
            <a:off x="10143829" y="1865645"/>
            <a:ext cx="697256" cy="1536126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D7606-C9CE-CE65-B696-FBC9437A0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3BC2AA-498A-03D4-EEB2-B40F7A91999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60285-9BE3-80B7-A70F-D2B22A711208}"/>
              </a:ext>
            </a:extLst>
          </p:cNvPr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THE GOAL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95DF3-8E6F-C2F5-4246-477FDCE4FBA0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AI methodologies – three parts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00A0AC-BCB4-87EF-B57F-7D1BACDD942F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B93C89-580B-F397-6F99-6F81D948DA8C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4139D9-A39D-8B81-0E8D-E0E268AE945F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5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sp>
        <p:nvSpPr>
          <p:cNvPr id="18" name="Rounded Rectangle 5">
            <a:extLst>
              <a:ext uri="{FF2B5EF4-FFF2-40B4-BE49-F238E27FC236}">
                <a16:creationId xmlns:a16="http://schemas.microsoft.com/office/drawing/2014/main" id="{915FD1C4-603F-1849-95F8-C04874227BB3}"/>
              </a:ext>
            </a:extLst>
          </p:cNvPr>
          <p:cNvSpPr/>
          <p:nvPr/>
        </p:nvSpPr>
        <p:spPr>
          <a:xfrm>
            <a:off x="5217058" y="1563895"/>
            <a:ext cx="2262799" cy="560127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AI methodologies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8" name="Rounded Rectangle 8">
            <a:extLst>
              <a:ext uri="{FF2B5EF4-FFF2-40B4-BE49-F238E27FC236}">
                <a16:creationId xmlns:a16="http://schemas.microsoft.com/office/drawing/2014/main" id="{246792EA-91B5-6C87-C094-D4B71E2641FF}"/>
              </a:ext>
            </a:extLst>
          </p:cNvPr>
          <p:cNvSpPr/>
          <p:nvPr/>
        </p:nvSpPr>
        <p:spPr>
          <a:xfrm>
            <a:off x="2870892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CNN-based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B75773AC-ED31-C17B-B8F8-04CFC1160E65}"/>
              </a:ext>
            </a:extLst>
          </p:cNvPr>
          <p:cNvSpPr/>
          <p:nvPr/>
        </p:nvSpPr>
        <p:spPr>
          <a:xfrm>
            <a:off x="494334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Classical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Machine Learning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1EA1C87-F80F-E6CF-7E0B-01AB4CF1D0B7}"/>
              </a:ext>
            </a:extLst>
          </p:cNvPr>
          <p:cNvSpPr/>
          <p:nvPr/>
        </p:nvSpPr>
        <p:spPr>
          <a:xfrm>
            <a:off x="7669993" y="2779269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Transformer-based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A0C510E9-FD0F-5CFC-7E76-DB6812F78796}"/>
              </a:ext>
            </a:extLst>
          </p:cNvPr>
          <p:cNvSpPr/>
          <p:nvPr/>
        </p:nvSpPr>
        <p:spPr>
          <a:xfrm>
            <a:off x="10032718" y="2779270"/>
            <a:ext cx="1813606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Self-supervised</a:t>
            </a:r>
          </a:p>
          <a:p>
            <a:pPr algn="ctr"/>
            <a:r>
              <a:rPr lang="en-CA" dirty="0">
                <a:solidFill>
                  <a:schemeClr val="bg1">
                    <a:lumMod val="65000"/>
                  </a:schemeClr>
                </a:solidFill>
              </a:rPr>
              <a:t>learning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C1DAADFE-107A-11EE-EAC5-204EABB4C54A}"/>
              </a:ext>
            </a:extLst>
          </p:cNvPr>
          <p:cNvSpPr/>
          <p:nvPr/>
        </p:nvSpPr>
        <p:spPr>
          <a:xfrm>
            <a:off x="5350353" y="2779270"/>
            <a:ext cx="2003470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Explainable</a:t>
            </a:r>
            <a:br>
              <a:rPr lang="en-CA" dirty="0">
                <a:solidFill>
                  <a:schemeClr val="tx1"/>
                </a:solidFill>
              </a:rPr>
            </a:br>
            <a:r>
              <a:rPr lang="en-CA" dirty="0">
                <a:solidFill>
                  <a:schemeClr val="tx1"/>
                </a:solidFill>
              </a:rPr>
              <a:t>AI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925ACB6B-4D8C-E2A0-4696-E5D3160ADA6A}"/>
              </a:ext>
            </a:extLst>
          </p:cNvPr>
          <p:cNvSpPr/>
          <p:nvPr/>
        </p:nvSpPr>
        <p:spPr>
          <a:xfrm>
            <a:off x="5553007" y="4993066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Attention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heatmaps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9467F23B-C6B8-928B-1088-5BD6C995CCCC}"/>
              </a:ext>
            </a:extLst>
          </p:cNvPr>
          <p:cNvSpPr/>
          <p:nvPr/>
        </p:nvSpPr>
        <p:spPr>
          <a:xfrm>
            <a:off x="733741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GLCM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7DAF8124-4BCE-CC56-2ED0-245BF9EA0EC0}"/>
              </a:ext>
            </a:extLst>
          </p:cNvPr>
          <p:cNvCxnSpPr>
            <a:cxnSpLocks/>
            <a:stCxn id="18" idx="2"/>
            <a:endCxn id="7" idx="0"/>
          </p:cNvCxnSpPr>
          <p:nvPr/>
        </p:nvCxnSpPr>
        <p:spPr>
          <a:xfrm rot="5400000">
            <a:off x="3594640" y="25452"/>
            <a:ext cx="655248" cy="48523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6624FF99-5C5C-BBB9-F209-7639878FCC96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 rot="16200000" flipH="1">
            <a:off x="7182470" y="1290010"/>
            <a:ext cx="655247" cy="2323270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727660A-DDA1-B9FB-FC7B-B558FBA3513B}"/>
              </a:ext>
            </a:extLst>
          </p:cNvPr>
          <p:cNvCxnSpPr>
            <a:cxnSpLocks/>
            <a:stCxn id="7" idx="2"/>
            <a:endCxn id="29" idx="0"/>
          </p:cNvCxnSpPr>
          <p:nvPr/>
        </p:nvCxnSpPr>
        <p:spPr>
          <a:xfrm>
            <a:off x="1496069" y="3371000"/>
            <a:ext cx="1" cy="4374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D3BB8F0E-B283-3307-6ECE-A13BFD93D447}"/>
              </a:ext>
            </a:extLst>
          </p:cNvPr>
          <p:cNvCxnSpPr>
            <a:cxnSpLocks/>
            <a:stCxn id="18" idx="2"/>
            <a:endCxn id="13" idx="0"/>
          </p:cNvCxnSpPr>
          <p:nvPr/>
        </p:nvCxnSpPr>
        <p:spPr>
          <a:xfrm rot="16200000" flipH="1">
            <a:off x="8316365" y="156114"/>
            <a:ext cx="655248" cy="4591063"/>
          </a:xfrm>
          <a:prstGeom prst="bent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66C20CA9-6066-59AF-6478-B2036BD3D5F3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rot="5400000">
            <a:off x="4782919" y="1213731"/>
            <a:ext cx="655248" cy="24758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504E964F-98A0-A923-CF45-DD535FAA2E4D}"/>
              </a:ext>
            </a:extLst>
          </p:cNvPr>
          <p:cNvCxnSpPr>
            <a:cxnSpLocks/>
            <a:stCxn id="18" idx="2"/>
            <a:endCxn id="17" idx="0"/>
          </p:cNvCxnSpPr>
          <p:nvPr/>
        </p:nvCxnSpPr>
        <p:spPr>
          <a:xfrm rot="16200000" flipH="1">
            <a:off x="6022649" y="2449831"/>
            <a:ext cx="655248" cy="36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F542623-E938-2DE9-FC60-E3A5297BAF4F}"/>
              </a:ext>
            </a:extLst>
          </p:cNvPr>
          <p:cNvCxnSpPr>
            <a:cxnSpLocks/>
            <a:stCxn id="48" idx="2"/>
            <a:endCxn id="112" idx="0"/>
          </p:cNvCxnSpPr>
          <p:nvPr/>
        </p:nvCxnSpPr>
        <p:spPr>
          <a:xfrm>
            <a:off x="3872627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BAB679E-C54A-B9F0-19F1-7A65BA7ED294}"/>
              </a:ext>
            </a:extLst>
          </p:cNvPr>
          <p:cNvCxnSpPr>
            <a:cxnSpLocks/>
            <a:stCxn id="17" idx="2"/>
            <a:endCxn id="25" idx="0"/>
          </p:cNvCxnSpPr>
          <p:nvPr/>
        </p:nvCxnSpPr>
        <p:spPr>
          <a:xfrm>
            <a:off x="6352088" y="3371000"/>
            <a:ext cx="0" cy="162206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ounded Rectangle 8">
            <a:extLst>
              <a:ext uri="{FF2B5EF4-FFF2-40B4-BE49-F238E27FC236}">
                <a16:creationId xmlns:a16="http://schemas.microsoft.com/office/drawing/2014/main" id="{769C4640-24F7-C263-91FF-C798E032023F}"/>
              </a:ext>
            </a:extLst>
          </p:cNvPr>
          <p:cNvSpPr/>
          <p:nvPr/>
        </p:nvSpPr>
        <p:spPr>
          <a:xfrm>
            <a:off x="3110299" y="3808493"/>
            <a:ext cx="1524657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YOLO26-seg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805133F9-CE7F-D351-8D7B-84C1148B497A}"/>
              </a:ext>
            </a:extLst>
          </p:cNvPr>
          <p:cNvSpPr/>
          <p:nvPr/>
        </p:nvSpPr>
        <p:spPr>
          <a:xfrm>
            <a:off x="5553007" y="3808493"/>
            <a:ext cx="1598162" cy="560127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>
                <a:solidFill>
                  <a:schemeClr val="tx1"/>
                </a:solidFill>
              </a:rPr>
              <a:t>Seg-Grad-Cam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4568D0E-F7A1-C347-A640-CFA5754A129A}"/>
              </a:ext>
            </a:extLst>
          </p:cNvPr>
          <p:cNvSpPr txBox="1"/>
          <p:nvPr/>
        </p:nvSpPr>
        <p:spPr>
          <a:xfrm>
            <a:off x="426381" y="4420239"/>
            <a:ext cx="21393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(Feature Extraction)</a:t>
            </a:r>
          </a:p>
        </p:txBody>
      </p:sp>
      <p:sp>
        <p:nvSpPr>
          <p:cNvPr id="112" name="Rounded Rectangle 8">
            <a:extLst>
              <a:ext uri="{FF2B5EF4-FFF2-40B4-BE49-F238E27FC236}">
                <a16:creationId xmlns:a16="http://schemas.microsoft.com/office/drawing/2014/main" id="{44494DB6-2E03-6032-4D91-CE9D7D27A627}"/>
              </a:ext>
            </a:extLst>
          </p:cNvPr>
          <p:cNvSpPr/>
          <p:nvPr/>
        </p:nvSpPr>
        <p:spPr>
          <a:xfrm>
            <a:off x="3172771" y="4993066"/>
            <a:ext cx="1399712" cy="591730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/>
                </a:solidFill>
              </a:rPr>
              <a:t>ONNX</a:t>
            </a:r>
          </a:p>
          <a:p>
            <a:pPr algn="ctr"/>
            <a:r>
              <a:rPr lang="en-CA" dirty="0">
                <a:solidFill>
                  <a:schemeClr val="tx1"/>
                </a:solidFill>
              </a:rPr>
              <a:t>Web export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BA8A915-1F49-3EC7-1DE9-7ECBCE7A6DE6}"/>
              </a:ext>
            </a:extLst>
          </p:cNvPr>
          <p:cNvSpPr txBox="1"/>
          <p:nvPr/>
        </p:nvSpPr>
        <p:spPr>
          <a:xfrm>
            <a:off x="2904989" y="4420239"/>
            <a:ext cx="1935277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CA" dirty="0"/>
              <a:t>(L4 vertebral split)</a:t>
            </a:r>
          </a:p>
        </p:txBody>
      </p:sp>
    </p:spTree>
    <p:extLst>
      <p:ext uri="{BB962C8B-B14F-4D97-AF65-F5344CB8AC3E}">
        <p14:creationId xmlns:p14="http://schemas.microsoft.com/office/powerpoint/2010/main" val="1677496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6857A-B619-5A75-14E8-ABDE63D2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A5EBFCDC-858E-F920-7B7B-1D31C2EF9944}"/>
              </a:ext>
            </a:extLst>
          </p:cNvPr>
          <p:cNvSpPr/>
          <p:nvPr/>
        </p:nvSpPr>
        <p:spPr>
          <a:xfrm>
            <a:off x="392993" y="4156038"/>
            <a:ext cx="4914113" cy="1821906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F3768AB3-DF58-F846-89B0-BEE129D1BF46}"/>
              </a:ext>
            </a:extLst>
          </p:cNvPr>
          <p:cNvSpPr/>
          <p:nvPr/>
        </p:nvSpPr>
        <p:spPr>
          <a:xfrm>
            <a:off x="392993" y="1939681"/>
            <a:ext cx="4914113" cy="1821906"/>
          </a:xfrm>
          <a:prstGeom prst="roundRect">
            <a:avLst>
              <a:gd name="adj" fmla="val 4000"/>
            </a:avLst>
          </a:prstGeom>
          <a:solidFill>
            <a:srgbClr val="E7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3F39BA45-91E0-E2BA-907E-CC2EF357EBFF}"/>
              </a:ext>
            </a:extLst>
          </p:cNvPr>
          <p:cNvSpPr/>
          <p:nvPr/>
        </p:nvSpPr>
        <p:spPr>
          <a:xfrm>
            <a:off x="6298493" y="1939680"/>
            <a:ext cx="5387341" cy="1998621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E59281-E9D1-F7E4-0888-327535842B3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1C82D-D77F-C7AC-CDAB-ECF1CB8D9D4D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CA" sz="1200" b="1" dirty="0">
                <a:solidFill>
                  <a:srgbClr val="00838F"/>
                </a:solidFill>
              </a:rPr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430844-A6AB-B269-80C1-5EDABE0D44CD}"/>
              </a:ext>
            </a:extLst>
          </p:cNvPr>
          <p:cNvSpPr txBox="1"/>
          <p:nvPr/>
        </p:nvSpPr>
        <p:spPr>
          <a:xfrm>
            <a:off x="548640" y="566928"/>
            <a:ext cx="11064240" cy="4667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400"/>
              </a:spcAft>
            </a:pPr>
            <a:r>
              <a:rPr lang="it-IT" sz="2700" b="1" dirty="0">
                <a:solidFill>
                  <a:srgbClr val="1B324F"/>
                </a:solidFill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31D27E-692A-CE68-67FB-83BF96BDEB7E}"/>
              </a:ext>
            </a:extLst>
          </p:cNvPr>
          <p:cNvSpPr/>
          <p:nvPr/>
        </p:nvSpPr>
        <p:spPr>
          <a:xfrm>
            <a:off x="1935649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30B10-4E47-B7FB-DE86-2B04C2E9CB34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A4EFE2-7337-52C4-9B14-EAC6A9F5EBA3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/>
              <a:t>6/15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F96099-8F45-A7E6-547E-258428473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88" y="2456656"/>
            <a:ext cx="4742322" cy="1112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5A6D43-64F4-9A02-D9B4-541789CC6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23" y="4685693"/>
            <a:ext cx="4708252" cy="110533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733492A-542B-3825-ACF8-DAA1E8319A4D}"/>
              </a:ext>
            </a:extLst>
          </p:cNvPr>
          <p:cNvSpPr txBox="1"/>
          <p:nvPr/>
        </p:nvSpPr>
        <p:spPr>
          <a:xfrm>
            <a:off x="392994" y="2014679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2000(train 1700/</a:t>
            </a:r>
            <a:r>
              <a:rPr lang="en-CA" sz="2400" b="1" i="0" dirty="0" err="1">
                <a:solidFill>
                  <a:srgbClr val="2E7D32"/>
                </a:solidFill>
                <a:latin typeface="Calibri"/>
              </a:rPr>
              <a:t>val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 300)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2FF575-AFE9-DCED-C144-A47B5AB53F91}"/>
              </a:ext>
            </a:extLst>
          </p:cNvPr>
          <p:cNvSpPr txBox="1"/>
          <p:nvPr/>
        </p:nvSpPr>
        <p:spPr>
          <a:xfrm>
            <a:off x="3929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dirty="0">
                <a:solidFill>
                  <a:srgbClr val="2E7D32"/>
                </a:solidFill>
              </a:rPr>
              <a:t>2000(train 1700/</a:t>
            </a:r>
            <a:r>
              <a:rPr lang="en-CA" sz="2400" b="1" dirty="0" err="1">
                <a:solidFill>
                  <a:srgbClr val="2E7D32"/>
                </a:solidFill>
              </a:rPr>
              <a:t>val</a:t>
            </a:r>
            <a:r>
              <a:rPr lang="en-CA" sz="2400" b="1" dirty="0">
                <a:solidFill>
                  <a:srgbClr val="2E7D32"/>
                </a:solidFill>
              </a:rPr>
              <a:t> 300) </a:t>
            </a: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LA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494F79A-2B3F-F672-D6DC-535B518A7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534" y="2510306"/>
            <a:ext cx="5037258" cy="109526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64476E4-1A1E-CF91-FFE6-ADB393BED59F}"/>
              </a:ext>
            </a:extLst>
          </p:cNvPr>
          <p:cNvSpPr/>
          <p:nvPr/>
        </p:nvSpPr>
        <p:spPr>
          <a:xfrm>
            <a:off x="1295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Training/Validation Dataset (BUU dataset)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2070FF-6F99-1D10-F51D-2DF25D72E1CA}"/>
              </a:ext>
            </a:extLst>
          </p:cNvPr>
          <p:cNvSpPr txBox="1"/>
          <p:nvPr/>
        </p:nvSpPr>
        <p:spPr>
          <a:xfrm>
            <a:off x="6659662" y="2014679"/>
            <a:ext cx="466500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 i="0" dirty="0">
                <a:solidFill>
                  <a:srgbClr val="2E7D32"/>
                </a:solidFill>
                <a:latin typeface="Calibri"/>
              </a:rPr>
              <a:t>42 AP Dataset</a:t>
            </a:r>
            <a:endParaRPr sz="2400" b="1" i="0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971F01-33E7-8EE7-1013-5D8CA4EB7C8D}"/>
              </a:ext>
            </a:extLst>
          </p:cNvPr>
          <p:cNvSpPr/>
          <p:nvPr/>
        </p:nvSpPr>
        <p:spPr>
          <a:xfrm>
            <a:off x="6111240" y="1379220"/>
            <a:ext cx="5761846" cy="4911852"/>
          </a:xfrm>
          <a:prstGeom prst="rect">
            <a:avLst/>
          </a:prstGeom>
          <a:noFill/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CA" sz="2400" dirty="0">
                <a:solidFill>
                  <a:schemeClr val="tx1"/>
                </a:solidFill>
              </a:rPr>
              <a:t>Test Dataset (DICOM dataset)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1D4AE2C7-4149-87C5-B50D-F12D6B707C1E}"/>
              </a:ext>
            </a:extLst>
          </p:cNvPr>
          <p:cNvSpPr/>
          <p:nvPr/>
        </p:nvSpPr>
        <p:spPr>
          <a:xfrm>
            <a:off x="6298493" y="4156965"/>
            <a:ext cx="5387341" cy="1819679"/>
          </a:xfrm>
          <a:prstGeom prst="roundRect">
            <a:avLst>
              <a:gd name="adj" fmla="val 4000"/>
            </a:avLst>
          </a:prstGeom>
          <a:solidFill>
            <a:srgbClr val="F7E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D50C7-3C6E-2A38-0AE2-7E783D518027}"/>
              </a:ext>
            </a:extLst>
          </p:cNvPr>
          <p:cNvSpPr txBox="1"/>
          <p:nvPr/>
        </p:nvSpPr>
        <p:spPr>
          <a:xfrm>
            <a:off x="6374694" y="4264837"/>
            <a:ext cx="5234938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lang="en-CA" sz="2400" b="1">
                <a:solidFill>
                  <a:srgbClr val="2E7D32"/>
                </a:solidFill>
                <a:latin typeface="Calibri"/>
              </a:rPr>
              <a:t>175</a:t>
            </a:r>
            <a:r>
              <a:rPr lang="en-CA" sz="2400" b="1" i="0">
                <a:solidFill>
                  <a:srgbClr val="2E7D32"/>
                </a:solidFill>
                <a:latin typeface="Calibri"/>
              </a:rPr>
              <a:t> LA Dataset</a:t>
            </a:r>
            <a:endParaRPr sz="2400" b="1" i="0">
              <a:solidFill>
                <a:srgbClr val="2E7D32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994C18C-7328-5844-D92C-7B635DDC34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1957" y="4595251"/>
            <a:ext cx="5039286" cy="126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6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STEP </a:t>
            </a: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1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Finding the L4 vertebra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54140" y="1845644"/>
            <a:ext cx="5570220" cy="148540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700" b="1" i="0" dirty="0">
                <a:solidFill>
                  <a:srgbClr val="1B324F"/>
                </a:solidFill>
                <a:latin typeface="Calibri"/>
              </a:rPr>
              <a:t>AI segmentation (</a:t>
            </a:r>
            <a:r>
              <a:rPr sz="1700" b="1" i="0" dirty="0" err="1">
                <a:solidFill>
                  <a:srgbClr val="1B324F"/>
                </a:solidFill>
                <a:latin typeface="Calibri"/>
              </a:rPr>
              <a:t>YOLOv</a:t>
            </a:r>
            <a:r>
              <a:rPr lang="en-CA" sz="1700" b="1" i="0" dirty="0">
                <a:solidFill>
                  <a:srgbClr val="1B324F"/>
                </a:solidFill>
                <a:latin typeface="Calibri"/>
              </a:rPr>
              <a:t>26</a:t>
            </a:r>
            <a:r>
              <a:rPr sz="1700" b="1" i="0" dirty="0">
                <a:solidFill>
                  <a:srgbClr val="1B324F"/>
                </a:solidFill>
                <a:latin typeface="Calibri"/>
              </a:rPr>
              <a:t>-seg)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It outlines each vertebra L1-L5 as a separate object.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L4 is selected by its label, with a 4th-from-top backup rule.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Output: a clean L4 outline at full image resolution.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 dirty="0">
                <a:solidFill>
                  <a:srgbClr val="00838F"/>
                </a:solidFill>
                <a:latin typeface="Calibri"/>
              </a:rPr>
              <a:t>Blue = all vertebrae   ·   Green = selected L4</a:t>
            </a:r>
          </a:p>
        </p:txBody>
      </p:sp>
      <p:pic>
        <p:nvPicPr>
          <p:cNvPr id="7" name="Picture 6" descr="detec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897" y="4228629"/>
            <a:ext cx="5716463" cy="180868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7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8428F4F-D8CE-58B8-17A9-1F9644CB2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75" y="3710312"/>
            <a:ext cx="5880160" cy="23628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2D2D6F-4131-3187-E847-DF903B5B8A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" y="1551432"/>
            <a:ext cx="6027020" cy="21979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The detector is accurate (in-domain)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1EDAF8-575E-AA11-3F27-0F0E32BCE8D4}"/>
              </a:ext>
            </a:extLst>
          </p:cNvPr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DA94C99E-4399-8024-B87E-17223C506A2C}"/>
              </a:ext>
            </a:extLst>
          </p:cNvPr>
          <p:cNvSpPr/>
          <p:nvPr/>
        </p:nvSpPr>
        <p:spPr>
          <a:xfrm>
            <a:off x="686264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1F9C079-7CB2-B140-DF4A-0F84DFCA6959}"/>
              </a:ext>
            </a:extLst>
          </p:cNvPr>
          <p:cNvSpPr txBox="1"/>
          <p:nvPr/>
        </p:nvSpPr>
        <p:spPr>
          <a:xfrm>
            <a:off x="686264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00838F"/>
                </a:solidFill>
                <a:latin typeface="Calibri"/>
              </a:rPr>
              <a:t>0.97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0BD102-9893-1C55-6A0F-60F5F411FC74}"/>
              </a:ext>
            </a:extLst>
          </p:cNvPr>
          <p:cNvSpPr txBox="1"/>
          <p:nvPr/>
        </p:nvSpPr>
        <p:spPr>
          <a:xfrm>
            <a:off x="686264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Mask mAP@50</a:t>
            </a:r>
          </a:p>
        </p:txBody>
      </p:sp>
      <p:sp>
        <p:nvSpPr>
          <p:cNvPr id="29" name="Rounded Rectangle 8">
            <a:extLst>
              <a:ext uri="{FF2B5EF4-FFF2-40B4-BE49-F238E27FC236}">
                <a16:creationId xmlns:a16="http://schemas.microsoft.com/office/drawing/2014/main" id="{F8978C5B-F027-2226-87A8-25408C7B83AC}"/>
              </a:ext>
            </a:extLst>
          </p:cNvPr>
          <p:cNvSpPr/>
          <p:nvPr/>
        </p:nvSpPr>
        <p:spPr>
          <a:xfrm>
            <a:off x="2107218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65B874-DFE7-C7EF-532B-3DA54D524D8A}"/>
              </a:ext>
            </a:extLst>
          </p:cNvPr>
          <p:cNvSpPr txBox="1"/>
          <p:nvPr/>
        </p:nvSpPr>
        <p:spPr>
          <a:xfrm>
            <a:off x="2107218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E4EEE8-73ED-2247-7F7C-8B19D6A1995E}"/>
              </a:ext>
            </a:extLst>
          </p:cNvPr>
          <p:cNvSpPr txBox="1"/>
          <p:nvPr/>
        </p:nvSpPr>
        <p:spPr>
          <a:xfrm>
            <a:off x="2107218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Precision</a:t>
            </a:r>
          </a:p>
        </p:txBody>
      </p:sp>
      <p:sp>
        <p:nvSpPr>
          <p:cNvPr id="32" name="Rounded Rectangle 11">
            <a:extLst>
              <a:ext uri="{FF2B5EF4-FFF2-40B4-BE49-F238E27FC236}">
                <a16:creationId xmlns:a16="http://schemas.microsoft.com/office/drawing/2014/main" id="{1DE38830-82C5-D003-75D7-84CEF8A9C3B0}"/>
              </a:ext>
            </a:extLst>
          </p:cNvPr>
          <p:cNvSpPr/>
          <p:nvPr/>
        </p:nvSpPr>
        <p:spPr>
          <a:xfrm>
            <a:off x="3510061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D6CBFA-D09E-649B-2394-ACF6D4A519F3}"/>
              </a:ext>
            </a:extLst>
          </p:cNvPr>
          <p:cNvSpPr txBox="1"/>
          <p:nvPr/>
        </p:nvSpPr>
        <p:spPr>
          <a:xfrm>
            <a:off x="3510061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B324F"/>
                </a:solidFill>
                <a:latin typeface="Calibri"/>
              </a:rPr>
              <a:t>0.96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F1E4E7-2113-3458-3DC1-282553E81EEB}"/>
              </a:ext>
            </a:extLst>
          </p:cNvPr>
          <p:cNvSpPr txBox="1"/>
          <p:nvPr/>
        </p:nvSpPr>
        <p:spPr>
          <a:xfrm>
            <a:off x="3510061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Recall</a:t>
            </a:r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FDB99AF4-C680-5465-DD2F-C060C0E3C860}"/>
              </a:ext>
            </a:extLst>
          </p:cNvPr>
          <p:cNvSpPr/>
          <p:nvPr/>
        </p:nvSpPr>
        <p:spPr>
          <a:xfrm>
            <a:off x="4903845" y="1554480"/>
            <a:ext cx="1324952" cy="1371600"/>
          </a:xfrm>
          <a:prstGeom prst="roundRect">
            <a:avLst>
              <a:gd name="adj" fmla="val 4000"/>
            </a:avLst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CA2C02-9A9E-4568-FD27-9FC29FE61B38}"/>
              </a:ext>
            </a:extLst>
          </p:cNvPr>
          <p:cNvSpPr txBox="1"/>
          <p:nvPr/>
        </p:nvSpPr>
        <p:spPr>
          <a:xfrm>
            <a:off x="4903845" y="1737360"/>
            <a:ext cx="1324952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5A646E"/>
                </a:solidFill>
                <a:latin typeface="Calibri"/>
              </a:rPr>
              <a:t>0.76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0B5845-449C-E159-C2E6-68C3A5415B68}"/>
              </a:ext>
            </a:extLst>
          </p:cNvPr>
          <p:cNvSpPr txBox="1"/>
          <p:nvPr/>
        </p:nvSpPr>
        <p:spPr>
          <a:xfrm>
            <a:off x="4903845" y="2423160"/>
            <a:ext cx="132495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Calibri"/>
              </a:rPr>
              <a:t>mAP@50-95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E6F6AE-1267-AF02-C7D0-DAC7FAE2ADDE}"/>
              </a:ext>
            </a:extLst>
          </p:cNvPr>
          <p:cNvSpPr txBox="1"/>
          <p:nvPr/>
        </p:nvSpPr>
        <p:spPr>
          <a:xfrm>
            <a:off x="360127" y="2926080"/>
            <a:ext cx="6142274" cy="136556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500" b="0" i="0">
                <a:solidFill>
                  <a:srgbClr val="222A33"/>
                </a:solidFill>
                <a:latin typeface="Calibri"/>
              </a:rPr>
              <a:t>On held-out validation X-rays, the model finds and outlines vertebrae very reliably.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>
                <a:solidFill>
                  <a:srgbClr val="5A646E"/>
                </a:solidFill>
                <a:latin typeface="Calibri"/>
              </a:rPr>
              <a:t>mAP@50 = 0.97 means near-complete agreement with the human labels at a standard overlap threshold.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 i="0">
                <a:solidFill>
                  <a:srgbClr val="00838F"/>
                </a:solidFill>
                <a:latin typeface="Calibri"/>
              </a:rPr>
              <a:t>Right: model predictions on a validation batch.</a:t>
            </a:r>
          </a:p>
        </p:txBody>
      </p:sp>
      <p:pic>
        <p:nvPicPr>
          <p:cNvPr id="39" name="Picture 38" descr="val_batch0_pred.jpg">
            <a:extLst>
              <a:ext uri="{FF2B5EF4-FFF2-40B4-BE49-F238E27FC236}">
                <a16:creationId xmlns:a16="http://schemas.microsoft.com/office/drawing/2014/main" id="{E145BE25-F0D7-3D3F-A4B4-ED0B52B47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926" y="1166600"/>
            <a:ext cx="5329473" cy="532947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1B03349-CF95-C357-29D3-DE8D81304915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>
                <a:solidFill>
                  <a:srgbClr val="5A646E"/>
                </a:solidFill>
                <a:latin typeface="Calibri"/>
              </a:rPr>
              <a:t>13/18</a:t>
            </a:r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79B5A2E-1375-C333-E0C6-5E3C3F173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241" y="1202947"/>
            <a:ext cx="6925946" cy="52619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AE993A88-561C-BF1F-ABFB-D8236AF7300C}"/>
              </a:ext>
            </a:extLst>
          </p:cNvPr>
          <p:cNvGrpSpPr/>
          <p:nvPr/>
        </p:nvGrpSpPr>
        <p:grpSpPr>
          <a:xfrm>
            <a:off x="183266" y="1215670"/>
            <a:ext cx="11834779" cy="5316251"/>
            <a:chOff x="686264" y="1940251"/>
            <a:chExt cx="10600148" cy="358005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9AB755E-94DD-B818-F4D2-B6082AE56F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55833"/>
            <a:stretch>
              <a:fillRect/>
            </a:stretch>
          </p:blipFill>
          <p:spPr>
            <a:xfrm>
              <a:off x="686264" y="1940251"/>
              <a:ext cx="5270675" cy="358005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81014CE-FF02-4E78-54C9-BF57ECCF7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5340"/>
            <a:stretch>
              <a:fillRect/>
            </a:stretch>
          </p:blipFill>
          <p:spPr>
            <a:xfrm>
              <a:off x="5956939" y="1940251"/>
              <a:ext cx="5329473" cy="358005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00838F"/>
                </a:solidFill>
                <a:latin typeface="Calibri"/>
              </a:rPr>
              <a:t>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 dirty="0">
                <a:solidFill>
                  <a:srgbClr val="1B324F"/>
                </a:solidFill>
                <a:latin typeface="Calibri"/>
              </a:rPr>
              <a:t>Can we trust where the AI looks?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xai_gradc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806436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645920"/>
            <a:ext cx="3840480" cy="296651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600" b="1" i="0" dirty="0">
                <a:solidFill>
                  <a:srgbClr val="1B324F"/>
                </a:solidFill>
                <a:latin typeface="Calibri"/>
              </a:rPr>
              <a:t>Grad-CAM (gradient-based)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 i="0" dirty="0">
                <a:solidFill>
                  <a:srgbClr val="222A33"/>
                </a:solidFill>
                <a:latin typeface="Calibri"/>
              </a:rPr>
              <a:t>A heatmap of the pixels the model used to decide 'this is L4'.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1" i="0" dirty="0">
                <a:solidFill>
                  <a:srgbClr val="C43A35"/>
                </a:solidFill>
                <a:latin typeface="Calibri"/>
              </a:rPr>
              <a:t>Red / warm = most important.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1" i="0" dirty="0">
              <a:solidFill>
                <a:srgbClr val="C43A35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222A33"/>
                </a:solidFill>
                <a:latin typeface="Calibri"/>
              </a:rPr>
              <a:t>The attention lands on the L4 body and its internal bone structure — not on background, implants, or soft tissue.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endParaRPr sz="1350" b="0" i="1" dirty="0">
              <a:solidFill>
                <a:srgbClr val="222A33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50" b="0" i="1" dirty="0">
                <a:solidFill>
                  <a:srgbClr val="5A646E"/>
                </a:solidFill>
                <a:latin typeface="Calibri"/>
              </a:rPr>
              <a:t>Why it matters: a clinician can verify the AI is reading the right anatomy before trusting the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lang="en-CA" sz="900" b="0" i="0" dirty="0">
                <a:solidFill>
                  <a:srgbClr val="5A646E"/>
                </a:solidFill>
                <a:latin typeface="Calibri"/>
              </a:rPr>
              <a:t>9</a:t>
            </a:r>
            <a:r>
              <a:rPr lang="en-CA" sz="900" dirty="0"/>
              <a:t>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 dirty="0">
                <a:solidFill>
                  <a:srgbClr val="00838F"/>
                </a:solidFill>
                <a:latin typeface="Calibri"/>
              </a:rPr>
              <a:t>STEP </a:t>
            </a: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2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700" b="1" i="0">
                <a:solidFill>
                  <a:srgbClr val="1B324F"/>
                </a:solidFill>
                <a:latin typeface="Calibri"/>
              </a:rPr>
              <a:t>Measuring bone on L4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828800" cy="38100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201942" cy="354802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sz="2400" b="1" dirty="0">
                <a:solidFill>
                  <a:srgbClr val="1B324F"/>
                </a:solidFill>
              </a:rPr>
              <a:t>Bone density measurement procedure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dirty="0">
                <a:solidFill>
                  <a:srgbClr val="222A33"/>
                </a:solidFill>
              </a:rPr>
              <a:t>1. Extract Trabecular Bone ROI - Remove cortical bone and endplates (top and bottom surfaces) to leave only cancellous bone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dirty="0">
                <a:solidFill>
                  <a:srgbClr val="222A33"/>
                </a:solidFill>
              </a:rPr>
              <a:t>2. Attenuation Domain Transformation - Since pixel values ​​are not density, the calculation is based on light attenuation and soft tissue.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dirty="0">
                <a:solidFill>
                  <a:srgbClr val="222A33"/>
                </a:solidFill>
              </a:rPr>
              <a:t>4. BAR( Bone Attenuation Ratio ) calculation -  BAR  =  (</a:t>
            </a:r>
            <a:r>
              <a:rPr lang="en-CA" dirty="0" err="1">
                <a:solidFill>
                  <a:srgbClr val="222A33"/>
                </a:solidFill>
              </a:rPr>
              <a:t>A_trabecular</a:t>
            </a:r>
            <a:r>
              <a:rPr lang="en-CA" dirty="0">
                <a:solidFill>
                  <a:srgbClr val="222A33"/>
                </a:solidFill>
              </a:rPr>
              <a:t>  − </a:t>
            </a:r>
            <a:r>
              <a:rPr lang="en-CA" dirty="0" err="1">
                <a:solidFill>
                  <a:srgbClr val="222A33"/>
                </a:solidFill>
              </a:rPr>
              <a:t>A_soft_tissue</a:t>
            </a:r>
            <a:r>
              <a:rPr lang="en-CA" dirty="0">
                <a:solidFill>
                  <a:srgbClr val="222A33"/>
                </a:solidFill>
              </a:rPr>
              <a:t>) / (</a:t>
            </a:r>
            <a:r>
              <a:rPr lang="en-CA" dirty="0" err="1">
                <a:solidFill>
                  <a:srgbClr val="222A33"/>
                </a:solidFill>
              </a:rPr>
              <a:t>A_soft_tissue</a:t>
            </a:r>
            <a:r>
              <a:rPr lang="en-CA" dirty="0">
                <a:solidFill>
                  <a:srgbClr val="222A33"/>
                </a:solidFill>
              </a:rPr>
              <a:t> − </a:t>
            </a:r>
            <a:r>
              <a:rPr lang="en-CA" dirty="0" err="1">
                <a:solidFill>
                  <a:srgbClr val="222A33"/>
                </a:solidFill>
              </a:rPr>
              <a:t>A_air</a:t>
            </a:r>
            <a:r>
              <a:rPr lang="en-CA" dirty="0">
                <a:solidFill>
                  <a:srgbClr val="222A33"/>
                </a:solidFill>
              </a:rPr>
              <a:t>)</a:t>
            </a:r>
            <a:endParaRPr lang="en-CA" dirty="0">
              <a:solidFill>
                <a:srgbClr val="222A33"/>
              </a:solidFill>
              <a:ea typeface="Calibri"/>
              <a:cs typeface="Calibr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dirty="0">
                <a:solidFill>
                  <a:srgbClr val="222A33"/>
                </a:solidFill>
              </a:rPr>
              <a:t>5. Micro structure - GLCM 5, Variation slope , fractal dimension</a:t>
            </a:r>
            <a:endParaRPr lang="en-CA" dirty="0">
              <a:solidFill>
                <a:srgbClr val="222A33"/>
              </a:solidFill>
              <a:ea typeface="Calibri"/>
              <a:cs typeface="Calibri"/>
            </a:endParaRP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dirty="0">
                <a:solidFill>
                  <a:srgbClr val="222A33"/>
                </a:solidFill>
              </a:rPr>
              <a:t>6. QC (Quality Control) Gate = Checkpoint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CA" dirty="0">
                <a:solidFill>
                  <a:srgbClr val="222A33"/>
                </a:solidFill>
              </a:rPr>
              <a:t>7. We’ll measure the BAR value of The L4 bone density.</a:t>
            </a:r>
            <a:endParaRPr lang="en-CA" b="1" dirty="0">
              <a:solidFill>
                <a:srgbClr val="00838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dirty="0">
                <a:solidFill>
                  <a:srgbClr val="5A646E"/>
                </a:solidFill>
                <a:latin typeface="Calibri"/>
              </a:rPr>
              <a:t>10</a:t>
            </a:r>
            <a:r>
              <a:rPr lang="en-CA" sz="900" dirty="0"/>
              <a:t>/15</a:t>
            </a:r>
            <a:endParaRPr sz="900" b="0" i="0" dirty="0">
              <a:solidFill>
                <a:srgbClr val="5A646E"/>
              </a:solidFill>
              <a:latin typeface="Calibri"/>
            </a:endParaRPr>
          </a:p>
        </p:txBody>
      </p:sp>
      <p:pic>
        <p:nvPicPr>
          <p:cNvPr id="17" name="Picture 16" descr="c22_0.png">
            <a:extLst>
              <a:ext uri="{FF2B5EF4-FFF2-40B4-BE49-F238E27FC236}">
                <a16:creationId xmlns:a16="http://schemas.microsoft.com/office/drawing/2014/main" id="{FA7527DD-EF34-D585-66E2-1DB01845DA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0165" y="2477291"/>
            <a:ext cx="9753600" cy="3114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08B34C84-D465-91A5-B07E-58F9F7A15BCB}"/>
              </a:ext>
            </a:extLst>
          </p:cNvPr>
          <p:cNvSpPr/>
          <p:nvPr/>
        </p:nvSpPr>
        <p:spPr>
          <a:xfrm>
            <a:off x="3668037" y="3784708"/>
            <a:ext cx="978407" cy="4846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2EE341B-202E-46C0-0F4F-A9529F29334B}"/>
              </a:ext>
            </a:extLst>
          </p:cNvPr>
          <p:cNvSpPr/>
          <p:nvPr/>
        </p:nvSpPr>
        <p:spPr>
          <a:xfrm>
            <a:off x="7063278" y="3784707"/>
            <a:ext cx="476837" cy="48463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ir and soft-tissue reference regions used for this BAR, with the calculation shown">
            <a:extLst>
              <a:ext uri="{FF2B5EF4-FFF2-40B4-BE49-F238E27FC236}">
                <a16:creationId xmlns:a16="http://schemas.microsoft.com/office/drawing/2014/main" id="{0EA5EBC7-160D-7E0B-C82A-40FEF7FA2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532" y="663594"/>
            <a:ext cx="5290456" cy="60663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animBg="1"/>
      <p:bldP spid="2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5E42-36D3-C4F6-BC30-341ABE80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28C1E3-E1A7-10EC-7849-0B66A4C0170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1FBCD4-CC43-5185-5C8E-E5A591B5577B}"/>
              </a:ext>
            </a:extLst>
          </p:cNvPr>
          <p:cNvSpPr txBox="1"/>
          <p:nvPr/>
        </p:nvSpPr>
        <p:spPr>
          <a:xfrm>
            <a:off x="548640" y="320040"/>
            <a:ext cx="105156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lang="en-CA" sz="1200" b="1" i="0" dirty="0">
                <a:solidFill>
                  <a:srgbClr val="00838F"/>
                </a:solidFill>
                <a:latin typeface="Calibri"/>
              </a:rPr>
              <a:t>Sample Application Description version</a:t>
            </a:r>
            <a:endParaRPr sz="1200" b="1" i="0" dirty="0">
              <a:solidFill>
                <a:srgbClr val="00838F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C949DD-DF1A-CE25-8F5E-43840AB0EC2A}"/>
              </a:ext>
            </a:extLst>
          </p:cNvPr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L4 Spinal Bone Measurement  ·  Data Analytics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5D938-2FAA-BDEF-67AB-3499DEAFA859}"/>
              </a:ext>
            </a:extLst>
          </p:cNvPr>
          <p:cNvSpPr txBox="1"/>
          <p:nvPr/>
        </p:nvSpPr>
        <p:spPr>
          <a:xfrm>
            <a:off x="10164126" y="6455664"/>
            <a:ext cx="100584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5A646E"/>
                </a:solidFill>
                <a:latin typeface="Calibri"/>
              </a:rPr>
              <a:t>10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8C13A6-536D-CABC-EAAB-AE72BCF5E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46" y="598864"/>
            <a:ext cx="10671810" cy="620232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8B3D23D-919D-D5C3-4229-EB8D083971B7}"/>
              </a:ext>
            </a:extLst>
          </p:cNvPr>
          <p:cNvSpPr/>
          <p:nvPr/>
        </p:nvSpPr>
        <p:spPr>
          <a:xfrm>
            <a:off x="684846" y="711450"/>
            <a:ext cx="1572578" cy="304616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Patients Area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ECEA96-F7F0-154E-F070-E4EF13B22B29}"/>
              </a:ext>
            </a:extLst>
          </p:cNvPr>
          <p:cNvSpPr/>
          <p:nvPr/>
        </p:nvSpPr>
        <p:spPr>
          <a:xfrm>
            <a:off x="2257424" y="711450"/>
            <a:ext cx="2000250" cy="2542603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CA" sz="1400" dirty="0"/>
              <a:t>Patient X-ray upload history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D91DC0-4A1E-A61B-8000-7F8266850FDF}"/>
              </a:ext>
            </a:extLst>
          </p:cNvPr>
          <p:cNvSpPr/>
          <p:nvPr/>
        </p:nvSpPr>
        <p:spPr>
          <a:xfrm>
            <a:off x="2257424" y="3296915"/>
            <a:ext cx="2000250" cy="228949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b"/>
          <a:lstStyle/>
          <a:p>
            <a:pPr algn="ctr"/>
            <a:r>
              <a:rPr lang="en-US" sz="1400" dirty="0"/>
              <a:t>Graph of bone density changes according to X-ray upload date</a:t>
            </a:r>
            <a:endParaRPr lang="en-CA" sz="1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A1AFE7A-15D3-3674-F827-4279E667A652}"/>
              </a:ext>
            </a:extLst>
          </p:cNvPr>
          <p:cNvSpPr/>
          <p:nvPr/>
        </p:nvSpPr>
        <p:spPr>
          <a:xfrm>
            <a:off x="4257673" y="711450"/>
            <a:ext cx="5150643" cy="1938881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r>
              <a:rPr lang="en-US" sz="1400" dirty="0"/>
              <a:t>Original X-ray image and extracted vertebrae and L4 marking</a:t>
            </a:r>
            <a:endParaRPr lang="en-CA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9BE525-6284-FE8B-3E16-93B2D1F8DA06}"/>
              </a:ext>
            </a:extLst>
          </p:cNvPr>
          <p:cNvCxnSpPr/>
          <p:nvPr/>
        </p:nvCxnSpPr>
        <p:spPr>
          <a:xfrm flipH="1">
            <a:off x="4371974" y="1771650"/>
            <a:ext cx="2336006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6BD7090-62E2-4AF8-B174-8928ECE62AAE}"/>
              </a:ext>
            </a:extLst>
          </p:cNvPr>
          <p:cNvCxnSpPr>
            <a:cxnSpLocks/>
          </p:cNvCxnSpPr>
          <p:nvPr/>
        </p:nvCxnSpPr>
        <p:spPr>
          <a:xfrm>
            <a:off x="6943724" y="1771650"/>
            <a:ext cx="314325" cy="109299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E096B4-4A79-91CA-D49A-C0298A791EEF}"/>
              </a:ext>
            </a:extLst>
          </p:cNvPr>
          <p:cNvSpPr/>
          <p:nvPr/>
        </p:nvSpPr>
        <p:spPr>
          <a:xfrm>
            <a:off x="4257674" y="2650332"/>
            <a:ext cx="4693443" cy="1614487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Extracted L4 vertebra</a:t>
            </a:r>
            <a:endParaRPr lang="en-CA" sz="14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918CC23-E109-CE87-D087-5CD6435BBDE8}"/>
              </a:ext>
            </a:extLst>
          </p:cNvPr>
          <p:cNvSpPr/>
          <p:nvPr/>
        </p:nvSpPr>
        <p:spPr>
          <a:xfrm>
            <a:off x="4257674" y="4264820"/>
            <a:ext cx="4693443" cy="10144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US" sz="1400" dirty="0"/>
              <a:t>X-ray Metadata</a:t>
            </a:r>
            <a:endParaRPr lang="en-CA" sz="14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AFFCF6-A544-D135-8BC5-2A5BEAF3D367}"/>
              </a:ext>
            </a:extLst>
          </p:cNvPr>
          <p:cNvSpPr/>
          <p:nvPr/>
        </p:nvSpPr>
        <p:spPr>
          <a:xfrm>
            <a:off x="9408316" y="710906"/>
            <a:ext cx="2628903" cy="796426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Bone tissue value based on brightness (0 - 1)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3113A64-1954-4904-B0EC-FBF5D02ECEC8}"/>
              </a:ext>
            </a:extLst>
          </p:cNvPr>
          <p:cNvSpPr/>
          <p:nvPr/>
        </p:nvSpPr>
        <p:spPr>
          <a:xfrm>
            <a:off x="9408315" y="1509713"/>
            <a:ext cx="2628903" cy="2247899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Explainable </a:t>
            </a:r>
          </a:p>
          <a:p>
            <a:pPr algn="r"/>
            <a:r>
              <a:rPr lang="en-CA" sz="1400" dirty="0"/>
              <a:t>AI values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DA15FB8-E1BA-4207-7532-5029D7A1AA5E}"/>
              </a:ext>
            </a:extLst>
          </p:cNvPr>
          <p:cNvSpPr/>
          <p:nvPr/>
        </p:nvSpPr>
        <p:spPr>
          <a:xfrm>
            <a:off x="9408316" y="3759994"/>
            <a:ext cx="2628903" cy="1433512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BMD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BC21EB97-30F6-3BCE-B086-ED9773CAB100}"/>
              </a:ext>
            </a:extLst>
          </p:cNvPr>
          <p:cNvSpPr/>
          <p:nvPr/>
        </p:nvSpPr>
        <p:spPr>
          <a:xfrm>
            <a:off x="9408316" y="5193506"/>
            <a:ext cx="2628903" cy="1536478"/>
          </a:xfrm>
          <a:prstGeom prst="roundRect">
            <a:avLst>
              <a:gd name="adj" fmla="val 12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r"/>
            <a:r>
              <a:rPr lang="en-CA" sz="1400" dirty="0"/>
              <a:t>Areas </a:t>
            </a:r>
          </a:p>
          <a:p>
            <a:pPr algn="r"/>
            <a:r>
              <a:rPr lang="en-CA" sz="1400" dirty="0"/>
              <a:t>affecting </a:t>
            </a:r>
          </a:p>
          <a:p>
            <a:pPr algn="r"/>
            <a:r>
              <a:rPr lang="en-CA" sz="1400" dirty="0"/>
              <a:t>L4</a:t>
            </a:r>
          </a:p>
          <a:p>
            <a:pPr algn="r"/>
            <a:r>
              <a:rPr lang="en-CA" sz="1400" dirty="0"/>
              <a:t>Extraction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C8717-CA91-6B45-8E0A-779EB58B080E}"/>
              </a:ext>
            </a:extLst>
          </p:cNvPr>
          <p:cNvSpPr txBox="1"/>
          <p:nvPr/>
        </p:nvSpPr>
        <p:spPr>
          <a:xfrm>
            <a:off x="10607040" y="6455664"/>
            <a:ext cx="1005840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lang="en-CA" sz="900" b="0" i="0" dirty="0">
                <a:latin typeface="Calibri"/>
              </a:rPr>
              <a:t>15</a:t>
            </a:r>
            <a:r>
              <a:rPr lang="en-CA" sz="900" dirty="0"/>
              <a:t>/15</a:t>
            </a:r>
            <a:endParaRPr sz="900" b="0" i="0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459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5728</TotalTime>
  <Words>1535</Words>
  <Application>Microsoft Office PowerPoint</Application>
  <PresentationFormat>Widescreen</PresentationFormat>
  <Paragraphs>243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최성민</dc:creator>
  <cp:keywords/>
  <dc:description>generated using python-pptx</dc:description>
  <cp:lastModifiedBy>Choi, Seongmin</cp:lastModifiedBy>
  <cp:revision>36</cp:revision>
  <dcterms:created xsi:type="dcterms:W3CDTF">2013-01-27T09:14:16Z</dcterms:created>
  <dcterms:modified xsi:type="dcterms:W3CDTF">2026-08-19T04:47:20Z</dcterms:modified>
  <cp:category/>
</cp:coreProperties>
</file>