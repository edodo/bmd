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8" r:id="rId4"/>
    <p:sldId id="257" r:id="rId5"/>
    <p:sldId id="271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84144" autoAdjust="0"/>
  </p:normalViewPr>
  <p:slideViewPr>
    <p:cSldViewPr snapToGrid="0" snapToObjects="1">
      <p:cViewPr varScale="1">
        <p:scale>
          <a:sx n="86" d="100"/>
          <a:sy n="86" d="100"/>
        </p:scale>
        <p:origin x="90" y="9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68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 built an automatic tool that measures bone quality of the L4 spine vertebra directly from the X-rays</a:t>
            </a:r>
            <a:r>
              <a:rPr lang="en-CA" dirty="0"/>
              <a:t> you</a:t>
            </a:r>
            <a:r>
              <a:rPr dirty="0"/>
              <a:t> already take. </a:t>
            </a:r>
            <a:endParaRPr lang="en-CA" dirty="0"/>
          </a:p>
          <a:p>
            <a:r>
              <a:rPr dirty="0"/>
              <a:t>No extra scan, no extra dose. </a:t>
            </a:r>
            <a:endParaRPr lang="en-CA" dirty="0"/>
          </a:p>
          <a:p>
            <a:r>
              <a:rPr dirty="0"/>
              <a:t>I'll show what it does, how accurate it is, and what we still need to fix before clinical use.'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5173-8867-B76E-E850-3FD3EC08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8B059-C1D9-7E67-67BA-06CFA674A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65301-8696-9AAA-A8BF-862ADE887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‘</a:t>
            </a:r>
            <a:r>
              <a:rPr lang="en-CA" dirty="0"/>
              <a:t>This is </a:t>
            </a:r>
            <a:r>
              <a:rPr dirty="0"/>
              <a:t>not replacing DXA. </a:t>
            </a:r>
            <a:r>
              <a:rPr lang="en-CA" dirty="0"/>
              <a:t>I’m</a:t>
            </a:r>
            <a:r>
              <a:rPr dirty="0"/>
              <a:t> extracting a consistent, automatic bone signal from images you already have. </a:t>
            </a:r>
            <a:endParaRPr lang="en-CA" dirty="0"/>
          </a:p>
          <a:p>
            <a:r>
              <a:rPr dirty="0"/>
              <a:t>Two things: density (how bright/dense the bone looks) and texture (the internal bone pattern). </a:t>
            </a:r>
            <a:endParaRPr lang="en-CA" dirty="0"/>
          </a:p>
          <a:p>
            <a:r>
              <a:rPr lang="en-CA" dirty="0"/>
              <a:t>But</a:t>
            </a:r>
            <a:r>
              <a:rPr dirty="0"/>
              <a:t> it is a proxy, not calibrated g/cm-squared.'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82BB7-C6BF-ECF5-73AC-A4F95FB1E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4814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'</a:t>
            </a:r>
            <a:r>
              <a:rPr lang="en-US" sz="12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  <a:r>
              <a:rPr dirty="0"/>
              <a:t>: </a:t>
            </a:r>
            <a:endParaRPr lang="en-CA" dirty="0"/>
          </a:p>
          <a:p>
            <a:r>
              <a:rPr dirty="0"/>
              <a:t>take the X-ray, </a:t>
            </a:r>
            <a:endParaRPr lang="en-CA" dirty="0"/>
          </a:p>
          <a:p>
            <a:r>
              <a:rPr dirty="0"/>
              <a:t>the AI finds and outlines L4, </a:t>
            </a:r>
            <a:endParaRPr lang="en-CA" dirty="0"/>
          </a:p>
          <a:p>
            <a:r>
              <a:rPr lang="en-CA" dirty="0"/>
              <a:t>we</a:t>
            </a:r>
            <a:r>
              <a:rPr dirty="0"/>
              <a:t> measure bone on that region, and we report the numbers with a heatmap that shows where the AI looked. </a:t>
            </a:r>
            <a:endParaRPr lang="en-CA" dirty="0"/>
          </a:p>
          <a:p>
            <a:r>
              <a:rPr dirty="0"/>
              <a:t>Everything after the detector is standard, transparent image math.'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B9C5-1C6D-77D7-6C6E-D2A146E3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02791-22A5-7346-807D-46BB5E82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4C01-5BDC-97B4-92BD-782EB991E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BD2A-6CA8-ABA3-39F2-675D2A614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4495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EBFE5-45F4-FCE8-133D-5072DDA0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36547-E51A-CB6D-2C51-BA9CC35C1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9BC4B-90BF-4854-FA5E-11107DB45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0AF89-A0E0-864A-0292-71F27ACF2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9634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'The AI does instance segmentation - it separates each vertebra. </a:t>
            </a:r>
            <a:endParaRPr lang="en-CA" dirty="0"/>
          </a:p>
          <a:p>
            <a:r>
              <a:rPr lang="en-CA" dirty="0"/>
              <a:t>and</a:t>
            </a:r>
            <a:r>
              <a:rPr dirty="0"/>
              <a:t> then pick L4. </a:t>
            </a:r>
            <a:endParaRPr lang="en-CA" dirty="0"/>
          </a:p>
          <a:p>
            <a:r>
              <a:rPr dirty="0"/>
              <a:t>Green is the L4 it chose. </a:t>
            </a:r>
            <a:endParaRPr lang="en-CA" dirty="0"/>
          </a:p>
          <a:p>
            <a:r>
              <a:rPr dirty="0"/>
              <a:t>This is the core building block; </a:t>
            </a:r>
            <a:endParaRPr lang="en-CA" dirty="0"/>
          </a:p>
          <a:p>
            <a:r>
              <a:rPr dirty="0"/>
              <a:t>the bone measurement sits on top.'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'On images from the same source it trained on, accuracy is high - 0.97 </a:t>
            </a:r>
            <a:r>
              <a:rPr dirty="0" err="1"/>
              <a:t>mAP</a:t>
            </a:r>
            <a:r>
              <a:rPr lang="en-CA" dirty="0"/>
              <a:t> (mean Average Precision)</a:t>
            </a:r>
            <a:r>
              <a:rPr dirty="0"/>
              <a:t>. </a:t>
            </a:r>
            <a:r>
              <a:rPr lang="en-CA" dirty="0"/>
              <a:t>The maximum value is 1</a:t>
            </a:r>
          </a:p>
          <a:p>
            <a:r>
              <a:rPr dirty="0"/>
              <a:t>So the detector itself is strong. </a:t>
            </a:r>
            <a:endParaRPr lang="en-CA" dirty="0"/>
          </a:p>
          <a:p>
            <a:r>
              <a:rPr dirty="0"/>
              <a:t>The next slide is the honest part: what happens on our real clinical X-rays, which look different.'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'From the L4 outline </a:t>
            </a:r>
            <a:r>
              <a:rPr lang="en-CA" dirty="0"/>
              <a:t>I</a:t>
            </a:r>
            <a:r>
              <a:rPr dirty="0"/>
              <a:t> measure two things: </a:t>
            </a:r>
            <a:endParaRPr lang="en-CA" dirty="0"/>
          </a:p>
          <a:p>
            <a:r>
              <a:rPr dirty="0"/>
              <a:t>density (brightness) and texture (the internal bone pattern).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focus on the inner core, where osteoporotic change appears earliest. </a:t>
            </a:r>
            <a:endParaRPr lang="en-CA" dirty="0"/>
          </a:p>
          <a:p>
            <a:endParaRPr lang="en-CA" dirty="0"/>
          </a:p>
          <a:p>
            <a:r>
              <a:rPr dirty="0"/>
              <a:t>density here is a relative index, not calibrated BMD.'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MOST IMPORTANT SLIDE. </a:t>
            </a:r>
            <a:endParaRPr lang="en-CA" dirty="0"/>
          </a:p>
          <a:p>
            <a:r>
              <a:rPr lang="en-US" dirty="0"/>
              <a:t>I am being transparent. Two numbers on purpose.</a:t>
            </a:r>
          </a:p>
          <a:p>
            <a:r>
              <a:rPr lang="en-US" dirty="0"/>
              <a:t>The outline quality is good - 0.76. But the as-labeled score is 0.28 because of an anatomical demarcation issue during ground-truth labeling. </a:t>
            </a:r>
          </a:p>
          <a:p>
            <a:r>
              <a:rPr lang="en-US" dirty="0"/>
              <a:t>Due to my own difficulty in precisely differentiating the L4 boundaries on real clinical X-rays, the vertebra above or below L4 may have been incorrectly designated as L4.</a:t>
            </a:r>
          </a:p>
          <a:p>
            <a:endParaRPr lang="en-US" dirty="0"/>
          </a:p>
          <a:p>
            <a:r>
              <a:rPr lang="en-US" dirty="0"/>
              <a:t>So Right shape, wrong name.</a:t>
            </a:r>
          </a:p>
          <a:p>
            <a:r>
              <a:rPr lang="en-US" dirty="0"/>
              <a:t>The value of splitting the metric: it proves the segmentation works and isolates a single, fixable labeling issue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'This shows the problem visually. </a:t>
            </a:r>
            <a:endParaRPr lang="en-CA" dirty="0"/>
          </a:p>
          <a:p>
            <a:r>
              <a:rPr dirty="0"/>
              <a:t>Yellow is the true L4 </a:t>
            </a:r>
            <a:r>
              <a:rPr lang="en-CA" dirty="0"/>
              <a:t>, I marked it. </a:t>
            </a:r>
            <a:r>
              <a:rPr dirty="0"/>
              <a:t> </a:t>
            </a:r>
            <a:endParaRPr lang="en-CA" dirty="0"/>
          </a:p>
          <a:p>
            <a:r>
              <a:rPr dirty="0"/>
              <a:t>Red is the AI's L4. In the worst cases the red is one level too high. </a:t>
            </a:r>
            <a:endParaRPr lang="en-CA" dirty="0"/>
          </a:p>
          <a:p>
            <a:r>
              <a:rPr dirty="0"/>
              <a:t>The shapes are right - it is a counting / field-of-view problem, not a segmentation failure.’</a:t>
            </a:r>
            <a:endParaRPr lang="en-CA" dirty="0"/>
          </a:p>
          <a:p>
            <a:endParaRPr lang="en-US" dirty="0"/>
          </a:p>
          <a:p>
            <a:r>
              <a:rPr lang="en-US" dirty="0"/>
              <a:t>I am having difficulty naming the L4 bone.</a:t>
            </a:r>
          </a:p>
          <a:p>
            <a:r>
              <a:rPr lang="en-US" dirty="0"/>
              <a:t>It is often difficult to distinguish bones in X-ray images.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'Trust matters in medicine. </a:t>
            </a:r>
            <a:endParaRPr lang="en-CA" dirty="0"/>
          </a:p>
          <a:p>
            <a:r>
              <a:rPr dirty="0"/>
              <a:t>This heatmap shows the pixels the AI used. </a:t>
            </a:r>
            <a:endParaRPr lang="en-CA" dirty="0"/>
          </a:p>
          <a:p>
            <a:r>
              <a:rPr dirty="0"/>
              <a:t>It focuses on the L4 bone itself and its trabecular pattern - the same thing a radiologist would look at. </a:t>
            </a:r>
            <a:endParaRPr lang="en-CA" dirty="0"/>
          </a:p>
          <a:p>
            <a:r>
              <a:rPr dirty="0"/>
              <a:t>So when it does pick the right level, it is looking at the right structure for the right reason.'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</a:t>
            </a:r>
            <a:r>
              <a:rPr lang="en-CA" dirty="0"/>
              <a:t>T</a:t>
            </a:r>
            <a:r>
              <a:rPr dirty="0"/>
              <a:t>he engine works and is explainable.</a:t>
            </a:r>
            <a:endParaRPr lang="en-CA" dirty="0"/>
          </a:p>
          <a:p>
            <a:r>
              <a:rPr dirty="0"/>
              <a:t>One fixable gap remains - the L4 labeling on clinical images. </a:t>
            </a:r>
            <a:endParaRPr lang="en-CA" dirty="0"/>
          </a:p>
          <a:p>
            <a:r>
              <a:rPr dirty="0"/>
              <a:t>The fix is straightforward: fine-tune on a small number of labeled clinical X-rays. </a:t>
            </a:r>
            <a:endParaRPr lang="en-CA" dirty="0"/>
          </a:p>
          <a:p>
            <a:r>
              <a:rPr dirty="0"/>
              <a:t>I would need a small set of labeled clinical cases from your team to do step one.'</a:t>
            </a:r>
            <a:endParaRPr lang="en-CA" dirty="0"/>
          </a:p>
          <a:p>
            <a:r>
              <a:rPr lang="en-US" dirty="0"/>
              <a:t>However, I plan to receive the dataset and label it first. I will ask for your help later.</a:t>
            </a:r>
          </a:p>
          <a:p>
            <a:endParaRPr lang="en-US" dirty="0"/>
          </a:p>
          <a:p>
            <a:r>
              <a:rPr lang="en-US" dirty="0"/>
              <a:t>And I would like to compare this with the DXA test results. It would be helpful to know how actual bone density can be measured.</a:t>
            </a:r>
          </a:p>
          <a:p>
            <a:r>
              <a:rPr lang="en-US" dirty="0"/>
              <a:t>For now, 2 and 3 numbers are outside the scope of the research, so they have been marked this way.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'In short: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can get an automatic, explainable bone-quality signal from routine X-rays. </a:t>
            </a:r>
            <a:endParaRPr lang="en-CA" dirty="0"/>
          </a:p>
          <a:p>
            <a:r>
              <a:rPr dirty="0"/>
              <a:t>The method is sound; </a:t>
            </a:r>
            <a:endParaRPr lang="en-CA" dirty="0"/>
          </a:p>
          <a:p>
            <a:r>
              <a:rPr dirty="0"/>
              <a:t>one labeling gap is left and it is fixable with a small amount of labeled clinical data. </a:t>
            </a:r>
            <a:endParaRPr lang="en-CA" dirty="0"/>
          </a:p>
          <a:p>
            <a:r>
              <a:rPr dirty="0"/>
              <a:t>My ask: help me get a few labeled clinical cases so I can close that gap.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1D23-EDC4-BB68-95BC-9C67C1AB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D2F9F-5D79-6520-60E1-52019E0EB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B2AA-BDCB-D8D1-79C7-02D14CA6B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6BD8-CEDA-1AD0-D263-F3F42B0AD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555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0838F"/>
                </a:solidFill>
                <a:latin typeface="Calibri"/>
              </a:rPr>
              <a:t>AUTOMATED IMAGING  ·  BONE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Measuring Spinal Bone Health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from Routine Hip / Spine X-rays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 dirty="0">
                <a:solidFill>
                  <a:srgbClr val="C9D6E2"/>
                </a:solidFill>
                <a:latin typeface="Calibri"/>
              </a:rPr>
              <a:t>An automatic, explainable pipeline that finds the L4 vertebra and measures its bone density and texture.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78483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Presented by:  </a:t>
            </a:r>
            <a:r>
              <a:rPr lang="en-CA" sz="1500" b="1" i="0" dirty="0">
                <a:solidFill>
                  <a:srgbClr val="FFFFFF"/>
                </a:solidFill>
                <a:latin typeface="Calibri"/>
              </a:rPr>
              <a:t>Edward</a:t>
            </a:r>
            <a:r>
              <a:rPr lang="en-CA" sz="1500" b="1" dirty="0">
                <a:solidFill>
                  <a:srgbClr val="FFFFFF"/>
                </a:solidFill>
                <a:latin typeface="Calibri"/>
              </a:rPr>
              <a:t> Choi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·  Data Analyst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AEB9C6"/>
                </a:solidFill>
                <a:latin typeface="Calibri"/>
              </a:rPr>
              <a:t>Audience:  </a:t>
            </a: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Dr. Brent Lanting / </a:t>
            </a:r>
            <a:r>
              <a:rPr sz="1300" b="0" i="0" dirty="0" err="1">
                <a:solidFill>
                  <a:srgbClr val="AEB9C6"/>
                </a:solidFill>
                <a:latin typeface="Calibri"/>
              </a:rPr>
              <a:t>Orthopaedic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 / Hip Surgery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AEB9C6"/>
                </a:solidFill>
                <a:latin typeface="Calibri"/>
              </a:rPr>
              <a:t>June</a:t>
            </a: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 30, 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32CC9-14A3-CCC0-8A27-43F27AD2EFBD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chemeClr val="bg1"/>
                </a:solidFill>
                <a:latin typeface="Calibri"/>
              </a:rPr>
              <a:t>1</a:t>
            </a:r>
            <a:r>
              <a:rPr lang="en-CA" sz="900" dirty="0">
                <a:solidFill>
                  <a:schemeClr val="bg1"/>
                </a:solidFill>
              </a:rPr>
              <a:t>/15</a:t>
            </a:r>
            <a:endParaRPr sz="900" b="0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03E9-108D-53AF-BAFC-D120E33D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AA58F1-613A-4A59-0A8A-EB37A1B8118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84028-ED07-EDD6-D555-81DB1286C0F0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09225-42C6-7232-30FD-346D0C5F2D97}"/>
              </a:ext>
            </a:extLst>
          </p:cNvPr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Why measure L4 bone from an X-ray?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7AD60-9CF5-24AE-7B89-CE0DF9ABB217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7DDB7-E9FE-3B96-AD7A-52F19E6085C0}"/>
              </a:ext>
            </a:extLst>
          </p:cNvPr>
          <p:cNvSpPr txBox="1"/>
          <p:nvPr/>
        </p:nvSpPr>
        <p:spPr>
          <a:xfrm>
            <a:off x="548640" y="1554480"/>
            <a:ext cx="6583680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Bone quality of the lumbar spine matters for surgical planning and follow-up.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AP hip / spine X-rays are already taken in routine care.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Goal: a fast, repeatable bone-quality number for the L4 vertebra — fully automatic.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L4 is the standard lumbar reference level for bone assessment (as in DXA).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4C8F84-92DF-984A-EE5E-F2F24D9AE61A}"/>
              </a:ext>
            </a:extLst>
          </p:cNvPr>
          <p:cNvSpPr/>
          <p:nvPr/>
        </p:nvSpPr>
        <p:spPr>
          <a:xfrm>
            <a:off x="7406640" y="164592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A3CA9-5E4C-400B-F045-0D829D48D980}"/>
              </a:ext>
            </a:extLst>
          </p:cNvPr>
          <p:cNvSpPr txBox="1"/>
          <p:nvPr/>
        </p:nvSpPr>
        <p:spPr>
          <a:xfrm>
            <a:off x="7635240" y="1828800"/>
            <a:ext cx="3749039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IMPORTANT CAVEAT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 dirty="0">
                <a:solidFill>
                  <a:srgbClr val="222A33"/>
                </a:solidFill>
                <a:latin typeface="Calibri"/>
              </a:rPr>
              <a:t>This is a relative, X-ray-based proxy of bone density — not a calibrated DXA result (g/cm²).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It is for method demonstration. True BMD needs DXA / QCT or an in-image calibration phantom.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29F5A7-979D-1401-54A3-6BC694F59EC3}"/>
              </a:ext>
            </a:extLst>
          </p:cNvPr>
          <p:cNvSpPr/>
          <p:nvPr/>
        </p:nvSpPr>
        <p:spPr>
          <a:xfrm>
            <a:off x="7406640" y="4114800"/>
            <a:ext cx="4206240" cy="1463040"/>
          </a:xfrm>
          <a:prstGeom prst="roundRect">
            <a:avLst>
              <a:gd name="adj" fmla="val 4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16163-177B-3871-E03E-C7D1CEBF0794}"/>
              </a:ext>
            </a:extLst>
          </p:cNvPr>
          <p:cNvSpPr txBox="1"/>
          <p:nvPr/>
        </p:nvSpPr>
        <p:spPr>
          <a:xfrm>
            <a:off x="7635240" y="4251960"/>
            <a:ext cx="3749039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WHAT WE MEASURE ON L4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1)  Bone density proxy  (image brightness)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2)  Bone texture  (trabecular pattern, GLCM)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546BB-9AE4-D2C7-EB95-156F03834708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A2694-3E0C-B490-E9E8-F62540CB4E38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2/15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634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Input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Routine AP spine /
hip radiograph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1528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52544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Find L4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AI outlines vertebrae
L1-L5 and selects L4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25312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36208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96328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Density proxy +
bone texture on L4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69096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79992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40112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Report + 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Numbers + heatmaps
showing the 'why'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 dirty="0">
                <a:solidFill>
                  <a:srgbClr val="5A646E"/>
                </a:solidFill>
                <a:latin typeface="Calibri"/>
              </a:rPr>
              <a:t>Built on a single AI detector (YOLOv8) trained on 2,000 public spine X-rays; the measurement and explanation code is independent of the detector.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3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2700" b="1" i="0" dirty="0">
                <a:solidFill>
                  <a:srgbClr val="1B324F"/>
                </a:solidFill>
                <a:latin typeface="Calibri"/>
              </a:rPr>
              <a:t>AI in osteoporosis diagnosis 1</a:t>
            </a:r>
            <a:endParaRPr sz="2700" b="1" i="0" dirty="0">
              <a:solidFill>
                <a:srgbClr val="1B324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4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250F5F2C-0B80-3789-164D-CEBC4AD492E6}"/>
              </a:ext>
            </a:extLst>
          </p:cNvPr>
          <p:cNvSpPr/>
          <p:nvPr/>
        </p:nvSpPr>
        <p:spPr>
          <a:xfrm>
            <a:off x="2124737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Imaging modalities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590A005A-4F72-CD2E-BB75-E0CF30354052}"/>
              </a:ext>
            </a:extLst>
          </p:cNvPr>
          <p:cNvSpPr/>
          <p:nvPr/>
        </p:nvSpPr>
        <p:spPr>
          <a:xfrm>
            <a:off x="8592994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Clinical tasks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F3374B13-F9B9-1B53-C7BC-2172F726600B}"/>
              </a:ext>
            </a:extLst>
          </p:cNvPr>
          <p:cNvSpPr/>
          <p:nvPr/>
        </p:nvSpPr>
        <p:spPr>
          <a:xfrm>
            <a:off x="8081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DXA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D54383C5-7E98-4219-6A95-06BB87D4AFB5}"/>
              </a:ext>
            </a:extLst>
          </p:cNvPr>
          <p:cNvSpPr/>
          <p:nvPr/>
        </p:nvSpPr>
        <p:spPr>
          <a:xfrm>
            <a:off x="26178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X-ray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498B3BE5-C27B-38CA-CABA-E36BD176C8B5}"/>
              </a:ext>
            </a:extLst>
          </p:cNvPr>
          <p:cNvSpPr/>
          <p:nvPr/>
        </p:nvSpPr>
        <p:spPr>
          <a:xfrm>
            <a:off x="4414826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CT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865E5187-7748-B822-106B-6861D896BBD9}"/>
              </a:ext>
            </a:extLst>
          </p:cNvPr>
          <p:cNvSpPr/>
          <p:nvPr/>
        </p:nvSpPr>
        <p:spPr>
          <a:xfrm>
            <a:off x="5489439" y="2982336"/>
            <a:ext cx="72234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MRI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194B75B5-E924-1593-08D5-7B536B35909E}"/>
              </a:ext>
            </a:extLst>
          </p:cNvPr>
          <p:cNvSpPr/>
          <p:nvPr/>
        </p:nvSpPr>
        <p:spPr>
          <a:xfrm>
            <a:off x="21931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Opportunistic</a:t>
            </a:r>
          </a:p>
          <a:p>
            <a:pPr algn="ctr"/>
            <a:r>
              <a:rPr lang="en-CA" dirty="0" err="1">
                <a:solidFill>
                  <a:schemeClr val="tx1"/>
                </a:solidFill>
              </a:rPr>
              <a:t>screnning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0460311E-04BB-9CB7-6F65-B1F66B281BE1}"/>
              </a:ext>
            </a:extLst>
          </p:cNvPr>
          <p:cNvSpPr/>
          <p:nvPr/>
        </p:nvSpPr>
        <p:spPr>
          <a:xfrm>
            <a:off x="3834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T-score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classification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D2C5E7E7-281E-483E-FB20-3BA66AC2DFCC}"/>
              </a:ext>
            </a:extLst>
          </p:cNvPr>
          <p:cNvSpPr/>
          <p:nvPr/>
        </p:nvSpPr>
        <p:spPr>
          <a:xfrm>
            <a:off x="3990150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 structure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analysis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C107BE20-0B46-03E4-050A-B41A9FDB9AE0}"/>
              </a:ext>
            </a:extLst>
          </p:cNvPr>
          <p:cNvSpPr/>
          <p:nvPr/>
        </p:nvSpPr>
        <p:spPr>
          <a:xfrm>
            <a:off x="6672177" y="2982336"/>
            <a:ext cx="2003470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classification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6" name="Rounded Rectangle 8">
            <a:extLst>
              <a:ext uri="{FF2B5EF4-FFF2-40B4-BE49-F238E27FC236}">
                <a16:creationId xmlns:a16="http://schemas.microsoft.com/office/drawing/2014/main" id="{0E280DD2-FC78-FA83-63DE-98BBC098E5F6}"/>
              </a:ext>
            </a:extLst>
          </p:cNvPr>
          <p:cNvSpPr/>
          <p:nvPr/>
        </p:nvSpPr>
        <p:spPr>
          <a:xfrm>
            <a:off x="6911584" y="564906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11A1AEB7-0E99-0688-06F9-BEAC8A14FD0A}"/>
              </a:ext>
            </a:extLst>
          </p:cNvPr>
          <p:cNvSpPr/>
          <p:nvPr/>
        </p:nvSpPr>
        <p:spPr>
          <a:xfrm>
            <a:off x="8934709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Fracture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1FACA410-5254-A582-4997-E84FAEAE484A}"/>
              </a:ext>
            </a:extLst>
          </p:cNvPr>
          <p:cNvSpPr/>
          <p:nvPr/>
        </p:nvSpPr>
        <p:spPr>
          <a:xfrm>
            <a:off x="10579254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Risk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567B6A7-9F65-AEA5-5C4F-1515F1A219E3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 rot="5400000">
            <a:off x="1899957" y="1626156"/>
            <a:ext cx="697256" cy="2015105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0A68219-B033-5100-329F-B29F7AA44B8D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 rot="5400000">
            <a:off x="2804807" y="2531006"/>
            <a:ext cx="697256" cy="2054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ACCB9E4-EC7B-E0D7-AF99-82FC77AB12E5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rot="16200000" flipH="1">
            <a:off x="3703284" y="1837932"/>
            <a:ext cx="697256" cy="159155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B997795-6012-908B-CE4E-B1CE656A7750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 rot="16200000" flipH="1">
            <a:off x="4204746" y="1336471"/>
            <a:ext cx="697256" cy="2594474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1C8D836-C6D6-5EEA-F5DA-13739B2DF521}"/>
              </a:ext>
            </a:extLst>
          </p:cNvPr>
          <p:cNvCxnSpPr>
            <a:stCxn id="20" idx="2"/>
            <a:endCxn id="34" idx="0"/>
          </p:cNvCxnSpPr>
          <p:nvPr/>
        </p:nvCxnSpPr>
        <p:spPr>
          <a:xfrm flipH="1">
            <a:off x="1241031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1FFF32-61E7-8CF0-D9E8-446952E432FF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3050731" y="3542463"/>
            <a:ext cx="1" cy="15700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2FD346C-9ADF-FEE8-AA40-2B4AB3EAC4EC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 flipH="1">
            <a:off x="4847687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ounded Rectangle 8">
            <a:extLst>
              <a:ext uri="{FF2B5EF4-FFF2-40B4-BE49-F238E27FC236}">
                <a16:creationId xmlns:a16="http://schemas.microsoft.com/office/drawing/2014/main" id="{A73CE25B-3184-F088-77B1-F02D99682183}"/>
              </a:ext>
            </a:extLst>
          </p:cNvPr>
          <p:cNvSpPr/>
          <p:nvPr/>
        </p:nvSpPr>
        <p:spPr>
          <a:xfrm>
            <a:off x="21931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detection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" name="Rounded Rectangle 8">
            <a:extLst>
              <a:ext uri="{FF2B5EF4-FFF2-40B4-BE49-F238E27FC236}">
                <a16:creationId xmlns:a16="http://schemas.microsoft.com/office/drawing/2014/main" id="{477AECF4-0D67-EBFE-9FB4-4334BA6070B3}"/>
              </a:ext>
            </a:extLst>
          </p:cNvPr>
          <p:cNvSpPr/>
          <p:nvPr/>
        </p:nvSpPr>
        <p:spPr>
          <a:xfrm>
            <a:off x="3834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BMD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estimation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" name="Rounded Rectangle 8">
            <a:extLst>
              <a:ext uri="{FF2B5EF4-FFF2-40B4-BE49-F238E27FC236}">
                <a16:creationId xmlns:a16="http://schemas.microsoft.com/office/drawing/2014/main" id="{5D950148-CCD6-CEB9-6805-8FC5A4C6D77F}"/>
              </a:ext>
            </a:extLst>
          </p:cNvPr>
          <p:cNvSpPr/>
          <p:nvPr/>
        </p:nvSpPr>
        <p:spPr>
          <a:xfrm>
            <a:off x="3990150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density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FBF890C3-2EC6-CD57-AD16-0C3E7BE99D5F}"/>
              </a:ext>
            </a:extLst>
          </p:cNvPr>
          <p:cNvCxnSpPr>
            <a:cxnSpLocks/>
            <a:stCxn id="16" idx="2"/>
            <a:endCxn id="40" idx="0"/>
          </p:cNvCxnSpPr>
          <p:nvPr/>
        </p:nvCxnSpPr>
        <p:spPr>
          <a:xfrm rot="5400000">
            <a:off x="8350525" y="1608467"/>
            <a:ext cx="697256" cy="2050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9D0F67E-A93B-1B64-4AEF-33A7CE02FA7F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>
            <a:off x="7673912" y="3542463"/>
            <a:ext cx="1" cy="2106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Rounded Rectangle 8">
            <a:extLst>
              <a:ext uri="{FF2B5EF4-FFF2-40B4-BE49-F238E27FC236}">
                <a16:creationId xmlns:a16="http://schemas.microsoft.com/office/drawing/2014/main" id="{F7BE255E-E6A8-3931-2040-A3EEB0B7FBF9}"/>
              </a:ext>
            </a:extLst>
          </p:cNvPr>
          <p:cNvSpPr/>
          <p:nvPr/>
        </p:nvSpPr>
        <p:spPr>
          <a:xfrm>
            <a:off x="6911584" y="3947435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Normal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3" name="Rounded Rectangle 8">
            <a:extLst>
              <a:ext uri="{FF2B5EF4-FFF2-40B4-BE49-F238E27FC236}">
                <a16:creationId xmlns:a16="http://schemas.microsoft.com/office/drawing/2014/main" id="{977DF287-BBCA-5148-741D-8FB337F3803A}"/>
              </a:ext>
            </a:extLst>
          </p:cNvPr>
          <p:cNvSpPr/>
          <p:nvPr/>
        </p:nvSpPr>
        <p:spPr>
          <a:xfrm>
            <a:off x="6911584" y="4798249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Osteopenia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5353D0D5-E55E-F669-FD57-3667A4C67765}"/>
              </a:ext>
            </a:extLst>
          </p:cNvPr>
          <p:cNvCxnSpPr>
            <a:cxnSpLocks/>
            <a:stCxn id="16" idx="2"/>
            <a:endCxn id="56" idx="0"/>
          </p:cNvCxnSpPr>
          <p:nvPr/>
        </p:nvCxnSpPr>
        <p:spPr>
          <a:xfrm rot="5400000">
            <a:off x="9321557" y="2579499"/>
            <a:ext cx="697256" cy="108419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D358EC8-B3CC-34D5-40D6-14BB4711D868}"/>
              </a:ext>
            </a:extLst>
          </p:cNvPr>
          <p:cNvCxnSpPr>
            <a:cxnSpLocks/>
            <a:stCxn id="16" idx="2"/>
            <a:endCxn id="58" idx="0"/>
          </p:cNvCxnSpPr>
          <p:nvPr/>
        </p:nvCxnSpPr>
        <p:spPr>
          <a:xfrm rot="16200000" flipH="1">
            <a:off x="10143829" y="1865645"/>
            <a:ext cx="697256" cy="1536126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7606-C9CE-CE65-B696-FBC9437A0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BC2AA-498A-03D4-EEB2-B40F7A91999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0285-9BE3-80B7-A70F-D2B22A711208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95DF3-8E6F-C2F5-4246-477FDCE4FBA0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AI in osteoporosis diagnosis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0A0AC-BCB4-87EF-B57F-7D1BACDD942F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93C89-580B-F397-6F99-6F81D948DA8C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139D9-A39D-8B81-0E8D-E0E268AE945F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5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915FD1C4-603F-1849-95F8-C04874227BB3}"/>
              </a:ext>
            </a:extLst>
          </p:cNvPr>
          <p:cNvSpPr/>
          <p:nvPr/>
        </p:nvSpPr>
        <p:spPr>
          <a:xfrm>
            <a:off x="5217058" y="1563895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AI methodologies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246792EA-91B5-6C87-C094-D4B71E2641FF}"/>
              </a:ext>
            </a:extLst>
          </p:cNvPr>
          <p:cNvSpPr/>
          <p:nvPr/>
        </p:nvSpPr>
        <p:spPr>
          <a:xfrm>
            <a:off x="2870892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CNN-based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75773AC-ED31-C17B-B8F8-04CFC1160E65}"/>
              </a:ext>
            </a:extLst>
          </p:cNvPr>
          <p:cNvSpPr/>
          <p:nvPr/>
        </p:nvSpPr>
        <p:spPr>
          <a:xfrm>
            <a:off x="494334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Classical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Machine Learning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EA1C87-F80F-E6CF-7E0B-01AB4CF1D0B7}"/>
              </a:ext>
            </a:extLst>
          </p:cNvPr>
          <p:cNvSpPr/>
          <p:nvPr/>
        </p:nvSpPr>
        <p:spPr>
          <a:xfrm>
            <a:off x="7669993" y="2779269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Transformer-based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A0C510E9-FD0F-5CFC-7E76-DB6812F78796}"/>
              </a:ext>
            </a:extLst>
          </p:cNvPr>
          <p:cNvSpPr/>
          <p:nvPr/>
        </p:nvSpPr>
        <p:spPr>
          <a:xfrm>
            <a:off x="10032718" y="2779270"/>
            <a:ext cx="1813606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Self-supervised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learning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C1DAADFE-107A-11EE-EAC5-204EABB4C54A}"/>
              </a:ext>
            </a:extLst>
          </p:cNvPr>
          <p:cNvSpPr/>
          <p:nvPr/>
        </p:nvSpPr>
        <p:spPr>
          <a:xfrm>
            <a:off x="5350353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Explainable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AI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925ACB6B-4D8C-E2A0-4696-E5D3160ADA6A}"/>
              </a:ext>
            </a:extLst>
          </p:cNvPr>
          <p:cNvSpPr/>
          <p:nvPr/>
        </p:nvSpPr>
        <p:spPr>
          <a:xfrm>
            <a:off x="5553007" y="4993066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Attention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heatmaps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9467F23B-C6B8-928B-1088-5BD6C995CCCC}"/>
              </a:ext>
            </a:extLst>
          </p:cNvPr>
          <p:cNvSpPr/>
          <p:nvPr/>
        </p:nvSpPr>
        <p:spPr>
          <a:xfrm>
            <a:off x="733741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GLCM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DAF8124-4BCE-CC56-2ED0-245BF9EA0EC0}"/>
              </a:ext>
            </a:extLst>
          </p:cNvPr>
          <p:cNvCxnSpPr>
            <a:cxnSpLocks/>
            <a:stCxn id="18" idx="2"/>
            <a:endCxn id="7" idx="0"/>
          </p:cNvCxnSpPr>
          <p:nvPr/>
        </p:nvCxnSpPr>
        <p:spPr>
          <a:xfrm rot="5400000">
            <a:off x="3594640" y="25452"/>
            <a:ext cx="655248" cy="48523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624FF99-5C5C-BBB9-F209-7639878FCC96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rot="16200000" flipH="1">
            <a:off x="7182470" y="1290010"/>
            <a:ext cx="655247" cy="232327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27660A-DDA1-B9FB-FC7B-B558FBA3513B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>
            <a:off x="1496069" y="3371000"/>
            <a:ext cx="1" cy="437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3BB8F0E-B283-3307-6ECE-A13BFD93D447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 rot="16200000" flipH="1">
            <a:off x="8316365" y="156114"/>
            <a:ext cx="655248" cy="4591063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C20CA9-6066-59AF-6478-B2036BD3D5F3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rot="5400000">
            <a:off x="4782919" y="1213731"/>
            <a:ext cx="655248" cy="24758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04E964F-98A0-A923-CF45-DD535FAA2E4D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 rot="16200000" flipH="1">
            <a:off x="6022649" y="2449831"/>
            <a:ext cx="655248" cy="3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F542623-E938-2DE9-FC60-E3A5297BAF4F}"/>
              </a:ext>
            </a:extLst>
          </p:cNvPr>
          <p:cNvCxnSpPr>
            <a:cxnSpLocks/>
            <a:stCxn id="48" idx="2"/>
            <a:endCxn id="112" idx="0"/>
          </p:cNvCxnSpPr>
          <p:nvPr/>
        </p:nvCxnSpPr>
        <p:spPr>
          <a:xfrm>
            <a:off x="3872627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BAB679E-C54A-B9F0-19F1-7A65BA7ED294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>
            <a:off x="6352088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ounded Rectangle 8">
            <a:extLst>
              <a:ext uri="{FF2B5EF4-FFF2-40B4-BE49-F238E27FC236}">
                <a16:creationId xmlns:a16="http://schemas.microsoft.com/office/drawing/2014/main" id="{769C4640-24F7-C263-91FF-C798E032023F}"/>
              </a:ext>
            </a:extLst>
          </p:cNvPr>
          <p:cNvSpPr/>
          <p:nvPr/>
        </p:nvSpPr>
        <p:spPr>
          <a:xfrm>
            <a:off x="3110299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YOLO26-seg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3" name="Rounded Rectangle 8">
            <a:extLst>
              <a:ext uri="{FF2B5EF4-FFF2-40B4-BE49-F238E27FC236}">
                <a16:creationId xmlns:a16="http://schemas.microsoft.com/office/drawing/2014/main" id="{805133F9-CE7F-D351-8D7B-84C1148B497A}"/>
              </a:ext>
            </a:extLst>
          </p:cNvPr>
          <p:cNvSpPr/>
          <p:nvPr/>
        </p:nvSpPr>
        <p:spPr>
          <a:xfrm>
            <a:off x="5553007" y="3808493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chemeClr val="tx1"/>
                </a:solidFill>
              </a:rPr>
              <a:t>Seg-Grad-Cam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568D0E-F7A1-C347-A640-CFA5754A129A}"/>
              </a:ext>
            </a:extLst>
          </p:cNvPr>
          <p:cNvSpPr txBox="1"/>
          <p:nvPr/>
        </p:nvSpPr>
        <p:spPr>
          <a:xfrm>
            <a:off x="426381" y="4420239"/>
            <a:ext cx="21393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(Feature Extraction)</a:t>
            </a:r>
          </a:p>
        </p:txBody>
      </p:sp>
      <p:sp>
        <p:nvSpPr>
          <p:cNvPr id="112" name="Rounded Rectangle 8">
            <a:extLst>
              <a:ext uri="{FF2B5EF4-FFF2-40B4-BE49-F238E27FC236}">
                <a16:creationId xmlns:a16="http://schemas.microsoft.com/office/drawing/2014/main" id="{44494DB6-2E03-6032-4D91-CE9D7D27A627}"/>
              </a:ext>
            </a:extLst>
          </p:cNvPr>
          <p:cNvSpPr/>
          <p:nvPr/>
        </p:nvSpPr>
        <p:spPr>
          <a:xfrm>
            <a:off x="3172771" y="4993066"/>
            <a:ext cx="1399712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ONNX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Web export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A8A915-1F49-3EC7-1DE9-7ECBCE7A6DE6}"/>
              </a:ext>
            </a:extLst>
          </p:cNvPr>
          <p:cNvSpPr txBox="1"/>
          <p:nvPr/>
        </p:nvSpPr>
        <p:spPr>
          <a:xfrm>
            <a:off x="2904989" y="4420239"/>
            <a:ext cx="19352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(L4 vertebral split)</a:t>
            </a:r>
          </a:p>
        </p:txBody>
      </p:sp>
    </p:spTree>
    <p:extLst>
      <p:ext uri="{BB962C8B-B14F-4D97-AF65-F5344CB8AC3E}">
        <p14:creationId xmlns:p14="http://schemas.microsoft.com/office/powerpoint/2010/main" val="167749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857A-B619-5A75-14E8-ABDE63D2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A5EBFCDC-858E-F920-7B7B-1D31C2EF9944}"/>
              </a:ext>
            </a:extLst>
          </p:cNvPr>
          <p:cNvSpPr/>
          <p:nvPr/>
        </p:nvSpPr>
        <p:spPr>
          <a:xfrm>
            <a:off x="392993" y="4156038"/>
            <a:ext cx="5234940" cy="2029472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F3768AB3-DF58-F846-89B0-BEE129D1BF46}"/>
              </a:ext>
            </a:extLst>
          </p:cNvPr>
          <p:cNvSpPr/>
          <p:nvPr/>
        </p:nvSpPr>
        <p:spPr>
          <a:xfrm>
            <a:off x="392993" y="1939681"/>
            <a:ext cx="5234940" cy="2029472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3F39BA45-91E0-E2BA-907E-CC2EF357EBFF}"/>
              </a:ext>
            </a:extLst>
          </p:cNvPr>
          <p:cNvSpPr/>
          <p:nvPr/>
        </p:nvSpPr>
        <p:spPr>
          <a:xfrm>
            <a:off x="6298493" y="1939680"/>
            <a:ext cx="5387341" cy="1998621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59281-E9D1-F7E4-0888-327535842B3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1C82D-D77F-C7AC-CDAB-ECF1CB8D9D4D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30844-A6AB-B269-80C1-5EDABE0D44CD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1D27E-692A-CE68-67FB-83BF96BDEB7E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30B10-4E47-B7FB-DE86-2B04C2E9CB34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4EFE2-7337-52C4-9B14-EAC6A9F5EBA3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6/15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96099-8F45-A7E6-547E-25842847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70" y="2456656"/>
            <a:ext cx="5183186" cy="1216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5A6D43-64F4-9A02-D9B4-541789CC6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89" y="4685693"/>
            <a:ext cx="5145949" cy="12080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733492A-542B-3825-ACF8-DAA1E8319A4D}"/>
              </a:ext>
            </a:extLst>
          </p:cNvPr>
          <p:cNvSpPr txBox="1"/>
          <p:nvPr/>
        </p:nvSpPr>
        <p:spPr>
          <a:xfrm>
            <a:off x="392994" y="2014679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2000(train 3400/</a:t>
            </a:r>
            <a:r>
              <a:rPr lang="en-CA" sz="2400" b="1" i="0" dirty="0" err="1">
                <a:solidFill>
                  <a:srgbClr val="2E7D32"/>
                </a:solidFill>
                <a:latin typeface="Calibri"/>
              </a:rPr>
              <a:t>val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 600)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2FF575-AFE9-DCED-C144-A47B5AB53F91}"/>
              </a:ext>
            </a:extLst>
          </p:cNvPr>
          <p:cNvSpPr txBox="1"/>
          <p:nvPr/>
        </p:nvSpPr>
        <p:spPr>
          <a:xfrm>
            <a:off x="3929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dirty="0">
                <a:solidFill>
                  <a:srgbClr val="2E7D32"/>
                </a:solidFill>
              </a:rPr>
              <a:t>2000(train 3400/</a:t>
            </a:r>
            <a:r>
              <a:rPr lang="en-CA" sz="2400" b="1" dirty="0" err="1">
                <a:solidFill>
                  <a:srgbClr val="2E7D32"/>
                </a:solidFill>
              </a:rPr>
              <a:t>val</a:t>
            </a:r>
            <a:r>
              <a:rPr lang="en-CA" sz="2400" b="1" dirty="0">
                <a:solidFill>
                  <a:srgbClr val="2E7D32"/>
                </a:solidFill>
              </a:rPr>
              <a:t> 600) 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LA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94F79A-2B3F-F672-D6DC-535B518A7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534" y="2510306"/>
            <a:ext cx="5037258" cy="109526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64476E4-1A1E-CF91-FFE6-ADB393BED59F}"/>
              </a:ext>
            </a:extLst>
          </p:cNvPr>
          <p:cNvSpPr/>
          <p:nvPr/>
        </p:nvSpPr>
        <p:spPr>
          <a:xfrm>
            <a:off x="1295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Training/Validation Dataset (BUU dataset)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070FF-6F99-1D10-F51D-2DF25D72E1CA}"/>
              </a:ext>
            </a:extLst>
          </p:cNvPr>
          <p:cNvSpPr txBox="1"/>
          <p:nvPr/>
        </p:nvSpPr>
        <p:spPr>
          <a:xfrm>
            <a:off x="6659662" y="2014679"/>
            <a:ext cx="4665002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42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71F01-33E7-8EE7-1013-5D8CA4EB7C8D}"/>
              </a:ext>
            </a:extLst>
          </p:cNvPr>
          <p:cNvSpPr/>
          <p:nvPr/>
        </p:nvSpPr>
        <p:spPr>
          <a:xfrm>
            <a:off x="61112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Test Dataset (DICOM dataset)</a:t>
            </a: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F141D04F-08D5-9C86-39D9-51C0AC30EF9E}"/>
              </a:ext>
            </a:extLst>
          </p:cNvPr>
          <p:cNvSpPr/>
          <p:nvPr/>
        </p:nvSpPr>
        <p:spPr>
          <a:xfrm>
            <a:off x="6298493" y="4148000"/>
            <a:ext cx="5387341" cy="1998621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5C991C-D277-F6DE-AC28-9887381ED468}"/>
              </a:ext>
            </a:extLst>
          </p:cNvPr>
          <p:cNvSpPr txBox="1"/>
          <p:nvPr/>
        </p:nvSpPr>
        <p:spPr>
          <a:xfrm>
            <a:off x="63746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0 LA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996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Finding the L4 vertebra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4140" y="1845644"/>
            <a:ext cx="5570220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AI segmentation (YOLOv8-seg)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It outlines each vertebra L1-L5 as a separate object.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L4 is selected by its label, with a 4th-from-top backup rule.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Output: a clean L4 outline at full image resolution.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Blue = all vertebrae   ·   Green = selected L4</a:t>
            </a:r>
          </a:p>
        </p:txBody>
      </p:sp>
      <p:pic>
        <p:nvPicPr>
          <p:cNvPr id="7" name="Picture 6" descr="detec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897" y="4228629"/>
            <a:ext cx="5716463" cy="18086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7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428F4F-D8CE-58B8-17A9-1F9644CB2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5" y="3710312"/>
            <a:ext cx="5880160" cy="23628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2D2D6F-4131-3187-E847-DF903B5B8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" y="1551432"/>
            <a:ext cx="6027020" cy="2197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The detector is accurate (in-domain)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6264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6264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0838F"/>
                </a:solidFill>
                <a:latin typeface="Calibri"/>
              </a:rPr>
              <a:t>0.97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64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Mask mAP@50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7218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7218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218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61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0061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0061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3845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03845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5A646E"/>
                </a:solidFill>
                <a:latin typeface="Calibri"/>
              </a:rPr>
              <a:t>0.76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845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mAP@50-95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27" y="2926080"/>
            <a:ext cx="6142274" cy="136556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On held-out validation X-rays, the model finds and outlines vertebrae very reliably.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5A646E"/>
                </a:solidFill>
                <a:latin typeface="Calibri"/>
              </a:rPr>
              <a:t>mAP@50 = 0.97 means near-complete agreement with the human labels at a standard overlap threshold.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Right: model predictions on a validation batch.</a:t>
            </a:r>
          </a:p>
        </p:txBody>
      </p:sp>
      <p:pic>
        <p:nvPicPr>
          <p:cNvPr id="19" name="Picture 18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26" y="1166600"/>
            <a:ext cx="5329473" cy="53294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8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2635FED-346A-1570-1C07-361D6445A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582" y="1542863"/>
            <a:ext cx="6231466" cy="4673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586D57-DC6A-882F-E804-D25E85F9B9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660"/>
          <a:stretch>
            <a:fillRect/>
          </a:stretch>
        </p:blipFill>
        <p:spPr>
          <a:xfrm>
            <a:off x="2978302" y="2089638"/>
            <a:ext cx="6604026" cy="3580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758E11-02DC-0E68-C8B8-3F5B9D6015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340"/>
          <a:stretch>
            <a:fillRect/>
          </a:stretch>
        </p:blipFill>
        <p:spPr>
          <a:xfrm>
            <a:off x="3615579" y="2089638"/>
            <a:ext cx="5329473" cy="358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Measuring bone on L4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201942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Two bone read-outs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Density proxy: average brightness inside the L4 region. Denser bone tends to look brighter.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Texture (GLCM): the trabecular bone pattern — contrast, energy, homogeneity.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We use the inner 'cancellous' core of L4 (red ROI) where bone change shows first.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Green = L4   ·   Red = measurement ROI</a:t>
            </a:r>
          </a:p>
        </p:txBody>
      </p:sp>
      <p:pic>
        <p:nvPicPr>
          <p:cNvPr id="7" name="Picture 6" descr="bmd_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03" y="3078542"/>
            <a:ext cx="10587129" cy="33771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9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Honest test on 42 real clinical X-rays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2E7D32"/>
                </a:solidFill>
                <a:latin typeface="Calibri"/>
              </a:rPr>
              <a:t>0.76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Shape quality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When it labels L4, the outline is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C43A35"/>
                </a:solidFill>
                <a:latin typeface="Calibri"/>
              </a:rPr>
              <a:t>0.28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As-labeled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Sometimes it names the wrong vertebra.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393192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361188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THE ONE ISSUE: 'OFF-BY-ONE'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AI draws a correct vertebra shape, but on these different-looking clinical images it sometimes labels the </a:t>
            </a:r>
            <a:r>
              <a:rPr sz="1350" b="0" i="1" dirty="0" err="1">
                <a:solidFill>
                  <a:srgbClr val="222A33"/>
                </a:solidFill>
                <a:latin typeface="Calibri"/>
              </a:rPr>
              <a:t>neighbour</a:t>
            </a:r>
            <a:r>
              <a:rPr sz="1350" b="0" i="1" dirty="0">
                <a:solidFill>
                  <a:srgbClr val="222A33"/>
                </a:solidFill>
                <a:latin typeface="Calibri"/>
              </a:rPr>
              <a:t> as 'L4'.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 dirty="0">
                <a:solidFill>
                  <a:srgbClr val="1B324F"/>
                </a:solidFill>
                <a:latin typeface="Calibri"/>
              </a:rPr>
              <a:t>Right shape, wrong name — on 28 of 42 images.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694944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 dirty="0">
                <a:solidFill>
                  <a:srgbClr val="1B324F"/>
                </a:solidFill>
                <a:latin typeface="Calibri"/>
              </a:rPr>
              <a:t>Why report two numbers?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Separating 'shape quality' from 'naming' tells us exactly what to fix. The segmentation is good (0.76). The gap to 0.28 is purely a labeling problem we can target directly.</a:t>
            </a:r>
          </a:p>
        </p:txBody>
      </p:sp>
      <p:pic>
        <p:nvPicPr>
          <p:cNvPr id="15" name="Picture 14" descr="eva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47958"/>
            <a:ext cx="4572000" cy="1545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10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Seeing the 'off-by-one' clearly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val_overl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4380"/>
            <a:ext cx="7863840" cy="4029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32851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How to read this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B26A00"/>
                </a:solidFill>
                <a:latin typeface="Calibri"/>
              </a:rPr>
              <a:t>Yellow = true L4 (</a:t>
            </a:r>
            <a:r>
              <a:rPr lang="en-CA" sz="1400" b="1" i="0" dirty="0">
                <a:solidFill>
                  <a:srgbClr val="B26A00"/>
                </a:solidFill>
                <a:latin typeface="Calibri"/>
              </a:rPr>
              <a:t>Edward</a:t>
            </a:r>
            <a:r>
              <a:rPr sz="1400" b="1" i="0" dirty="0">
                <a:solidFill>
                  <a:srgbClr val="B26A00"/>
                </a:solidFill>
                <a:latin typeface="Calibri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C43A35"/>
                </a:solidFill>
                <a:latin typeface="Calibri"/>
              </a:rPr>
              <a:t>Red = what the AI named L4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2E7D32"/>
                </a:solidFill>
                <a:latin typeface="Calibri"/>
              </a:rPr>
              <a:t>Green = best-matching vertebra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400" b="1" i="0" dirty="0">
              <a:solidFill>
                <a:srgbClr val="2E7D3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Top row (worst): red sits one vertebra above the yellow — the off-by-one shift.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Bottom row (best): red, green and yellow line up.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Cause: </a:t>
            </a:r>
            <a:r>
              <a:rPr lang="en-US" sz="1300" i="1" dirty="0">
                <a:solidFill>
                  <a:srgbClr val="5A646E"/>
                </a:solidFill>
                <a:latin typeface="Calibri"/>
              </a:rPr>
              <a:t>I am having difficulty naming the L4 bone</a:t>
            </a:r>
            <a:r>
              <a:rPr sz="1300" i="1" dirty="0">
                <a:solidFill>
                  <a:srgbClr val="5A646E"/>
                </a:solidFill>
                <a:latin typeface="Calibri"/>
              </a:rPr>
              <a:t>.</a:t>
            </a:r>
            <a:r>
              <a:rPr lang="en-CA" sz="1300" i="1" dirty="0">
                <a:solidFill>
                  <a:srgbClr val="5A646E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5A646E"/>
                </a:solidFill>
              </a:rPr>
              <a:t>I think it's a labeling issue.</a:t>
            </a:r>
            <a:endParaRPr sz="1300" i="1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11</a:t>
            </a:r>
            <a:r>
              <a:rPr lang="en-CA" sz="900" dirty="0"/>
              <a:t>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Can we trust where the AI looks?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xai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80643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Grad-CAM (gradient-based)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A heatmap of the pixels the model used to decide 'this is L4'.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 dirty="0">
                <a:solidFill>
                  <a:srgbClr val="C43A35"/>
                </a:solidFill>
                <a:latin typeface="Calibri"/>
              </a:rPr>
              <a:t>Red / warm = most important.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1" i="0" dirty="0">
              <a:solidFill>
                <a:srgbClr val="C43A35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attention lands on the L4 body and its internal bone structure — not on background, implants, or soft tissue.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5A646E"/>
                </a:solidFill>
                <a:latin typeface="Calibri"/>
              </a:rPr>
              <a:t>Why it matters: a clinician can verify the AI is reading the right anatomy before trusting the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12</a:t>
            </a:r>
            <a:r>
              <a:rPr lang="en-CA" sz="900" dirty="0"/>
              <a:t>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What works,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3931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2E7D32"/>
                </a:solidFill>
                <a:latin typeface="Calibri"/>
              </a:rPr>
              <a:t>WORKING TODAY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Accurate vertebra detector (mAP@50 = 0.97 in-domain).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Good L4 outline quality on clinical images (Dice = 0.76).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Fully automatic density + texture read-out.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Explainable: heatmaps confirm correct anatomy.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Honest, two-number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937760" cy="17545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NEXT STEPS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1)  Fix L4 labeling: fine-tune on a small set of labeled clinical X-rays (removes off-by-one).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2)  Calibrate density to real units using a phantom or paired DXA.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3)  Validate against DXA on the same patients.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4)  Package as a one-click report for routine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latin typeface="Calibri"/>
              </a:rPr>
              <a:t>13</a:t>
            </a:r>
            <a:r>
              <a:rPr lang="en-CA" sz="900" dirty="0"/>
              <a:t>/15</a:t>
            </a:r>
            <a:endParaRPr sz="900" b="0" i="0" dirty="0"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15798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424160" cy="34073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We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can measure L4 bone density and texture automatically from X-rays </a:t>
            </a: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you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already take.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302666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424160" cy="64543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The detector is accurate and explainable; the L4 outline quality on clinical images is good (0.76).</a:t>
            </a:r>
            <a:br>
              <a:rPr lang="en-CA" sz="1800" b="0" i="0" dirty="0">
                <a:solidFill>
                  <a:srgbClr val="DDE6EF"/>
                </a:solidFill>
                <a:latin typeface="Calibri"/>
              </a:rPr>
            </a:b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( </a:t>
            </a:r>
            <a:r>
              <a:rPr lang="en-US" dirty="0">
                <a:solidFill>
                  <a:srgbClr val="DDE6EF"/>
                </a:solidFill>
              </a:rPr>
              <a:t>0.97 on the training dataset )</a:t>
            </a:r>
            <a:endParaRPr sz="1800" b="0" i="0" dirty="0">
              <a:solidFill>
                <a:srgbClr val="DDE6EF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594360" y="389534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One clear, fixable gap remains: correctly labeling L4 on out-of-domain clinical images.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76402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With a small labeled clinical set + calibration, this can become a routine bone-quality readout.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15000"/>
            <a:ext cx="11064240" cy="1905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Thank you  —  questions &amp; discussion welcome.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dirty="0">
                <a:solidFill>
                  <a:srgbClr val="AEB9C6"/>
                </a:solidFill>
                <a:latin typeface="Calibri"/>
              </a:rPr>
              <a:t>Edward</a:t>
            </a:r>
            <a:r>
              <a:rPr sz="1200" b="0" i="0" dirty="0">
                <a:solidFill>
                  <a:srgbClr val="AEB9C6"/>
                </a:solidFill>
                <a:latin typeface="Calibri"/>
              </a:rPr>
              <a:t> · Data Analyst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C90ED9-488B-99C3-5CC4-9C84F99FA513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chemeClr val="bg1"/>
                </a:solidFill>
                <a:latin typeface="Calibri"/>
              </a:rPr>
              <a:t>14/15</a:t>
            </a:r>
            <a:endParaRPr sz="900" b="0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5E42-36D3-C4F6-BC30-341ABE80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8C1E3-E1A7-10EC-7849-0B66A4C0170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FBCD4-CC43-5185-5C8E-E5A591B5577B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Sample Application Description version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949DD-DF1A-CE25-8F5E-43840AB0EC2A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5D938-2FAA-BDEF-67AB-3499DEAFA859}"/>
              </a:ext>
            </a:extLst>
          </p:cNvPr>
          <p:cNvSpPr txBox="1"/>
          <p:nvPr/>
        </p:nvSpPr>
        <p:spPr>
          <a:xfrm>
            <a:off x="10164126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8C13A6-536D-CABC-EAAB-AE72BCF5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6" y="598864"/>
            <a:ext cx="10671810" cy="6202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B3D23D-919D-D5C3-4229-EB8D083971B7}"/>
              </a:ext>
            </a:extLst>
          </p:cNvPr>
          <p:cNvSpPr/>
          <p:nvPr/>
        </p:nvSpPr>
        <p:spPr>
          <a:xfrm>
            <a:off x="684846" y="711450"/>
            <a:ext cx="1572578" cy="304616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Patients Area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ECEA96-F7F0-154E-F070-E4EF13B22B29}"/>
              </a:ext>
            </a:extLst>
          </p:cNvPr>
          <p:cNvSpPr/>
          <p:nvPr/>
        </p:nvSpPr>
        <p:spPr>
          <a:xfrm>
            <a:off x="2257424" y="711450"/>
            <a:ext cx="2000250" cy="254260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 X-ray upload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D91DC0-4A1E-A61B-8000-7F8266850FDF}"/>
              </a:ext>
            </a:extLst>
          </p:cNvPr>
          <p:cNvSpPr/>
          <p:nvPr/>
        </p:nvSpPr>
        <p:spPr>
          <a:xfrm>
            <a:off x="2257424" y="3296915"/>
            <a:ext cx="2000250" cy="228949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pPr algn="ctr"/>
            <a:r>
              <a:rPr lang="en-US" sz="1400" dirty="0"/>
              <a:t>Graph of bone density changes according to X-ray upload date</a:t>
            </a:r>
            <a:endParaRPr lang="en-CA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1AFE7A-15D3-3674-F827-4279E667A652}"/>
              </a:ext>
            </a:extLst>
          </p:cNvPr>
          <p:cNvSpPr/>
          <p:nvPr/>
        </p:nvSpPr>
        <p:spPr>
          <a:xfrm>
            <a:off x="4257673" y="711450"/>
            <a:ext cx="5150643" cy="1938881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US" sz="1400" dirty="0"/>
              <a:t>Original X-ray image and extracted vertebrae and L4 marking</a:t>
            </a:r>
            <a:endParaRPr lang="en-CA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9BE525-6284-FE8B-3E16-93B2D1F8DA06}"/>
              </a:ext>
            </a:extLst>
          </p:cNvPr>
          <p:cNvCxnSpPr/>
          <p:nvPr/>
        </p:nvCxnSpPr>
        <p:spPr>
          <a:xfrm flipH="1">
            <a:off x="4371974" y="1771650"/>
            <a:ext cx="2336006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BD7090-62E2-4AF8-B174-8928ECE62AAE}"/>
              </a:ext>
            </a:extLst>
          </p:cNvPr>
          <p:cNvCxnSpPr>
            <a:cxnSpLocks/>
          </p:cNvCxnSpPr>
          <p:nvPr/>
        </p:nvCxnSpPr>
        <p:spPr>
          <a:xfrm>
            <a:off x="6943724" y="1771650"/>
            <a:ext cx="314325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E096B4-4A79-91CA-D49A-C0298A791EEF}"/>
              </a:ext>
            </a:extLst>
          </p:cNvPr>
          <p:cNvSpPr/>
          <p:nvPr/>
        </p:nvSpPr>
        <p:spPr>
          <a:xfrm>
            <a:off x="4257674" y="2650332"/>
            <a:ext cx="4693443" cy="1614487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Extracted L4 vertebra</a:t>
            </a:r>
            <a:endParaRPr lang="en-CA" sz="14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918CC23-E109-CE87-D087-5CD6435BBDE8}"/>
              </a:ext>
            </a:extLst>
          </p:cNvPr>
          <p:cNvSpPr/>
          <p:nvPr/>
        </p:nvSpPr>
        <p:spPr>
          <a:xfrm>
            <a:off x="4257674" y="4264820"/>
            <a:ext cx="4693443" cy="10144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X-ray Metadata</a:t>
            </a:r>
            <a:endParaRPr lang="en-CA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AFFCF6-A544-D135-8BC5-2A5BEAF3D367}"/>
              </a:ext>
            </a:extLst>
          </p:cNvPr>
          <p:cNvSpPr/>
          <p:nvPr/>
        </p:nvSpPr>
        <p:spPr>
          <a:xfrm>
            <a:off x="9408316" y="710906"/>
            <a:ext cx="2628903" cy="796426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Bone tissue value based on brightness (0 - 1)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113A64-1954-4904-B0EC-FBF5D02ECEC8}"/>
              </a:ext>
            </a:extLst>
          </p:cNvPr>
          <p:cNvSpPr/>
          <p:nvPr/>
        </p:nvSpPr>
        <p:spPr>
          <a:xfrm>
            <a:off x="9408315" y="1509713"/>
            <a:ext cx="2628903" cy="2247899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Explainable </a:t>
            </a:r>
          </a:p>
          <a:p>
            <a:pPr algn="r"/>
            <a:r>
              <a:rPr lang="en-CA" sz="1400" dirty="0"/>
              <a:t>AI values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DA15FB8-E1BA-4207-7532-5029D7A1AA5E}"/>
              </a:ext>
            </a:extLst>
          </p:cNvPr>
          <p:cNvSpPr/>
          <p:nvPr/>
        </p:nvSpPr>
        <p:spPr>
          <a:xfrm>
            <a:off x="9408316" y="3759994"/>
            <a:ext cx="2628903" cy="14335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BMD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21EB97-30F6-3BCE-B086-ED9773CAB100}"/>
              </a:ext>
            </a:extLst>
          </p:cNvPr>
          <p:cNvSpPr/>
          <p:nvPr/>
        </p:nvSpPr>
        <p:spPr>
          <a:xfrm>
            <a:off x="9408316" y="5193506"/>
            <a:ext cx="2628903" cy="153647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L4</a:t>
            </a:r>
          </a:p>
          <a:p>
            <a:pPr algn="r"/>
            <a:r>
              <a:rPr lang="en-CA" sz="1400" dirty="0"/>
              <a:t>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C8717-CA91-6B45-8E0A-779EB58B080E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latin typeface="Calibri"/>
              </a:rPr>
              <a:t>15</a:t>
            </a:r>
            <a:r>
              <a:rPr lang="en-CA" sz="900" dirty="0"/>
              <a:t>/15</a:t>
            </a:r>
            <a:endParaRPr sz="900" b="0" i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459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2686</TotalTime>
  <Words>1889</Words>
  <Application>Microsoft Office PowerPoint</Application>
  <PresentationFormat>Widescreen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최성민</dc:creator>
  <cp:keywords/>
  <dc:description>generated using python-pptx</dc:description>
  <cp:lastModifiedBy>Choi, Seongmin</cp:lastModifiedBy>
  <cp:revision>19</cp:revision>
  <dcterms:created xsi:type="dcterms:W3CDTF">2013-01-27T09:14:16Z</dcterms:created>
  <dcterms:modified xsi:type="dcterms:W3CDTF">2026-07-09T05:38:39Z</dcterms:modified>
  <cp:category/>
</cp:coreProperties>
</file>